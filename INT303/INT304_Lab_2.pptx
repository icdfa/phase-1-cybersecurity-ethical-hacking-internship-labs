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_rels/slide18.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media/image18.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11.png" ContentType="image/png"/>
  <Override PartName="/ppt/media/image8.png" ContentType="image/png"/>
  <Override PartName="/ppt/media/image10.png" ContentType="image/png"/>
  <Override PartName="/ppt/media/image9.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9.png" ContentType="image/png"/>
  <Override PartName="/ppt/media/image20.png" ContentType="image/png"/>
  <Override PartName="/ppt/media/image21.png" ContentType="image/png"/>
  <Override PartName="/ppt/media/image22.png" ContentType="image/png"/>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_rels/notesSlide11.xml.rels" ContentType="application/vnd.openxmlformats-package.relationships+xml"/>
  <Override PartName="/ppt/notesSlides/_rels/notesSlide16.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1" r:id="rId8"/>
    <p:sldMasterId id="2147483663"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0" y="764280"/>
            <a:ext cx="360" cy="36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9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9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95" name="PlaceHolder 4"/>
          <p:cNvSpPr>
            <a:spLocks noGrp="1"/>
          </p:cNvSpPr>
          <p:nvPr>
            <p:ph type="dt" idx="25"/>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96" name="PlaceHolder 5"/>
          <p:cNvSpPr>
            <a:spLocks noGrp="1"/>
          </p:cNvSpPr>
          <p:nvPr>
            <p:ph type="ftr" idx="26"/>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7" name="PlaceHolder 6"/>
          <p:cNvSpPr>
            <a:spLocks noGrp="1"/>
          </p:cNvSpPr>
          <p:nvPr>
            <p:ph type="sldNum" idx="27"/>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E24E641A-1D7D-4591-8ADE-05B9C47E7A9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533520" y="764280"/>
            <a:ext cx="6703920" cy="3770640"/>
          </a:xfrm>
          <a:prstGeom prst="rect">
            <a:avLst/>
          </a:prstGeom>
          <a:ln w="0">
            <a:noFill/>
          </a:ln>
        </p:spPr>
      </p:sp>
      <p:sp>
        <p:nvSpPr>
          <p:cNvPr id="155" name="PlaceHolder 2"/>
          <p:cNvSpPr>
            <a:spLocks noGrp="1"/>
          </p:cNvSpPr>
          <p:nvPr>
            <p:ph type="body"/>
          </p:nvPr>
        </p:nvSpPr>
        <p:spPr>
          <a:xfrm>
            <a:off x="777240" y="4777560"/>
            <a:ext cx="6216840" cy="4525200"/>
          </a:xfrm>
          <a:prstGeom prst="rect">
            <a:avLst/>
          </a:prstGeom>
          <a:noFill/>
          <a:ln w="0">
            <a:noFill/>
          </a:ln>
        </p:spPr>
        <p:txBody>
          <a:bodyPr lIns="0" rIns="0" tIns="0" bIns="0" anchor="t">
            <a:noAutofit/>
          </a:bodyPr>
          <a:p>
            <a:pPr marL="432000" indent="0">
              <a:lnSpc>
                <a:spcPct val="90000"/>
              </a:lnSpc>
              <a:spcBef>
                <a:spcPts val="1417"/>
              </a:spcBef>
              <a:buNone/>
              <a:tabLst>
                <a:tab algn="l" pos="0"/>
              </a:tabLst>
            </a:pPr>
            <a:r>
              <a:rPr b="0" lang="en-US" sz="1400" strike="noStrike" u="none">
                <a:solidFill>
                  <a:srgbClr val="000000"/>
                </a:solidFill>
                <a:effectLst/>
                <a:uFillTx/>
                <a:latin typeface="Times New Roman"/>
                <a:ea typeface="Liberation Mono;Courier New;DejaVu Sans Mono;Lucida Sans Typewriter"/>
              </a:rPr>
              <a:t>8.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rgbClr val="000000"/>
                </a:solidFill>
                <a:effectLst/>
                <a:uFillTx/>
                <a:latin typeface="Times New Roman"/>
                <a:ea typeface="Liberation Mono;Courier New;DejaVu Sans Mono;Lucida Sans Typewriter"/>
              </a:rPr>
              <a:t>Analyze the packets going to and from the OWASP VM. What types of protocols are in use?</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rgbClr val="000000"/>
                </a:solidFill>
                <a:effectLst/>
                <a:uFillTx/>
                <a:latin typeface="Times New Roman"/>
                <a:ea typeface="Liberation Mono;Courier New;DejaVu Sans Mono;Lucida Sans Typewriter"/>
              </a:rPr>
              <a:t>Can you identify any key packet details such as source/destination IP addresses, port numbers, and flags?</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rgbClr val="000000"/>
                </a:solidFill>
                <a:effectLst/>
                <a:uFillTx/>
                <a:latin typeface="Times New Roman"/>
                <a:ea typeface="Liberation Mono;Courier New;DejaVu Sans Mono;Lucida Sans Typewriter"/>
              </a:rPr>
              <a:t>How does the TCP/IP model apply to the data captured?</a:t>
            </a:r>
            <a:endParaRPr b="0" lang="en-US" sz="14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533520" y="764280"/>
            <a:ext cx="6704640" cy="3771360"/>
          </a:xfrm>
          <a:prstGeom prst="rect">
            <a:avLst/>
          </a:prstGeom>
          <a:ln w="0">
            <a:noFill/>
          </a:ln>
        </p:spPr>
      </p:sp>
      <p:sp>
        <p:nvSpPr>
          <p:cNvPr id="15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sudo apt update</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sudo apt install nload</a:t>
            </a:r>
            <a:endParaRPr b="0" lang="en-US" sz="2000" strike="noStrike" u="none">
              <a:solidFill>
                <a:srgbClr val="000000"/>
              </a:solidFill>
              <a:effectLst/>
              <a:uFillTx/>
              <a:latin typeface="Arial"/>
            </a:endParaRPr>
          </a:p>
          <a:p>
            <a:pPr indent="0">
              <a:buNone/>
            </a:pPr>
            <a:r>
              <a:rPr b="0" lang="en-US" sz="2000" strike="noStrike" u="none">
                <a:solidFill>
                  <a:srgbClr val="000000"/>
                </a:solidFill>
                <a:effectLst/>
                <a:uFillTx/>
                <a:latin typeface="Arial"/>
              </a:rPr>
              <a:t>sudo apt install iftop</a:t>
            </a:r>
            <a:endParaRPr b="0" lang="en-US"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wo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2"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ADC8045-DD4D-4983-8997-6E20FC2A4B0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mparison">
    <p:spTree>
      <p:nvGrpSpPr>
        <p:cNvPr id="1" name=""/>
        <p:cNvGrpSpPr/>
        <p:nvPr/>
      </p:nvGrpSpPr>
      <p:grpSpPr>
        <a:xfrm>
          <a:off x="0" y="0"/>
          <a:ext cx="0" cy="0"/>
          <a:chOff x="0" y="0"/>
          <a:chExt cx="0" cy="0"/>
        </a:xfrm>
      </p:grpSpPr>
      <p:sp>
        <p:nvSpPr>
          <p:cNvPr id="22"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3"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37349B2-F5FF-4EDC-9284-7D3E04AEC7D9}"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Only">
    <p:spTree>
      <p:nvGrpSpPr>
        <p:cNvPr id="1" name=""/>
        <p:cNvGrpSpPr/>
        <p:nvPr/>
      </p:nvGrpSpPr>
      <p:grpSpPr>
        <a:xfrm>
          <a:off x="0" y="0"/>
          <a:ext cx="0" cy="0"/>
          <a:chOff x="0" y="0"/>
          <a:chExt cx="0" cy="0"/>
        </a:xfrm>
      </p:grpSpPr>
      <p:sp>
        <p:nvSpPr>
          <p:cNvPr id="33"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ffffff"/>
              </a:solidFill>
              <a:effectLst/>
              <a:uFillTx/>
              <a:latin typeface="Arial"/>
            </a:endParaRPr>
          </a:p>
        </p:txBody>
      </p:sp>
      <p:sp>
        <p:nvSpPr>
          <p:cNvPr id="34"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B7F84D8-6B92-4ED6-A73A-39DC292E1C0B}"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p:spTree>
      <p:nvGrpSpPr>
        <p:cNvPr id="1" name=""/>
        <p:cNvGrpSpPr/>
        <p:nvPr/>
      </p:nvGrpSpPr>
      <p:grpSpPr>
        <a:xfrm>
          <a:off x="0" y="0"/>
          <a:ext cx="0" cy="0"/>
          <a:chOff x="0" y="0"/>
          <a:chExt cx="0" cy="0"/>
        </a:xfrm>
      </p:grpSpPr>
      <p:sp>
        <p:nvSpPr>
          <p:cNvPr id="44"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45"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77FE7ABF-2784-4CAA-B6F3-08137ED810C6}"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with Caption">
    <p:spTree>
      <p:nvGrpSpPr>
        <p:cNvPr id="1" name=""/>
        <p:cNvGrpSpPr/>
        <p:nvPr/>
      </p:nvGrpSpPr>
      <p:grpSpPr>
        <a:xfrm>
          <a:off x="0" y="0"/>
          <a:ext cx="0" cy="0"/>
          <a:chOff x="0" y="0"/>
          <a:chExt cx="0" cy="0"/>
        </a:xfrm>
      </p:grpSpPr>
      <p:sp>
        <p:nvSpPr>
          <p:cNvPr id="55"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56"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716F81D3-DD87-4073-9005-36ABF37C94A4}"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66"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7" name="PlaceHolder 2"/>
          <p:cNvSpPr>
            <a:spLocks noGrp="1"/>
          </p:cNvSpPr>
          <p:nvPr>
            <p:ph type="subTitle"/>
          </p:nvPr>
        </p:nvSpPr>
        <p:spPr>
          <a:xfrm>
            <a:off x="609480" y="1604520"/>
            <a:ext cx="10971720" cy="397656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256E6796-18C8-4C01-953B-E33E5853C5A6}"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8"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9"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8812561D-0F40-4B05-9FC1-D71345805CDB}"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9"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80"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BAB7126F-F2BD-4F7A-B27B-00CAD401317D}"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spTree>
      <p:nvGrpSpPr>
        <p:cNvPr id="1" name=""/>
        <p:cNvGrpSpPr/>
        <p:nvPr/>
      </p:nvGrpSpPr>
      <p:grpSpPr>
        <a:xfrm>
          <a:off x="0" y="0"/>
          <a:ext cx="0" cy="0"/>
          <a:chOff x="0" y="0"/>
          <a:chExt cx="0" cy="0"/>
        </a:xfrm>
      </p:grpSpPr>
      <p:sp>
        <p:nvSpPr>
          <p:cNvPr id="90"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91"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CD06AE63-F63B-4D34-9F58-2330EC176934}" type="slidenum">
              <a:t>&lt;#&gt;</a:t>
            </a:fld>
          </a:p>
        </p:txBody>
      </p:sp>
      <p:sp>
        <p:nvSpPr>
          <p:cNvPr id="6" name="PlaceHolder 5"/>
          <p:cNvSpPr>
            <a:spLocks noGrp="1"/>
          </p:cNvSpPr>
          <p:nvPr>
            <p:ph type="dt" idx="2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slideLayout" Target="../slideLayouts/slideLayout6.xml"/><Relationship Id="rId6"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3" name="Picture 13" descr=""/>
          <p:cNvPicPr/>
          <p:nvPr/>
        </p:nvPicPr>
        <p:blipFill>
          <a:blip r:embed="rId3"/>
          <a:stretch/>
        </p:blipFill>
        <p:spPr>
          <a:xfrm>
            <a:off x="371520" y="374760"/>
            <a:ext cx="1128960" cy="1128960"/>
          </a:xfrm>
          <a:prstGeom prst="rect">
            <a:avLst/>
          </a:prstGeom>
          <a:noFill/>
          <a:ln w="0">
            <a:noFill/>
          </a:ln>
        </p:spPr>
      </p:pic>
      <p:sp>
        <p:nvSpPr>
          <p:cNvPr id="4" name="TextBox 1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5" name="Picture 12" descr=""/>
          <p:cNvPicPr/>
          <p:nvPr/>
        </p:nvPicPr>
        <p:blipFill>
          <a:blip r:embed="rId4"/>
          <a:stretch/>
        </p:blipFill>
        <p:spPr>
          <a:xfrm>
            <a:off x="371520" y="374760"/>
            <a:ext cx="1128960" cy="1128960"/>
          </a:xfrm>
          <a:prstGeom prst="rect">
            <a:avLst/>
          </a:prstGeom>
          <a:noFill/>
          <a:ln w="0">
            <a:noFill/>
          </a:ln>
        </p:spPr>
      </p:pic>
      <p:sp>
        <p:nvSpPr>
          <p:cNvPr id="6"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8" name="PlaceHolder 3"/>
          <p:cNvSpPr>
            <a:spLocks noGrp="1"/>
          </p:cNvSpPr>
          <p:nvPr>
            <p:ph type="ftr" idx="1"/>
          </p:nvPr>
        </p:nvSpPr>
        <p:spPr>
          <a:xfrm>
            <a:off x="4012200" y="628452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 name="PlaceHolder 4"/>
          <p:cNvSpPr>
            <a:spLocks noGrp="1"/>
          </p:cNvSpPr>
          <p:nvPr>
            <p:ph type="sldNum" idx="2"/>
          </p:nvPr>
        </p:nvSpPr>
        <p:spPr>
          <a:xfrm>
            <a:off x="9812520" y="629316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lt2">
                    <a:tint val="75000"/>
                  </a:schemeClr>
                </a:solidFill>
                <a:effectLst/>
                <a:uFillTx/>
                <a:latin typeface="poppins"/>
              </a:defRPr>
            </a:lvl1pPr>
          </a:lstStyle>
          <a:p>
            <a:pPr indent="0" algn="r" defTabSz="914400">
              <a:lnSpc>
                <a:spcPct val="100000"/>
              </a:lnSpc>
              <a:buNone/>
              <a:tabLst>
                <a:tab algn="l" pos="0"/>
              </a:tabLst>
            </a:pPr>
            <a:fld id="{113CDD7F-115F-4ABE-8B9E-628DE08D1572}" type="slidenum">
              <a:rPr b="0" lang="en-US" sz="1200" strike="noStrike" u="none">
                <a:solidFill>
                  <a:schemeClr val="lt2">
                    <a:tint val="75000"/>
                  </a:schemeClr>
                </a:solidFill>
                <a:effectLst/>
                <a:uFillTx/>
                <a:latin typeface="poppins"/>
              </a:rPr>
              <a:t>&lt;number&gt;</a:t>
            </a:fld>
            <a:endParaRPr b="0" lang="en-US" sz="1200" strike="noStrike" u="none">
              <a:solidFill>
                <a:srgbClr val="000000"/>
              </a:solidFill>
              <a:effectLst/>
              <a:uFillTx/>
              <a:latin typeface="Times New Roman"/>
            </a:endParaRPr>
          </a:p>
        </p:txBody>
      </p:sp>
      <p:sp>
        <p:nvSpPr>
          <p:cNvPr id="10" name="PlaceHolder 5"/>
          <p:cNvSpPr>
            <a:spLocks noGrp="1"/>
          </p:cNvSpPr>
          <p:nvPr>
            <p:ph type="dt" idx="3"/>
          </p:nvPr>
        </p:nvSpPr>
        <p:spPr>
          <a:xfrm>
            <a:off x="7568640" y="628452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3"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14" name="Picture 13" descr=""/>
          <p:cNvPicPr/>
          <p:nvPr/>
        </p:nvPicPr>
        <p:blipFill>
          <a:blip r:embed="rId3"/>
          <a:stretch/>
        </p:blipFill>
        <p:spPr>
          <a:xfrm>
            <a:off x="371520" y="374760"/>
            <a:ext cx="1128960" cy="1128960"/>
          </a:xfrm>
          <a:prstGeom prst="rect">
            <a:avLst/>
          </a:prstGeom>
          <a:noFill/>
          <a:ln w="0">
            <a:noFill/>
          </a:ln>
        </p:spPr>
      </p:pic>
      <p:sp>
        <p:nvSpPr>
          <p:cNvPr id="15" name="TextBox 15"/>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16" name="Picture 16" descr=""/>
          <p:cNvPicPr/>
          <p:nvPr/>
        </p:nvPicPr>
        <p:blipFill>
          <a:blip r:embed="rId4"/>
          <a:stretch/>
        </p:blipFill>
        <p:spPr>
          <a:xfrm>
            <a:off x="371520" y="374760"/>
            <a:ext cx="1128960" cy="1128960"/>
          </a:xfrm>
          <a:prstGeom prst="rect">
            <a:avLst/>
          </a:prstGeom>
          <a:noFill/>
          <a:ln w="0">
            <a:noFill/>
          </a:ln>
        </p:spPr>
      </p:pic>
      <p:sp>
        <p:nvSpPr>
          <p:cNvPr id="17"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8"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19" name="PlaceHolder 3"/>
          <p:cNvSpPr>
            <a:spLocks noGrp="1"/>
          </p:cNvSpPr>
          <p:nvPr>
            <p:ph type="ftr" idx="4"/>
          </p:nvPr>
        </p:nvSpPr>
        <p:spPr>
          <a:xfrm>
            <a:off x="4274280" y="628488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 name="PlaceHolder 4"/>
          <p:cNvSpPr>
            <a:spLocks noGrp="1"/>
          </p:cNvSpPr>
          <p:nvPr>
            <p:ph type="sldNum" idx="5"/>
          </p:nvPr>
        </p:nvSpPr>
        <p:spPr>
          <a:xfrm>
            <a:off x="9865800" y="631476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lt2">
                    <a:tint val="75000"/>
                  </a:schemeClr>
                </a:solidFill>
                <a:effectLst/>
                <a:uFillTx/>
                <a:latin typeface="poppins"/>
              </a:defRPr>
            </a:lvl1pPr>
          </a:lstStyle>
          <a:p>
            <a:pPr indent="0" algn="r" defTabSz="914400">
              <a:lnSpc>
                <a:spcPct val="100000"/>
              </a:lnSpc>
              <a:buNone/>
              <a:tabLst>
                <a:tab algn="l" pos="0"/>
              </a:tabLst>
            </a:pPr>
            <a:fld id="{F0522B75-A036-405B-B2D6-0C6B2F907248}" type="slidenum">
              <a:rPr b="0" lang="en-US" sz="1200" strike="noStrike" u="none">
                <a:solidFill>
                  <a:schemeClr val="lt2">
                    <a:tint val="75000"/>
                  </a:schemeClr>
                </a:solidFill>
                <a:effectLst/>
                <a:uFillTx/>
                <a:latin typeface="poppins"/>
              </a:rPr>
              <a:t>&lt;number&gt;</a:t>
            </a:fld>
            <a:endParaRPr b="0" lang="en-US" sz="1200" strike="noStrike" u="none">
              <a:solidFill>
                <a:srgbClr val="000000"/>
              </a:solidFill>
              <a:effectLst/>
              <a:uFillTx/>
              <a:latin typeface="Times New Roman"/>
            </a:endParaRPr>
          </a:p>
        </p:txBody>
      </p:sp>
      <p:sp>
        <p:nvSpPr>
          <p:cNvPr id="21" name="PlaceHolder 5"/>
          <p:cNvSpPr>
            <a:spLocks noGrp="1"/>
          </p:cNvSpPr>
          <p:nvPr>
            <p:ph type="dt" idx="6"/>
          </p:nvPr>
        </p:nvSpPr>
        <p:spPr>
          <a:xfrm>
            <a:off x="7726320" y="630612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fillRect l="-25995" r="-25995"/>
          </a:stretch>
        </a:blipFill>
      </p:bgPr>
    </p:bg>
    <p:spTree>
      <p:nvGrpSpPr>
        <p:cNvPr id="1" name=""/>
        <p:cNvGrpSpPr/>
        <p:nvPr/>
      </p:nvGrpSpPr>
      <p:grpSpPr>
        <a:xfrm>
          <a:off x="0" y="0"/>
          <a:ext cx="0" cy="0"/>
          <a:chOff x="0" y="0"/>
          <a:chExt cx="0" cy="0"/>
        </a:xfrm>
      </p:grpSpPr>
      <p:sp>
        <p:nvSpPr>
          <p:cNvPr id="24"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ffffff"/>
              </a:solidFill>
              <a:effectLst/>
              <a:uFillTx/>
              <a:latin typeface="Arial"/>
            </a:endParaRPr>
          </a:p>
        </p:txBody>
      </p:sp>
      <p:pic>
        <p:nvPicPr>
          <p:cNvPr id="25" name="Picture 13" descr=""/>
          <p:cNvPicPr/>
          <p:nvPr/>
        </p:nvPicPr>
        <p:blipFill>
          <a:blip r:embed="rId3"/>
          <a:stretch/>
        </p:blipFill>
        <p:spPr>
          <a:xfrm>
            <a:off x="371520" y="374760"/>
            <a:ext cx="1128960" cy="1128960"/>
          </a:xfrm>
          <a:prstGeom prst="rect">
            <a:avLst/>
          </a:prstGeom>
          <a:noFill/>
          <a:ln w="0">
            <a:noFill/>
          </a:ln>
        </p:spPr>
      </p:pic>
      <p:pic>
        <p:nvPicPr>
          <p:cNvPr id="26" name="Picture 7" descr=""/>
          <p:cNvPicPr/>
          <p:nvPr/>
        </p:nvPicPr>
        <p:blipFill>
          <a:blip r:embed="rId4"/>
          <a:stretch/>
        </p:blipFill>
        <p:spPr>
          <a:xfrm>
            <a:off x="371520" y="374760"/>
            <a:ext cx="1128960" cy="1128960"/>
          </a:xfrm>
          <a:prstGeom prst="rect">
            <a:avLst/>
          </a:prstGeom>
          <a:noFill/>
          <a:ln w="0">
            <a:noFill/>
          </a:ln>
        </p:spPr>
      </p:pic>
      <p:sp>
        <p:nvSpPr>
          <p:cNvPr id="27" name="TextBox 8"/>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ffffff"/>
              </a:solidFill>
              <a:effectLst/>
              <a:uFillTx/>
              <a:latin typeface="Arial"/>
            </a:endParaRPr>
          </a:p>
        </p:txBody>
      </p:sp>
      <p:sp>
        <p:nvSpPr>
          <p:cNvPr id="28"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ffffff"/>
                </a:solidFill>
                <a:effectLst/>
                <a:uFillTx/>
                <a:latin typeface="Arial"/>
              </a:rPr>
              <a:t>Click to edit the title text format</a:t>
            </a:r>
            <a:endParaRPr b="0" lang="en-US" sz="4400" strike="noStrike" u="none">
              <a:solidFill>
                <a:srgbClr val="ffffff"/>
              </a:solidFill>
              <a:effectLst/>
              <a:uFillTx/>
              <a:latin typeface="Arial"/>
            </a:endParaRPr>
          </a:p>
        </p:txBody>
      </p:sp>
      <p:sp>
        <p:nvSpPr>
          <p:cNvPr id="29"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
        <p:nvSpPr>
          <p:cNvPr id="30" name="PlaceHolder 3"/>
          <p:cNvSpPr>
            <a:spLocks noGrp="1"/>
          </p:cNvSpPr>
          <p:nvPr>
            <p:ph type="ftr" idx="7"/>
          </p:nvPr>
        </p:nvSpPr>
        <p:spPr>
          <a:xfrm>
            <a:off x="3634920" y="628020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ffffff"/>
                </a:solidFill>
                <a:effectLst/>
                <a:uFillTx/>
                <a:latin typeface="Times New Roman"/>
              </a:defRPr>
            </a:lvl1pPr>
          </a:lstStyle>
          <a:p>
            <a:pPr indent="0" algn="ctr">
              <a:lnSpc>
                <a:spcPct val="100000"/>
              </a:lnSpc>
              <a:buNone/>
              <a:tabLst>
                <a:tab algn="l" pos="0"/>
              </a:tabLst>
            </a:pPr>
            <a:r>
              <a:rPr b="0" lang="en-US" sz="1400" strike="noStrike" u="none">
                <a:solidFill>
                  <a:srgbClr val="ffffff"/>
                </a:solidFill>
                <a:effectLst/>
                <a:uFillTx/>
                <a:latin typeface="Times New Roman"/>
              </a:rPr>
              <a:t>&lt;footer&gt;</a:t>
            </a:r>
            <a:endParaRPr b="0" lang="en-US" sz="1400" strike="noStrike" u="none">
              <a:solidFill>
                <a:srgbClr val="ffffff"/>
              </a:solidFill>
              <a:effectLst/>
              <a:uFillTx/>
              <a:latin typeface="Times New Roman"/>
            </a:endParaRPr>
          </a:p>
        </p:txBody>
      </p:sp>
      <p:sp>
        <p:nvSpPr>
          <p:cNvPr id="31" name="PlaceHolder 4"/>
          <p:cNvSpPr>
            <a:spLocks noGrp="1"/>
          </p:cNvSpPr>
          <p:nvPr>
            <p:ph type="sldNum" idx="8"/>
          </p:nvPr>
        </p:nvSpPr>
        <p:spPr>
          <a:xfrm>
            <a:off x="9819360" y="628884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lt2">
                    <a:tint val="75000"/>
                  </a:schemeClr>
                </a:solidFill>
                <a:effectLst/>
                <a:uFillTx/>
                <a:latin typeface="poppins"/>
              </a:defRPr>
            </a:lvl1pPr>
          </a:lstStyle>
          <a:p>
            <a:pPr indent="0" algn="r" defTabSz="914400">
              <a:lnSpc>
                <a:spcPct val="100000"/>
              </a:lnSpc>
              <a:buNone/>
              <a:tabLst>
                <a:tab algn="l" pos="0"/>
              </a:tabLst>
            </a:pPr>
            <a:fld id="{DAF9370D-9DBA-4F8A-AE82-9F74206D499F}" type="slidenum">
              <a:rPr b="0" lang="en-US" sz="1200" strike="noStrike" u="none">
                <a:solidFill>
                  <a:schemeClr val="lt2">
                    <a:tint val="75000"/>
                  </a:schemeClr>
                </a:solidFill>
                <a:effectLst/>
                <a:uFillTx/>
                <a:latin typeface="poppins"/>
              </a:rPr>
              <a:t>&lt;number&gt;</a:t>
            </a:fld>
            <a:endParaRPr b="0" lang="en-US" sz="1200" strike="noStrike" u="none">
              <a:solidFill>
                <a:srgbClr val="ffffff"/>
              </a:solidFill>
              <a:effectLst/>
              <a:uFillTx/>
              <a:latin typeface="Times New Roman"/>
            </a:endParaRPr>
          </a:p>
        </p:txBody>
      </p:sp>
      <p:sp>
        <p:nvSpPr>
          <p:cNvPr id="32" name="PlaceHolder 5"/>
          <p:cNvSpPr>
            <a:spLocks noGrp="1"/>
          </p:cNvSpPr>
          <p:nvPr>
            <p:ph type="dt" idx="9"/>
          </p:nvPr>
        </p:nvSpPr>
        <p:spPr>
          <a:xfrm>
            <a:off x="7383600" y="628884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ffffff"/>
                </a:solidFill>
                <a:effectLst/>
                <a:uFillTx/>
                <a:latin typeface="Times New Roman"/>
              </a:defRPr>
            </a:lvl1pPr>
          </a:lstStyle>
          <a:p>
            <a:pPr indent="0">
              <a:buNone/>
            </a:pPr>
            <a:r>
              <a:rPr b="0" lang="en-US" sz="1400" strike="noStrike" u="none">
                <a:solidFill>
                  <a:srgbClr val="ffffff"/>
                </a:solidFill>
                <a:effectLst/>
                <a:uFillTx/>
                <a:latin typeface="Times New Roman"/>
              </a:rPr>
              <a:t>&lt;date/time&gt;</a:t>
            </a:r>
            <a:endParaRPr b="0" lang="en-US" sz="14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5"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36" name="Picture 13" descr=""/>
          <p:cNvPicPr/>
          <p:nvPr/>
        </p:nvPicPr>
        <p:blipFill>
          <a:blip r:embed="rId3"/>
          <a:stretch/>
        </p:blipFill>
        <p:spPr>
          <a:xfrm>
            <a:off x="371520" y="374760"/>
            <a:ext cx="1128960" cy="1128960"/>
          </a:xfrm>
          <a:prstGeom prst="rect">
            <a:avLst/>
          </a:prstGeom>
          <a:noFill/>
          <a:ln w="0">
            <a:noFill/>
          </a:ln>
        </p:spPr>
      </p:pic>
      <p:sp>
        <p:nvSpPr>
          <p:cNvPr id="37" name="TextBox 8"/>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38" name="Picture 9" descr=""/>
          <p:cNvPicPr/>
          <p:nvPr/>
        </p:nvPicPr>
        <p:blipFill>
          <a:blip r:embed="rId4"/>
          <a:stretch/>
        </p:blipFill>
        <p:spPr>
          <a:xfrm>
            <a:off x="371520" y="374760"/>
            <a:ext cx="1128960" cy="1128960"/>
          </a:xfrm>
          <a:prstGeom prst="rect">
            <a:avLst/>
          </a:prstGeom>
          <a:noFill/>
          <a:ln w="0">
            <a:noFill/>
          </a:ln>
        </p:spPr>
      </p:pic>
      <p:sp>
        <p:nvSpPr>
          <p:cNvPr id="39"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40"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41" name="PlaceHolder 3"/>
          <p:cNvSpPr>
            <a:spLocks noGrp="1"/>
          </p:cNvSpPr>
          <p:nvPr>
            <p:ph type="ftr" idx="10"/>
          </p:nvPr>
        </p:nvSpPr>
        <p:spPr>
          <a:xfrm>
            <a:off x="2056320" y="624492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2" name="PlaceHolder 4"/>
          <p:cNvSpPr>
            <a:spLocks noGrp="1"/>
          </p:cNvSpPr>
          <p:nvPr>
            <p:ph type="sldNum" idx="11"/>
          </p:nvPr>
        </p:nvSpPr>
        <p:spPr>
          <a:xfrm>
            <a:off x="9780840" y="624492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poppins"/>
              </a:defRPr>
            </a:lvl1pPr>
          </a:lstStyle>
          <a:p>
            <a:pPr indent="0" algn="r" defTabSz="914400">
              <a:lnSpc>
                <a:spcPct val="100000"/>
              </a:lnSpc>
              <a:buNone/>
              <a:tabLst>
                <a:tab algn="l" pos="0"/>
              </a:tabLst>
            </a:pPr>
            <a:fld id="{8D768B0F-8962-4F66-84B0-DDABDFEC009E}" type="slidenum">
              <a:rPr b="0" lang="en-US" sz="1200" strike="noStrike" u="none">
                <a:solidFill>
                  <a:schemeClr val="dk1">
                    <a:tint val="75000"/>
                  </a:schemeClr>
                </a:solidFill>
                <a:effectLst/>
                <a:uFillTx/>
                <a:latin typeface="poppins"/>
              </a:rPr>
              <a:t>&lt;number&gt;</a:t>
            </a:fld>
            <a:endParaRPr b="0" lang="en-US" sz="1200" strike="noStrike" u="none">
              <a:solidFill>
                <a:srgbClr val="000000"/>
              </a:solidFill>
              <a:effectLst/>
              <a:uFillTx/>
              <a:latin typeface="Times New Roman"/>
            </a:endParaRPr>
          </a:p>
        </p:txBody>
      </p:sp>
      <p:sp>
        <p:nvSpPr>
          <p:cNvPr id="43" name="PlaceHolder 5"/>
          <p:cNvSpPr>
            <a:spLocks noGrp="1"/>
          </p:cNvSpPr>
          <p:nvPr>
            <p:ph type="dt" idx="12"/>
          </p:nvPr>
        </p:nvSpPr>
        <p:spPr>
          <a:xfrm>
            <a:off x="7479720" y="624492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6"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47" name="Picture 13" descr=""/>
          <p:cNvPicPr/>
          <p:nvPr/>
        </p:nvPicPr>
        <p:blipFill>
          <a:blip r:embed="rId3"/>
          <a:stretch/>
        </p:blipFill>
        <p:spPr>
          <a:xfrm>
            <a:off x="371520" y="374760"/>
            <a:ext cx="1128960" cy="1128960"/>
          </a:xfrm>
          <a:prstGeom prst="rect">
            <a:avLst/>
          </a:prstGeom>
          <a:noFill/>
          <a:ln w="0">
            <a:noFill/>
          </a:ln>
        </p:spPr>
      </p:pic>
      <p:pic>
        <p:nvPicPr>
          <p:cNvPr id="48" name="Picture 11" descr=""/>
          <p:cNvPicPr/>
          <p:nvPr/>
        </p:nvPicPr>
        <p:blipFill>
          <a:blip r:embed="rId4"/>
          <a:stretch/>
        </p:blipFill>
        <p:spPr>
          <a:xfrm>
            <a:off x="243000" y="278280"/>
            <a:ext cx="1128960" cy="1128960"/>
          </a:xfrm>
          <a:prstGeom prst="rect">
            <a:avLst/>
          </a:prstGeom>
          <a:noFill/>
          <a:ln w="0">
            <a:noFill/>
          </a:ln>
        </p:spPr>
      </p:pic>
      <p:sp>
        <p:nvSpPr>
          <p:cNvPr id="49" name="TextBox 12"/>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effectLst/>
                <a:uFillTx/>
                <a:latin typeface="poppins"/>
                <a:ea typeface="DejaVu Sans"/>
              </a:rPr>
              <a:t>Icdfa.edu.ng</a:t>
            </a:r>
            <a:endParaRPr b="0" lang="en-US" sz="1200" strike="noStrike" u="none">
              <a:solidFill>
                <a:srgbClr val="000000"/>
              </a:solidFill>
              <a:effectLst/>
              <a:uFillTx/>
              <a:latin typeface="Arial"/>
            </a:endParaRPr>
          </a:p>
        </p:txBody>
      </p:sp>
      <p:sp>
        <p:nvSpPr>
          <p:cNvPr id="50"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51"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52" name="PlaceHolder 3"/>
          <p:cNvSpPr>
            <a:spLocks noGrp="1"/>
          </p:cNvSpPr>
          <p:nvPr>
            <p:ph type="ftr" idx="13"/>
          </p:nvPr>
        </p:nvSpPr>
        <p:spPr>
          <a:xfrm>
            <a:off x="3930840" y="628884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3" name="PlaceHolder 4"/>
          <p:cNvSpPr>
            <a:spLocks noGrp="1"/>
          </p:cNvSpPr>
          <p:nvPr>
            <p:ph type="sldNum" idx="14"/>
          </p:nvPr>
        </p:nvSpPr>
        <p:spPr>
          <a:xfrm>
            <a:off x="9819360" y="628884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poppins"/>
              </a:defRPr>
            </a:lvl1pPr>
          </a:lstStyle>
          <a:p>
            <a:pPr indent="0" algn="r" defTabSz="914400">
              <a:lnSpc>
                <a:spcPct val="100000"/>
              </a:lnSpc>
              <a:buNone/>
              <a:tabLst>
                <a:tab algn="l" pos="0"/>
              </a:tabLst>
            </a:pPr>
            <a:fld id="{253486EC-4D01-4A93-91DF-7A49A0054A66}" type="slidenum">
              <a:rPr b="0" lang="en-US" sz="1200" strike="noStrike" u="none">
                <a:solidFill>
                  <a:schemeClr val="dk1">
                    <a:tint val="75000"/>
                  </a:schemeClr>
                </a:solidFill>
                <a:effectLst/>
                <a:uFillTx/>
                <a:latin typeface="poppins"/>
              </a:rPr>
              <a:t>&lt;number&gt;</a:t>
            </a:fld>
            <a:endParaRPr b="0" lang="en-US" sz="1200" strike="noStrike" u="none">
              <a:solidFill>
                <a:srgbClr val="000000"/>
              </a:solidFill>
              <a:effectLst/>
              <a:uFillTx/>
              <a:latin typeface="Times New Roman"/>
            </a:endParaRPr>
          </a:p>
        </p:txBody>
      </p:sp>
      <p:sp>
        <p:nvSpPr>
          <p:cNvPr id="54" name="PlaceHolder 5"/>
          <p:cNvSpPr>
            <a:spLocks noGrp="1"/>
          </p:cNvSpPr>
          <p:nvPr>
            <p:ph type="dt" idx="15"/>
          </p:nvPr>
        </p:nvSpPr>
        <p:spPr>
          <a:xfrm>
            <a:off x="7547040" y="628884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7"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58" name="Picture 13" descr=""/>
          <p:cNvPicPr/>
          <p:nvPr/>
        </p:nvPicPr>
        <p:blipFill>
          <a:blip r:embed="rId3"/>
          <a:stretch/>
        </p:blipFill>
        <p:spPr>
          <a:xfrm>
            <a:off x="371520" y="374760"/>
            <a:ext cx="1128960" cy="1128960"/>
          </a:xfrm>
          <a:prstGeom prst="rect">
            <a:avLst/>
          </a:prstGeom>
          <a:noFill/>
          <a:ln w="0">
            <a:noFill/>
          </a:ln>
        </p:spPr>
      </p:pic>
      <p:sp>
        <p:nvSpPr>
          <p:cNvPr id="59" name="TextBox 8"/>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60" name="Picture 6" descr=""/>
          <p:cNvPicPr/>
          <p:nvPr/>
        </p:nvPicPr>
        <p:blipFill>
          <a:blip r:embed="rId4"/>
          <a:stretch/>
        </p:blipFill>
        <p:spPr>
          <a:xfrm>
            <a:off x="371520" y="336960"/>
            <a:ext cx="1168560" cy="1168560"/>
          </a:xfrm>
          <a:prstGeom prst="rect">
            <a:avLst/>
          </a:prstGeom>
          <a:noFill/>
          <a:ln w="0">
            <a:noFill/>
          </a:ln>
        </p:spPr>
      </p:pic>
      <p:sp>
        <p:nvSpPr>
          <p:cNvPr id="61"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62" name="PlaceHolder 2"/>
          <p:cNvSpPr>
            <a:spLocks noGrp="1"/>
          </p:cNvSpPr>
          <p:nvPr>
            <p:ph type="ftr" idx="16"/>
          </p:nvPr>
        </p:nvSpPr>
        <p:spPr>
          <a:xfrm>
            <a:off x="2056320" y="628020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3" name="PlaceHolder 3"/>
          <p:cNvSpPr>
            <a:spLocks noGrp="1"/>
          </p:cNvSpPr>
          <p:nvPr>
            <p:ph type="sldNum" idx="17"/>
          </p:nvPr>
        </p:nvSpPr>
        <p:spPr>
          <a:xfrm>
            <a:off x="9819360" y="628884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poppins"/>
              </a:defRPr>
            </a:lvl1pPr>
          </a:lstStyle>
          <a:p>
            <a:pPr indent="0" algn="r" defTabSz="914400">
              <a:lnSpc>
                <a:spcPct val="100000"/>
              </a:lnSpc>
              <a:buNone/>
              <a:tabLst>
                <a:tab algn="l" pos="0"/>
              </a:tabLst>
            </a:pPr>
            <a:fld id="{B9564552-A06E-4E0F-B514-0D6B7032004B}" type="slidenum">
              <a:rPr b="0" lang="en-US" sz="1200" strike="noStrike" u="none">
                <a:solidFill>
                  <a:schemeClr val="dk1">
                    <a:tint val="75000"/>
                  </a:schemeClr>
                </a:solidFill>
                <a:effectLst/>
                <a:uFillTx/>
                <a:latin typeface="poppins"/>
              </a:rPr>
              <a:t>&lt;number&gt;</a:t>
            </a:fld>
            <a:endParaRPr b="0" lang="en-US" sz="1200" strike="noStrike" u="none">
              <a:solidFill>
                <a:srgbClr val="000000"/>
              </a:solidFill>
              <a:effectLst/>
              <a:uFillTx/>
              <a:latin typeface="Times New Roman"/>
            </a:endParaRPr>
          </a:p>
        </p:txBody>
      </p:sp>
      <p:sp>
        <p:nvSpPr>
          <p:cNvPr id="64" name="PlaceHolder 4"/>
          <p:cNvSpPr>
            <a:spLocks noGrp="1"/>
          </p:cNvSpPr>
          <p:nvPr>
            <p:ph type="dt" idx="18"/>
          </p:nvPr>
        </p:nvSpPr>
        <p:spPr>
          <a:xfrm>
            <a:off x="6594120" y="628020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5"/>
    <p:sldLayoutId id="2147483660" r:id="rId6"/>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0"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71" name="Picture 13" descr=""/>
          <p:cNvPicPr/>
          <p:nvPr/>
        </p:nvPicPr>
        <p:blipFill>
          <a:blip r:embed="rId3"/>
          <a:stretch/>
        </p:blipFill>
        <p:spPr>
          <a:xfrm>
            <a:off x="371520" y="374760"/>
            <a:ext cx="1128960" cy="1128960"/>
          </a:xfrm>
          <a:prstGeom prst="rect">
            <a:avLst/>
          </a:prstGeom>
          <a:noFill/>
          <a:ln w="0">
            <a:noFill/>
          </a:ln>
        </p:spPr>
      </p:pic>
      <p:sp>
        <p:nvSpPr>
          <p:cNvPr id="72" name="TextBox 8"/>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73" name="Picture 6" descr=""/>
          <p:cNvPicPr/>
          <p:nvPr/>
        </p:nvPicPr>
        <p:blipFill>
          <a:blip r:embed="rId4"/>
          <a:stretch/>
        </p:blipFill>
        <p:spPr>
          <a:xfrm>
            <a:off x="371520" y="336960"/>
            <a:ext cx="1168560" cy="1168560"/>
          </a:xfrm>
          <a:prstGeom prst="rect">
            <a:avLst/>
          </a:prstGeom>
          <a:noFill/>
          <a:ln w="0">
            <a:noFill/>
          </a:ln>
        </p:spPr>
      </p:pic>
      <p:sp>
        <p:nvSpPr>
          <p:cNvPr id="74"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5"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76" name="PlaceHolder 3"/>
          <p:cNvSpPr>
            <a:spLocks noGrp="1"/>
          </p:cNvSpPr>
          <p:nvPr>
            <p:ph type="ftr" idx="19"/>
          </p:nvPr>
        </p:nvSpPr>
        <p:spPr>
          <a:xfrm>
            <a:off x="2056320" y="628020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7" name="PlaceHolder 4"/>
          <p:cNvSpPr>
            <a:spLocks noGrp="1"/>
          </p:cNvSpPr>
          <p:nvPr>
            <p:ph type="sldNum" idx="20"/>
          </p:nvPr>
        </p:nvSpPr>
        <p:spPr>
          <a:xfrm>
            <a:off x="9819360" y="628884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poppins"/>
              </a:defRPr>
            </a:lvl1pPr>
          </a:lstStyle>
          <a:p>
            <a:pPr indent="0" algn="r" defTabSz="914400">
              <a:lnSpc>
                <a:spcPct val="100000"/>
              </a:lnSpc>
              <a:buNone/>
              <a:tabLst>
                <a:tab algn="l" pos="0"/>
              </a:tabLst>
            </a:pPr>
            <a:fld id="{17E44CA4-F36A-4C36-B9DC-E95C745F8AF3}" type="slidenum">
              <a:rPr b="0" lang="en-US" sz="1200" strike="noStrike" u="none">
                <a:solidFill>
                  <a:schemeClr val="dk1">
                    <a:tint val="75000"/>
                  </a:schemeClr>
                </a:solidFill>
                <a:effectLst/>
                <a:uFillTx/>
                <a:latin typeface="poppins"/>
              </a:rPr>
              <a:t>&lt;number&gt;</a:t>
            </a:fld>
            <a:endParaRPr b="0" lang="en-US" sz="1200" strike="noStrike" u="none">
              <a:solidFill>
                <a:srgbClr val="000000"/>
              </a:solidFill>
              <a:effectLst/>
              <a:uFillTx/>
              <a:latin typeface="Times New Roman"/>
            </a:endParaRPr>
          </a:p>
        </p:txBody>
      </p:sp>
      <p:sp>
        <p:nvSpPr>
          <p:cNvPr id="78" name="PlaceHolder 5"/>
          <p:cNvSpPr>
            <a:spLocks noGrp="1"/>
          </p:cNvSpPr>
          <p:nvPr>
            <p:ph type="dt" idx="21"/>
          </p:nvPr>
        </p:nvSpPr>
        <p:spPr>
          <a:xfrm>
            <a:off x="6594120" y="628020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2"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1" name="TextBox 30" hidden="1"/>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82" name="Picture 13" descr=""/>
          <p:cNvPicPr/>
          <p:nvPr/>
        </p:nvPicPr>
        <p:blipFill>
          <a:blip r:embed="rId3"/>
          <a:stretch/>
        </p:blipFill>
        <p:spPr>
          <a:xfrm>
            <a:off x="371520" y="374760"/>
            <a:ext cx="1128960" cy="1128960"/>
          </a:xfrm>
          <a:prstGeom prst="rect">
            <a:avLst/>
          </a:prstGeom>
          <a:noFill/>
          <a:ln w="0">
            <a:noFill/>
          </a:ln>
        </p:spPr>
      </p:pic>
      <p:sp>
        <p:nvSpPr>
          <p:cNvPr id="83" name="TextBox 8"/>
          <p:cNvSpPr/>
          <p:nvPr/>
        </p:nvSpPr>
        <p:spPr>
          <a:xfrm>
            <a:off x="371520" y="6284880"/>
            <a:ext cx="1683720" cy="273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lt1"/>
                </a:solidFill>
                <a:effectLst/>
                <a:uFillTx/>
                <a:latin typeface="poppins"/>
                <a:ea typeface="DejaVu Sans"/>
              </a:rPr>
              <a:t>Icdfa.edu.ng</a:t>
            </a:r>
            <a:endParaRPr b="0" lang="en-US" sz="1200" strike="noStrike" u="none">
              <a:solidFill>
                <a:srgbClr val="000000"/>
              </a:solidFill>
              <a:effectLst/>
              <a:uFillTx/>
              <a:latin typeface="Arial"/>
            </a:endParaRPr>
          </a:p>
        </p:txBody>
      </p:sp>
      <p:pic>
        <p:nvPicPr>
          <p:cNvPr id="84" name="Picture 6" descr=""/>
          <p:cNvPicPr/>
          <p:nvPr/>
        </p:nvPicPr>
        <p:blipFill>
          <a:blip r:embed="rId4"/>
          <a:stretch/>
        </p:blipFill>
        <p:spPr>
          <a:xfrm>
            <a:off x="371520" y="336960"/>
            <a:ext cx="1168560" cy="1168560"/>
          </a:xfrm>
          <a:prstGeom prst="rect">
            <a:avLst/>
          </a:prstGeom>
          <a:noFill/>
          <a:ln w="0">
            <a:noFill/>
          </a:ln>
        </p:spPr>
      </p:pic>
      <p:sp>
        <p:nvSpPr>
          <p:cNvPr id="85" name="PlaceHolder 1"/>
          <p:cNvSpPr>
            <a:spLocks noGrp="1"/>
          </p:cNvSpPr>
          <p:nvPr>
            <p:ph type="title"/>
          </p:nvPr>
        </p:nvSpPr>
        <p:spPr>
          <a:xfrm>
            <a:off x="2318400" y="2365920"/>
            <a:ext cx="8519400" cy="2746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86"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87" name="PlaceHolder 3"/>
          <p:cNvSpPr>
            <a:spLocks noGrp="1"/>
          </p:cNvSpPr>
          <p:nvPr>
            <p:ph type="ftr" idx="22"/>
          </p:nvPr>
        </p:nvSpPr>
        <p:spPr>
          <a:xfrm>
            <a:off x="2056320" y="6280200"/>
            <a:ext cx="3234240" cy="3560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8" name="PlaceHolder 4"/>
          <p:cNvSpPr>
            <a:spLocks noGrp="1"/>
          </p:cNvSpPr>
          <p:nvPr>
            <p:ph type="sldNum" idx="23"/>
          </p:nvPr>
        </p:nvSpPr>
        <p:spPr>
          <a:xfrm>
            <a:off x="9819360" y="6288840"/>
            <a:ext cx="1412280" cy="34740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poppins"/>
              </a:defRPr>
            </a:lvl1pPr>
          </a:lstStyle>
          <a:p>
            <a:pPr indent="0" algn="r" defTabSz="914400">
              <a:lnSpc>
                <a:spcPct val="100000"/>
              </a:lnSpc>
              <a:buNone/>
              <a:tabLst>
                <a:tab algn="l" pos="0"/>
              </a:tabLst>
            </a:pPr>
            <a:fld id="{24EA08BF-D3BD-43EE-BCC8-4EFF0C9DF0CE}" type="slidenum">
              <a:rPr b="0" lang="en-US" sz="1200" strike="noStrike" u="none">
                <a:solidFill>
                  <a:schemeClr val="dk1">
                    <a:tint val="75000"/>
                  </a:schemeClr>
                </a:solidFill>
                <a:effectLst/>
                <a:uFillTx/>
                <a:latin typeface="poppins"/>
              </a:rPr>
              <a:t>&lt;number&gt;</a:t>
            </a:fld>
            <a:endParaRPr b="0" lang="en-US" sz="1200" strike="noStrike" u="none">
              <a:solidFill>
                <a:srgbClr val="000000"/>
              </a:solidFill>
              <a:effectLst/>
              <a:uFillTx/>
              <a:latin typeface="Times New Roman"/>
            </a:endParaRPr>
          </a:p>
        </p:txBody>
      </p:sp>
      <p:sp>
        <p:nvSpPr>
          <p:cNvPr id="89" name="PlaceHolder 5"/>
          <p:cNvSpPr>
            <a:spLocks noGrp="1"/>
          </p:cNvSpPr>
          <p:nvPr>
            <p:ph type="dt" idx="24"/>
          </p:nvPr>
        </p:nvSpPr>
        <p:spPr>
          <a:xfrm>
            <a:off x="6594120" y="6280200"/>
            <a:ext cx="1921320" cy="3560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4"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2286000" y="695520"/>
            <a:ext cx="8519400" cy="2504160"/>
          </a:xfrm>
          <a:prstGeom prst="rect">
            <a:avLst/>
          </a:prstGeom>
          <a:noFill/>
          <a:ln w="0">
            <a:noFill/>
          </a:ln>
        </p:spPr>
        <p:txBody>
          <a:bodyPr lIns="91440" rIns="91440" tIns="45720" bIns="45720" anchor="b">
            <a:noAutofit/>
          </a:bodyPr>
          <a:p>
            <a:pPr indent="0" algn="ctr" defTabSz="914400">
              <a:lnSpc>
                <a:spcPct val="90000"/>
              </a:lnSpc>
              <a:spcBef>
                <a:spcPts val="1191"/>
              </a:spcBef>
              <a:spcAft>
                <a:spcPts val="992"/>
              </a:spcAft>
              <a:buNone/>
              <a:tabLst>
                <a:tab algn="l" pos="0"/>
              </a:tabLst>
            </a:pPr>
            <a:r>
              <a:rPr b="0" lang="en-US" sz="2600" strike="noStrike" u="none">
                <a:solidFill>
                  <a:schemeClr val="dk1"/>
                </a:solidFill>
                <a:effectLst/>
                <a:uFillTx/>
                <a:latin typeface="Times New Roman"/>
              </a:rPr>
              <a:t>INT303: Networking Fundamentals – Lab 2</a:t>
            </a:r>
            <a:br>
              <a:rPr sz="2600"/>
            </a:br>
            <a:br>
              <a:rPr sz="2600"/>
            </a:br>
            <a:br>
              <a:rPr sz="2600"/>
            </a:br>
            <a:br>
              <a:rPr sz="2600"/>
            </a:br>
            <a:endParaRPr b="0" lang="en-US" sz="2600" strike="noStrike" u="none">
              <a:solidFill>
                <a:srgbClr val="000000"/>
              </a:solidFill>
              <a:effectLst/>
              <a:uFillTx/>
              <a:latin typeface="Arial"/>
            </a:endParaRPr>
          </a:p>
        </p:txBody>
      </p:sp>
      <p:sp>
        <p:nvSpPr>
          <p:cNvPr id="99" name="PlaceHolder 2"/>
          <p:cNvSpPr>
            <a:spLocks noGrp="1"/>
          </p:cNvSpPr>
          <p:nvPr>
            <p:ph type="subTitle"/>
          </p:nvPr>
        </p:nvSpPr>
        <p:spPr>
          <a:xfrm>
            <a:off x="2516760" y="3980880"/>
            <a:ext cx="8122680" cy="1300680"/>
          </a:xfrm>
          <a:prstGeom prst="rect">
            <a:avLst/>
          </a:prstGeom>
          <a:noFill/>
          <a:ln w="0">
            <a:noFill/>
          </a:ln>
        </p:spPr>
        <p:txBody>
          <a:bodyPr lIns="91440" rIns="91440" tIns="45720" bIns="45720" anchor="t">
            <a:noAutofit/>
          </a:bodyPr>
          <a:p>
            <a:pPr indent="0" algn="just" defTabSz="914400">
              <a:lnSpc>
                <a:spcPct val="90000"/>
              </a:lnSpc>
              <a:spcBef>
                <a:spcPts val="1191"/>
              </a:spcBef>
              <a:spcAft>
                <a:spcPts val="992"/>
              </a:spcAft>
              <a:buNone/>
              <a:tabLst>
                <a:tab algn="l" pos="0"/>
              </a:tabLst>
            </a:pPr>
            <a:r>
              <a:rPr b="0" lang="en-US" sz="2400" strike="noStrike" u="none">
                <a:solidFill>
                  <a:schemeClr val="dk1"/>
                </a:solidFill>
                <a:effectLst/>
                <a:uFillTx/>
                <a:latin typeface="Times New Roman"/>
              </a:rPr>
              <a:t>Lab 2: Exploring Network Interfaces and Packet Transmission Using OWASP Broken Web Application IP</a:t>
            </a:r>
            <a:endParaRPr b="0" lang="en-US" sz="2400" strike="noStrike" u="none">
              <a:solidFill>
                <a:srgbClr val="000000"/>
              </a:solidFill>
              <a:effectLst/>
              <a:uFillTx/>
              <a:latin typeface="Arial"/>
            </a:endParaRPr>
          </a:p>
        </p:txBody>
      </p:sp>
      <p:sp>
        <p:nvSpPr>
          <p:cNvPr id="4" name="PlaceHolder 3"/>
          <p:cNvSpPr>
            <a:spLocks noGrp="1"/>
          </p:cNvSpPr>
          <p:nvPr>
            <p:ph type="dt" idx="18"/>
          </p:nvPr>
        </p:nvSpPr>
        <p:spPr/>
        <p:txBody>
          <a:bodyPr/>
          <a:p>
            <a:fld id="{9922A716-A94D-4520-90C0-BDDFC96109CA}" type="datetime3">
              <a:rPr lang="en-US"/>
              <a:t>January 6, 2026</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2224080" y="-72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01" name="PlaceHolder 2"/>
          <p:cNvSpPr>
            <a:spLocks noGrp="1"/>
          </p:cNvSpPr>
          <p:nvPr>
            <p:ph/>
          </p:nvPr>
        </p:nvSpPr>
        <p:spPr>
          <a:xfrm>
            <a:off x="2057400" y="1737720"/>
            <a:ext cx="9143280" cy="3519360"/>
          </a:xfrm>
          <a:prstGeom prst="rect">
            <a:avLst/>
          </a:prstGeom>
          <a:noFill/>
          <a:ln w="0">
            <a:noFill/>
          </a:ln>
        </p:spPr>
        <p:txBody>
          <a:bodyPr lIns="0" rIns="0" tIns="0" bIns="0" anchor="t">
            <a:normAutofit/>
          </a:bodyPr>
          <a:p>
            <a:pPr marL="432000" indent="0" algn="just">
              <a:lnSpc>
                <a:spcPct val="150000"/>
              </a:lnSpc>
              <a:spcBef>
                <a:spcPts val="1191"/>
              </a:spcBef>
              <a:spcAft>
                <a:spcPts val="992"/>
              </a:spcAft>
              <a:buNone/>
              <a:tabLst>
                <a:tab algn="l" pos="0"/>
              </a:tabLst>
            </a:pPr>
            <a:r>
              <a:rPr b="0" lang="en-US" sz="1400" strike="noStrike" u="none">
                <a:solidFill>
                  <a:schemeClr val="dk1"/>
                </a:solidFill>
                <a:effectLst/>
                <a:uFillTx/>
                <a:latin typeface="Times New Roman"/>
              </a:rPr>
              <a:t>Objective:</a:t>
            </a:r>
            <a:endParaRPr b="0" lang="en-US" sz="1400" strike="noStrike" u="none">
              <a:solidFill>
                <a:srgbClr val="000000"/>
              </a:solidFill>
              <a:effectLst/>
              <a:uFillTx/>
              <a:latin typeface="Arial"/>
            </a:endParaRPr>
          </a:p>
          <a:p>
            <a:pPr marL="432000" indent="0" algn="just">
              <a:lnSpc>
                <a:spcPct val="150000"/>
              </a:lnSpc>
              <a:spcBef>
                <a:spcPts val="1191"/>
              </a:spcBef>
              <a:spcAft>
                <a:spcPts val="992"/>
              </a:spcAft>
              <a:buNone/>
              <a:tabLst>
                <a:tab algn="l" pos="0"/>
              </a:tabLst>
            </a:pPr>
            <a:r>
              <a:rPr b="0" lang="en-US" sz="1400" strike="noStrike" u="none">
                <a:solidFill>
                  <a:schemeClr val="dk1"/>
                </a:solidFill>
                <a:effectLst/>
                <a:uFillTx/>
                <a:latin typeface="Times New Roman"/>
              </a:rPr>
              <a:t>In this lab, you will dive deeper into the concept of network interfaces and packet transmission by analyzing the network interface configuration on your system. You will explore how to capture and analyze network packets using various tools and understand the process of packet transmission to and from the OWASP Broken Web Application VM.</a:t>
            </a:r>
            <a:endParaRPr b="0" lang="en-US" sz="1400" strike="noStrike" u="none">
              <a:solidFill>
                <a:srgbClr val="000000"/>
              </a:solidFill>
              <a:effectLst/>
              <a:uFillTx/>
              <a:latin typeface="Arial"/>
            </a:endParaRPr>
          </a:p>
          <a:p>
            <a:pPr marL="432000" indent="0" algn="just">
              <a:lnSpc>
                <a:spcPct val="150000"/>
              </a:lnSpc>
              <a:spcBef>
                <a:spcPts val="1191"/>
              </a:spcBef>
              <a:spcAft>
                <a:spcPts val="992"/>
              </a:spcAft>
              <a:buNone/>
              <a:tabLst>
                <a:tab algn="l" pos="0"/>
              </a:tabLst>
            </a:pP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D2E6AACF-18D8-48A9-99F5-18287FE60481}" type="datetime3">
              <a:rPr lang="en-US"/>
              <a:t>January 6, 2026</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2318400" y="2376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03" name="PlaceHolder 2"/>
          <p:cNvSpPr>
            <a:spLocks noGrp="1"/>
          </p:cNvSpPr>
          <p:nvPr>
            <p:ph/>
          </p:nvPr>
        </p:nvSpPr>
        <p:spPr>
          <a:xfrm>
            <a:off x="2286000" y="1371600"/>
            <a:ext cx="8914680" cy="4342680"/>
          </a:xfrm>
          <a:prstGeom prst="rect">
            <a:avLst/>
          </a:prstGeom>
          <a:noFill/>
          <a:ln w="0">
            <a:noFill/>
          </a:ln>
        </p:spPr>
        <p:txBody>
          <a:bodyPr lIns="0" rIns="0" tIns="0" bIns="0" anchor="t">
            <a:normAutofit fontScale="92500" lnSpcReduction="9999"/>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Learning Outcomes:</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By the end of this lab, students will:</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Understand the role and configuration of network interfaces.</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Use packet capture tools to analyze network traffic and understand how data is transmitted.</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Gain experience in monitoring and troubleshooting network interfaces and traffic.</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Materials Needed:</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Symbol" charset="2"/>
              <a:buChar char=""/>
              <a:tabLst>
                <a:tab algn="l" pos="0"/>
              </a:tabLst>
            </a:pPr>
            <a:r>
              <a:rPr b="0" lang="en-US" sz="1400" strike="noStrike" u="none">
                <a:solidFill>
                  <a:schemeClr val="dk1"/>
                </a:solidFill>
                <a:effectLst/>
                <a:uFillTx/>
                <a:latin typeface="Times New Roman"/>
              </a:rPr>
              <a:t>Linux-based system (Kali, Ubuntu, etc.)</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Symbol" charset="2"/>
              <a:buChar char=""/>
              <a:tabLst>
                <a:tab algn="l" pos="0"/>
              </a:tabLst>
            </a:pPr>
            <a:r>
              <a:rPr b="0" lang="en-US" sz="1400" strike="noStrike" u="none">
                <a:solidFill>
                  <a:schemeClr val="dk1"/>
                </a:solidFill>
                <a:effectLst/>
                <a:uFillTx/>
                <a:latin typeface="Times New Roman"/>
              </a:rPr>
              <a:t>OWASP Broken Web Application VM (running and reachable on your network)</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Symbol" charset="2"/>
              <a:buChar char=""/>
              <a:tabLst>
                <a:tab algn="l" pos="0"/>
              </a:tabLst>
            </a:pPr>
            <a:r>
              <a:rPr b="0" lang="en-US" sz="1400" strike="noStrike" u="none">
                <a:solidFill>
                  <a:schemeClr val="dk1"/>
                </a:solidFill>
                <a:effectLst/>
                <a:uFillTx/>
                <a:latin typeface="Times New Roman"/>
              </a:rPr>
              <a:t>IP address of the OWASP Broken Web Application (e.g., 192.168.X.X)</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Symbol" charset="2"/>
              <a:buChar char=""/>
              <a:tabLst>
                <a:tab algn="l" pos="0"/>
              </a:tabLst>
            </a:pPr>
            <a:r>
              <a:rPr b="0" lang="en-US" sz="1400" strike="noStrike" u="none">
                <a:solidFill>
                  <a:schemeClr val="dk1"/>
                </a:solidFill>
                <a:effectLst/>
                <a:uFillTx/>
                <a:latin typeface="Times New Roman"/>
              </a:rPr>
              <a:t>Wireshark or tshark for packet capture</a:t>
            </a: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01320BE1-42C3-4E4D-BB12-E881EC41FFF2}" type="datetime3">
              <a:rPr lang="en-US"/>
              <a:t>January 6, 2026</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2224080" y="-72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05" name="PlaceHolder 2"/>
          <p:cNvSpPr>
            <a:spLocks noGrp="1"/>
          </p:cNvSpPr>
          <p:nvPr>
            <p:ph/>
          </p:nvPr>
        </p:nvSpPr>
        <p:spPr>
          <a:xfrm>
            <a:off x="2514600" y="685800"/>
            <a:ext cx="8609400" cy="5024160"/>
          </a:xfrm>
          <a:prstGeom prst="rect">
            <a:avLst/>
          </a:prstGeom>
          <a:noFill/>
          <a:ln w="0">
            <a:noFill/>
          </a:ln>
        </p:spPr>
        <p:txBody>
          <a:bodyPr lIns="0" rIns="0" tIns="0" bIns="0" anchor="t">
            <a:normAutofit lnSpcReduction="9999"/>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1: Viewing and Configuring Network Interfaces</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 Task: View your network interfaces using the ifconfig or ip command.</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View network interfaces (older method)</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ifconfig</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View network interfaces (modern method)</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ip addr show</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Show only active interfaces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ip link show</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Show interface statistics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ip -s link</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2.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Font typeface="OpenSymbol"/>
              <a:buChar char="◦"/>
              <a:tabLst>
                <a:tab algn="l" pos="0"/>
              </a:tabLst>
            </a:pPr>
            <a:r>
              <a:rPr b="0" lang="en-US" sz="1400" strike="noStrike" u="none">
                <a:solidFill>
                  <a:schemeClr val="dk1"/>
                </a:solidFill>
                <a:effectLst/>
                <a:uFillTx/>
                <a:latin typeface="Times New Roman"/>
              </a:rPr>
              <a:t>What network interfaces are available on your system?</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Font typeface="OpenSymbol"/>
              <a:buChar char="◦"/>
              <a:tabLst>
                <a:tab algn="l" pos="0"/>
              </a:tabLst>
            </a:pPr>
            <a:r>
              <a:rPr b="0" lang="en-US" sz="1400" strike="noStrike" u="none">
                <a:solidFill>
                  <a:schemeClr val="dk1"/>
                </a:solidFill>
                <a:effectLst/>
                <a:uFillTx/>
                <a:latin typeface="Times New Roman"/>
              </a:rPr>
              <a:t>Identify the IP address assigned to each interface.</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Font typeface="OpenSymbol"/>
              <a:buChar char="◦"/>
              <a:tabLst>
                <a:tab algn="l" pos="0"/>
              </a:tabLst>
            </a:pPr>
            <a:r>
              <a:rPr b="0" lang="en-US" sz="1400" strike="noStrike" u="none">
                <a:solidFill>
                  <a:schemeClr val="dk1"/>
                </a:solidFill>
                <a:effectLst/>
                <a:uFillTx/>
                <a:latin typeface="Times New Roman"/>
              </a:rPr>
              <a:t>Describe the difference between a loopback interface and an external network interface.</a:t>
            </a: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3B7C79ED-FFB5-4C59-A267-336D76D394FD}" type="datetime3">
              <a:rPr lang="en-US"/>
              <a:t>January 6, 2026</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2514600" y="22788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07"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marL="432000" indent="0">
              <a:lnSpc>
                <a:spcPct val="90000"/>
              </a:lnSpc>
              <a:spcBef>
                <a:spcPts val="1417"/>
              </a:spcBef>
              <a:buNone/>
              <a:tabLst>
                <a:tab algn="l" pos="0"/>
              </a:tabLst>
            </a:pPr>
            <a:r>
              <a:rPr b="0" lang="en-US" sz="2800" strike="noStrike" u="none">
                <a:solidFill>
                  <a:schemeClr val="dk1"/>
                </a:solidFill>
                <a:effectLst/>
                <a:uFillTx/>
                <a:latin typeface="poppins"/>
              </a:rPr>
              <a:t> </a:t>
            </a:r>
            <a:endParaRPr b="0" lang="en-US" sz="2800" strike="noStrike" u="none">
              <a:solidFill>
                <a:srgbClr val="000000"/>
              </a:solidFill>
              <a:effectLst/>
              <a:uFillTx/>
              <a:latin typeface="Arial"/>
            </a:endParaRPr>
          </a:p>
        </p:txBody>
      </p:sp>
      <p:pic>
        <p:nvPicPr>
          <p:cNvPr id="108" name="" descr=""/>
          <p:cNvPicPr/>
          <p:nvPr/>
        </p:nvPicPr>
        <p:blipFill>
          <a:blip r:embed="rId1"/>
          <a:stretch/>
        </p:blipFill>
        <p:spPr>
          <a:xfrm>
            <a:off x="1517400" y="73800"/>
            <a:ext cx="10140480" cy="3354480"/>
          </a:xfrm>
          <a:prstGeom prst="rect">
            <a:avLst/>
          </a:prstGeom>
          <a:noFill/>
          <a:ln w="0">
            <a:noFill/>
          </a:ln>
        </p:spPr>
      </p:pic>
      <p:pic>
        <p:nvPicPr>
          <p:cNvPr id="109" name="" descr=""/>
          <p:cNvPicPr/>
          <p:nvPr/>
        </p:nvPicPr>
        <p:blipFill>
          <a:blip r:embed="rId2"/>
          <a:stretch/>
        </p:blipFill>
        <p:spPr>
          <a:xfrm>
            <a:off x="1600200" y="3657600"/>
            <a:ext cx="10057680" cy="3204360"/>
          </a:xfrm>
          <a:prstGeom prst="rect">
            <a:avLst/>
          </a:prstGeom>
          <a:noFill/>
          <a:ln w="0">
            <a:noFill/>
          </a:ln>
        </p:spPr>
      </p:pic>
      <p:sp>
        <p:nvSpPr>
          <p:cNvPr id="4" name="PlaceHolder 3"/>
          <p:cNvSpPr>
            <a:spLocks noGrp="1"/>
          </p:cNvSpPr>
          <p:nvPr>
            <p:ph type="dt" idx="24"/>
          </p:nvPr>
        </p:nvSpPr>
        <p:spPr/>
        <p:txBody>
          <a:bodyPr/>
          <a:p>
            <a:fld id="{2803B7EF-C510-4533-91FD-363F78B1A90B}" type="datetime3">
              <a:rPr lang="en-US"/>
              <a:t>January 6, 2026</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2743200" y="22788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11" name="PlaceHolder 2"/>
          <p:cNvSpPr>
            <a:spLocks noGrp="1"/>
          </p:cNvSpPr>
          <p:nvPr>
            <p:ph/>
          </p:nvPr>
        </p:nvSpPr>
        <p:spPr>
          <a:xfrm>
            <a:off x="2286000" y="685800"/>
            <a:ext cx="9295200" cy="5028480"/>
          </a:xfrm>
          <a:prstGeom prst="rect">
            <a:avLst/>
          </a:prstGeom>
          <a:noFill/>
          <a:ln w="0">
            <a:noFill/>
          </a:ln>
        </p:spPr>
        <p:txBody>
          <a:bodyPr lIns="0" rIns="0" tIns="0" bIns="0" anchor="t">
            <a:normAutofit fontScale="92500" lnSpcReduction="9999"/>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2: Capturing Packets on a Specific Interface</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3. Task: Use tcpdump or tshark to capture packets on your primary network interface.</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Capture packets on specific interface</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tcpdump -i &lt;interface&gt;</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Example: capture on eth0</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tcpdump -i eth0</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Capture and save to file</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tcpdump -i eth0 -w capture.pcap</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Alternative: use tshark</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tshark -i &lt;interface&gt;</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Capture only first 100 packets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tcpdump -i eth0 -c 100</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4.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What kind of packets are being captured?</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Are there any packets related to communication with the OWASP Broken Web Application VM?</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Describe the role of this network interface in transmitting and receiving packets</a:t>
            </a: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027755D6-0780-4144-B675-128983034D7A}" type="datetime3">
              <a:rPr lang="en-US"/>
              <a:t>January 6, 2026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2286000" y="90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13"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marL="432000" indent="0">
              <a:lnSpc>
                <a:spcPct val="90000"/>
              </a:lnSpc>
              <a:spcBef>
                <a:spcPts val="1417"/>
              </a:spcBef>
              <a:buNone/>
              <a:tabLst>
                <a:tab algn="l" pos="0"/>
              </a:tabLst>
            </a:pPr>
            <a:r>
              <a:rPr b="0" lang="en-US" sz="2800" strike="noStrike" u="none">
                <a:solidFill>
                  <a:schemeClr val="dk1"/>
                </a:solidFill>
                <a:effectLst/>
                <a:uFillTx/>
                <a:latin typeface="poppins"/>
              </a:rPr>
              <a:t> </a:t>
            </a:r>
            <a:endParaRPr b="0" lang="en-US" sz="2800" strike="noStrike" u="none">
              <a:solidFill>
                <a:srgbClr val="000000"/>
              </a:solidFill>
              <a:effectLst/>
              <a:uFillTx/>
              <a:latin typeface="Arial"/>
            </a:endParaRPr>
          </a:p>
        </p:txBody>
      </p:sp>
      <p:pic>
        <p:nvPicPr>
          <p:cNvPr id="114" name="" descr=""/>
          <p:cNvPicPr/>
          <p:nvPr/>
        </p:nvPicPr>
        <p:blipFill>
          <a:blip r:embed="rId1"/>
          <a:stretch/>
        </p:blipFill>
        <p:spPr>
          <a:xfrm>
            <a:off x="413640" y="1371600"/>
            <a:ext cx="11015640" cy="4955400"/>
          </a:xfrm>
          <a:prstGeom prst="rect">
            <a:avLst/>
          </a:prstGeom>
          <a:noFill/>
          <a:ln w="0">
            <a:noFill/>
          </a:ln>
        </p:spPr>
      </p:pic>
      <p:sp>
        <p:nvSpPr>
          <p:cNvPr id="4" name="PlaceHolder 3"/>
          <p:cNvSpPr>
            <a:spLocks noGrp="1"/>
          </p:cNvSpPr>
          <p:nvPr>
            <p:ph type="dt" idx="24"/>
          </p:nvPr>
        </p:nvSpPr>
        <p:spPr/>
        <p:txBody>
          <a:bodyPr/>
          <a:p>
            <a:fld id="{B5989A1D-3EEC-48E9-8DD5-C0F70609215D}" type="datetime3">
              <a:rPr lang="en-US"/>
              <a:t>January 6, 2026</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2514600" y="-2196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16"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marL="432000" indent="0">
              <a:lnSpc>
                <a:spcPct val="90000"/>
              </a:lnSpc>
              <a:spcBef>
                <a:spcPts val="1417"/>
              </a:spcBef>
              <a:buNone/>
              <a:tabLst>
                <a:tab algn="l" pos="0"/>
              </a:tabLst>
            </a:pPr>
            <a:r>
              <a:rPr b="0" lang="en-US" sz="2800" strike="noStrike" u="none">
                <a:solidFill>
                  <a:schemeClr val="dk1"/>
                </a:solidFill>
                <a:effectLst/>
                <a:uFillTx/>
                <a:latin typeface="poppins"/>
              </a:rPr>
              <a:t> </a:t>
            </a:r>
            <a:endParaRPr b="0" lang="en-US" sz="2800" strike="noStrike" u="none">
              <a:solidFill>
                <a:srgbClr val="000000"/>
              </a:solidFill>
              <a:effectLst/>
              <a:uFillTx/>
              <a:latin typeface="Arial"/>
            </a:endParaRPr>
          </a:p>
        </p:txBody>
      </p:sp>
      <p:pic>
        <p:nvPicPr>
          <p:cNvPr id="117" name="" descr=""/>
          <p:cNvPicPr/>
          <p:nvPr/>
        </p:nvPicPr>
        <p:blipFill>
          <a:blip r:embed="rId1"/>
          <a:stretch/>
        </p:blipFill>
        <p:spPr>
          <a:xfrm>
            <a:off x="228600" y="1278000"/>
            <a:ext cx="11657880" cy="4893480"/>
          </a:xfrm>
          <a:prstGeom prst="rect">
            <a:avLst/>
          </a:prstGeom>
          <a:noFill/>
          <a:ln w="0">
            <a:noFill/>
          </a:ln>
        </p:spPr>
      </p:pic>
      <p:sp>
        <p:nvSpPr>
          <p:cNvPr id="4" name="PlaceHolder 3"/>
          <p:cNvSpPr>
            <a:spLocks noGrp="1"/>
          </p:cNvSpPr>
          <p:nvPr>
            <p:ph type="dt" idx="24"/>
          </p:nvPr>
        </p:nvSpPr>
        <p:spPr/>
        <p:txBody>
          <a:bodyPr/>
          <a:p>
            <a:fld id="{61D5D8BE-FDF5-415D-85F7-F537A0AA7227}" type="datetime3">
              <a:rPr lang="en-US"/>
              <a:t>January 6, 2026</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2318400" y="90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19" name="PlaceHolder 2"/>
          <p:cNvSpPr>
            <a:spLocks noGrp="1"/>
          </p:cNvSpPr>
          <p:nvPr>
            <p:ph/>
          </p:nvPr>
        </p:nvSpPr>
        <p:spPr>
          <a:xfrm>
            <a:off x="2057400" y="685800"/>
            <a:ext cx="9523800" cy="5485680"/>
          </a:xfrm>
          <a:prstGeom prst="rect">
            <a:avLst/>
          </a:prstGeom>
          <a:noFill/>
          <a:ln w="0">
            <a:noFill/>
          </a:ln>
        </p:spPr>
        <p:txBody>
          <a:bodyPr lIns="0" rIns="0" tIns="0" bIns="0" anchor="t">
            <a:normAutofit fontScale="92500" lnSpcReduction="9999"/>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3: Examining Network Statistics</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5. Task: Use the netstat or ss command to view current network statistics and connections.</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View network interface statistics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netstat -i</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Modern alternative: socket statistics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ss -s</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Show all network connections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netstat -an</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Show listening ports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ss -tuln</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Show established connections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netstat -tn</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6.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What is the current status of your network interfaces?</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What active connections are visible?</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Explain the significance of these statistics in monitoring network performance.</a:t>
            </a: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E9D32F31-7CEF-423A-B0BF-A794A5C99188}" type="datetime3">
              <a:rPr lang="en-US"/>
              <a:t>January 6, 2026</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2452680" y="2376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21"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marL="432000" indent="0">
              <a:lnSpc>
                <a:spcPct val="90000"/>
              </a:lnSpc>
              <a:spcBef>
                <a:spcPts val="1417"/>
              </a:spcBef>
              <a:buNone/>
              <a:tabLst>
                <a:tab algn="l" pos="0"/>
              </a:tabLst>
            </a:pPr>
            <a:r>
              <a:rPr b="0" lang="en-US" sz="2800" strike="noStrike" u="none">
                <a:solidFill>
                  <a:schemeClr val="dk1"/>
                </a:solidFill>
                <a:effectLst/>
                <a:uFillTx/>
                <a:latin typeface="poppins"/>
              </a:rPr>
              <a:t> </a:t>
            </a:r>
            <a:endParaRPr b="0" lang="en-US" sz="2800" strike="noStrike" u="none">
              <a:solidFill>
                <a:srgbClr val="000000"/>
              </a:solidFill>
              <a:effectLst/>
              <a:uFillTx/>
              <a:latin typeface="Arial"/>
            </a:endParaRPr>
          </a:p>
        </p:txBody>
      </p:sp>
      <p:pic>
        <p:nvPicPr>
          <p:cNvPr id="122" name="" descr=""/>
          <p:cNvPicPr/>
          <p:nvPr/>
        </p:nvPicPr>
        <p:blipFill>
          <a:blip r:embed="rId1"/>
          <a:stretch/>
        </p:blipFill>
        <p:spPr>
          <a:xfrm>
            <a:off x="1706400" y="324720"/>
            <a:ext cx="9874800" cy="3332160"/>
          </a:xfrm>
          <a:prstGeom prst="rect">
            <a:avLst/>
          </a:prstGeom>
          <a:noFill/>
          <a:ln w="0">
            <a:noFill/>
          </a:ln>
        </p:spPr>
      </p:pic>
      <p:pic>
        <p:nvPicPr>
          <p:cNvPr id="123" name="" descr=""/>
          <p:cNvPicPr/>
          <p:nvPr/>
        </p:nvPicPr>
        <p:blipFill>
          <a:blip r:embed="rId2"/>
          <a:stretch/>
        </p:blipFill>
        <p:spPr>
          <a:xfrm>
            <a:off x="914400" y="3886200"/>
            <a:ext cx="10972080" cy="3015000"/>
          </a:xfrm>
          <a:prstGeom prst="rect">
            <a:avLst/>
          </a:prstGeom>
          <a:noFill/>
          <a:ln w="0">
            <a:noFill/>
          </a:ln>
        </p:spPr>
      </p:pic>
      <p:sp>
        <p:nvSpPr>
          <p:cNvPr id="4" name="PlaceHolder 3"/>
          <p:cNvSpPr>
            <a:spLocks noGrp="1"/>
          </p:cNvSpPr>
          <p:nvPr>
            <p:ph type="dt" idx="24"/>
          </p:nvPr>
        </p:nvSpPr>
        <p:spPr/>
        <p:txBody>
          <a:bodyPr/>
          <a:p>
            <a:fld id="{0D1BA7CC-188A-4445-BA78-BEC4D2A14634}" type="datetime3">
              <a:rPr lang="en-US"/>
              <a:t>January 6, 2026</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2286000" y="-2196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25" name="PlaceHolder 2"/>
          <p:cNvSpPr>
            <a:spLocks noGrp="1"/>
          </p:cNvSpPr>
          <p:nvPr>
            <p:ph/>
          </p:nvPr>
        </p:nvSpPr>
        <p:spPr>
          <a:xfrm>
            <a:off x="2057400" y="685800"/>
            <a:ext cx="9372240" cy="5486040"/>
          </a:xfrm>
          <a:prstGeom prst="rect">
            <a:avLst/>
          </a:prstGeom>
          <a:noFill/>
          <a:ln w="0">
            <a:noFill/>
          </a:ln>
        </p:spPr>
        <p:txBody>
          <a:bodyPr lIns="0" rIns="0" tIns="0" bIns="0" anchor="t">
            <a:normAutofit/>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4: Monitoring Network Traffic with Wireshark</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7. Task: Use Wireshark to monitor network traffic on your primary interface and filter traffic going to and from the OWASP Broken Web Application VM.</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Launch Wireshark</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wireshark</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Or use tshark with display filter</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tshark -i eth0 -Y "ip.addr == 192.168.56.101"</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Capture and filter for specific IP</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tshark -i eth0 -f "host 192.168.56.101"</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 Save filtered capture</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tshark -i eth0 -f "host 192.168.56.101" -w filtered_capture.pcap</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r>
              <a:rPr b="0" lang="en-US" sz="1400" strike="noStrike" u="none">
                <a:solidFill>
                  <a:schemeClr val="dk1"/>
                </a:solidFill>
                <a:effectLst/>
                <a:uFillTx/>
                <a:latin typeface="Times New Roman"/>
              </a:rPr>
              <a:t>Wireshark Display Filters:</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ip.addr == &lt;OWASP_IP&gt; - Filter for specific IP</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tcp.port == 80 - Filter for HTTP traffic</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tcp.port == 443 - Filter for HTTPS traffic</a:t>
            </a:r>
            <a:endParaRPr b="0" lang="en-US" sz="1400" strike="noStrike" u="none">
              <a:solidFill>
                <a:srgbClr val="000000"/>
              </a:solidFill>
              <a:effectLst/>
              <a:uFillTx/>
              <a:latin typeface="Arial"/>
            </a:endParaRPr>
          </a:p>
          <a:p>
            <a:pPr marL="432000" indent="0">
              <a:lnSpc>
                <a:spcPct val="90000"/>
              </a:lnSpc>
              <a:spcBef>
                <a:spcPts val="1417"/>
              </a:spcBef>
              <a:buNone/>
              <a:tabLst>
                <a:tab algn="l" pos="0"/>
              </a:tabLst>
            </a:pP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2C069396-95F3-445A-9412-A531B54BD8AD}" type="datetime3">
              <a:rPr lang="en-US"/>
              <a:t>January 6, 2026</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2318400" y="-4482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sp>
        <p:nvSpPr>
          <p:cNvPr id="127"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lnSpc>
                <a:spcPct val="100000"/>
              </a:lnSpc>
              <a:buNone/>
              <a:tabLst>
                <a:tab algn="l" pos="0"/>
              </a:tabLst>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pic>
        <p:nvPicPr>
          <p:cNvPr id="128" name="" descr=""/>
          <p:cNvPicPr/>
          <p:nvPr/>
        </p:nvPicPr>
        <p:blipFill>
          <a:blip r:embed="rId1"/>
          <a:stretch/>
        </p:blipFill>
        <p:spPr>
          <a:xfrm>
            <a:off x="1944360" y="438840"/>
            <a:ext cx="8571240" cy="3218760"/>
          </a:xfrm>
          <a:prstGeom prst="rect">
            <a:avLst/>
          </a:prstGeom>
          <a:noFill/>
          <a:ln w="0">
            <a:noFill/>
          </a:ln>
        </p:spPr>
      </p:pic>
      <p:sp>
        <p:nvSpPr>
          <p:cNvPr id="4" name="PlaceHolder 3"/>
          <p:cNvSpPr>
            <a:spLocks noGrp="1"/>
          </p:cNvSpPr>
          <p:nvPr>
            <p:ph type="dt" idx="24"/>
          </p:nvPr>
        </p:nvSpPr>
        <p:spPr/>
        <p:txBody>
          <a:bodyPr/>
          <a:p>
            <a:fld id="{04404B51-A3B9-49CD-BB7B-998939903046}" type="datetime3">
              <a:rPr lang="en-US"/>
              <a:t>January 6, 2026</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2452680" y="-72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30" name="PlaceHolder 2"/>
          <p:cNvSpPr>
            <a:spLocks noGrp="1"/>
          </p:cNvSpPr>
          <p:nvPr>
            <p:ph/>
          </p:nvPr>
        </p:nvSpPr>
        <p:spPr>
          <a:xfrm>
            <a:off x="2057400" y="914400"/>
            <a:ext cx="9523800" cy="5485680"/>
          </a:xfrm>
          <a:prstGeom prst="rect">
            <a:avLst/>
          </a:prstGeom>
          <a:noFill/>
          <a:ln w="0">
            <a:noFill/>
          </a:ln>
        </p:spPr>
        <p:txBody>
          <a:bodyPr lIns="0" rIns="0" tIns="0" bIns="0" anchor="t">
            <a:normAutofit/>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5: Packet Transmission Analysis</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9. Task: Perform a ping or TCP connection request to the OWASP Broken Web Application IP and capture the packet details using tcpdump or Wireshark.</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Command: </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ping &lt;OWASP_IP&gt; or telnet &lt;OWASP_IP&gt; 80 (to initiate a simple connection)</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Capture the traffic using </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tcpdump -i &lt;interface&gt; host &lt;OWASP_IP&gt;, or set the appropriate filter in Wireshark.</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10.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What do you observe during the packet transmission process?</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Describe the handshake process or the round-trip of the packets for ping or TCP connection.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Which layers of the OSI and TCP/IP models are involved in this transmission?</a:t>
            </a: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34F95035-EC0F-4B5A-A04A-3394EB7B248E}" type="datetime3">
              <a:rPr lang="en-US"/>
              <a:t>January 6, 2026</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2682000" y="-448200"/>
            <a:ext cx="8519400" cy="2505600"/>
          </a:xfrm>
          <a:prstGeom prst="rect">
            <a:avLst/>
          </a:prstGeom>
          <a:noFill/>
          <a:ln w="0">
            <a:noFill/>
          </a:ln>
        </p:spPr>
        <p:txBody>
          <a:bodyPr lIns="0" rIns="0" tIns="0" bIns="0" anchor="ctr">
            <a:spAutoFit/>
          </a:bodyPr>
          <a:p>
            <a:pPr indent="0">
              <a:lnSpc>
                <a:spcPct val="100000"/>
              </a:lnSpc>
              <a:buNone/>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sp>
        <p:nvSpPr>
          <p:cNvPr id="132"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lnSpc>
                <a:spcPct val="100000"/>
              </a:lnSpc>
              <a:buNone/>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pic>
        <p:nvPicPr>
          <p:cNvPr id="133" name="" descr=""/>
          <p:cNvPicPr/>
          <p:nvPr/>
        </p:nvPicPr>
        <p:blipFill>
          <a:blip r:embed="rId1"/>
          <a:stretch/>
        </p:blipFill>
        <p:spPr>
          <a:xfrm>
            <a:off x="2229120" y="209880"/>
            <a:ext cx="5543280" cy="3676320"/>
          </a:xfrm>
          <a:prstGeom prst="rect">
            <a:avLst/>
          </a:prstGeom>
          <a:noFill/>
          <a:ln w="0">
            <a:noFill/>
          </a:ln>
        </p:spPr>
      </p:pic>
      <p:sp>
        <p:nvSpPr>
          <p:cNvPr id="4" name="PlaceHolder 3"/>
          <p:cNvSpPr>
            <a:spLocks noGrp="1"/>
          </p:cNvSpPr>
          <p:nvPr>
            <p:ph type="dt" idx="24"/>
          </p:nvPr>
        </p:nvSpPr>
        <p:spPr/>
        <p:txBody>
          <a:bodyPr/>
          <a:p>
            <a:fld id="{9691D5D2-9E7C-4A67-A942-2FE3FD547590}" type="datetime3">
              <a:rPr lang="en-US"/>
              <a:t>January 6, 2026</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2514600" y="-72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35" name="PlaceHolder 2"/>
          <p:cNvSpPr>
            <a:spLocks noGrp="1"/>
          </p:cNvSpPr>
          <p:nvPr>
            <p:ph/>
          </p:nvPr>
        </p:nvSpPr>
        <p:spPr>
          <a:xfrm>
            <a:off x="2057400" y="1371600"/>
            <a:ext cx="9371880" cy="4571280"/>
          </a:xfrm>
          <a:prstGeom prst="rect">
            <a:avLst/>
          </a:prstGeom>
          <a:noFill/>
          <a:ln w="0">
            <a:noFill/>
          </a:ln>
        </p:spPr>
        <p:txBody>
          <a:bodyPr lIns="0" rIns="0" tIns="0" bIns="0" anchor="t">
            <a:normAutofit/>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6: Troubleshooting Network Interface Issues</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11. Task: Simulate a network interface failure by disabling and then re-enabling an interface. Observe how this affects network connectivity to the OWASP Broken Web Application VM.</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Command: </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sudo ifconfig &lt;interface&gt; down and </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sudo ifconfig &lt;interface&gt; up (or use ip commands)</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12.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What happens when you disable the network interface?</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How does your system respond when the interface is re-enabled?</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Explain how network administrators can use this knowledge for troubleshooting connectivity issues.</a:t>
            </a:r>
            <a:endParaRPr b="0" lang="en-US" sz="1400" strike="noStrike" u="none">
              <a:solidFill>
                <a:srgbClr val="000000"/>
              </a:solidFill>
              <a:effectLst/>
              <a:uFillTx/>
              <a:latin typeface="Arial"/>
            </a:endParaRPr>
          </a:p>
        </p:txBody>
      </p:sp>
      <p:pic>
        <p:nvPicPr>
          <p:cNvPr id="136" name="" descr=""/>
          <p:cNvPicPr/>
          <p:nvPr/>
        </p:nvPicPr>
        <p:blipFill>
          <a:blip r:embed="rId1"/>
          <a:stretch/>
        </p:blipFill>
        <p:spPr>
          <a:xfrm>
            <a:off x="6629400" y="2591280"/>
            <a:ext cx="3847680" cy="1980720"/>
          </a:xfrm>
          <a:prstGeom prst="rect">
            <a:avLst/>
          </a:prstGeom>
          <a:noFill/>
          <a:ln w="0">
            <a:noFill/>
          </a:ln>
        </p:spPr>
      </p:pic>
      <p:sp>
        <p:nvSpPr>
          <p:cNvPr id="4" name="PlaceHolder 3"/>
          <p:cNvSpPr>
            <a:spLocks noGrp="1"/>
          </p:cNvSpPr>
          <p:nvPr>
            <p:ph type="dt" idx="24"/>
          </p:nvPr>
        </p:nvSpPr>
        <p:spPr/>
        <p:txBody>
          <a:bodyPr/>
          <a:p>
            <a:fld id="{309DE216-21E9-48C0-A3F7-7ED557DC54A5}" type="datetime3">
              <a:rPr lang="en-US"/>
              <a:t>January 6, 2026</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2910600" y="4572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38" name="PlaceHolder 2"/>
          <p:cNvSpPr>
            <a:spLocks noGrp="1"/>
          </p:cNvSpPr>
          <p:nvPr>
            <p:ph/>
          </p:nvPr>
        </p:nvSpPr>
        <p:spPr>
          <a:xfrm>
            <a:off x="2286000" y="1504800"/>
            <a:ext cx="8914680" cy="4438080"/>
          </a:xfrm>
          <a:prstGeom prst="rect">
            <a:avLst/>
          </a:prstGeom>
          <a:noFill/>
          <a:ln w="0">
            <a:noFill/>
          </a:ln>
        </p:spPr>
        <p:txBody>
          <a:bodyPr lIns="0" rIns="0" tIns="0" bIns="0" anchor="t">
            <a:normAutofit/>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7: Bandwidth Monitoring</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13. Task: Use the iftop or nload command to monitor the bandwidth usage on your system while interacting with the OWASP Broken Web Application VM.</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Command: </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sudo iftop -i &lt;interface&gt; or nload &lt;interface&gt;</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14.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What is the current bandwidth usage while communicating with the OWASP VM?</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Identify the impact of network traffic on your interface. Is there any traffic congestion?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How does this help in monitoring network performance?</a:t>
            </a: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C152A651-C95C-443F-BDBC-CE6C01AFB728}" type="datetime3">
              <a:rPr lang="en-US"/>
              <a:t>January 6, 2026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2224800" y="9000"/>
            <a:ext cx="8519400" cy="2505600"/>
          </a:xfrm>
          <a:prstGeom prst="rect">
            <a:avLst/>
          </a:prstGeom>
          <a:noFill/>
          <a:ln w="0">
            <a:noFill/>
          </a:ln>
        </p:spPr>
        <p:txBody>
          <a:bodyPr lIns="0" rIns="0" tIns="0" bIns="0" anchor="ctr">
            <a:spAutoFit/>
          </a:bodyPr>
          <a:p>
            <a:pPr indent="0">
              <a:lnSpc>
                <a:spcPct val="100000"/>
              </a:lnSpc>
              <a:buNone/>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sp>
        <p:nvSpPr>
          <p:cNvPr id="140"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lnSpc>
                <a:spcPct val="100000"/>
              </a:lnSpc>
              <a:buNone/>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pic>
        <p:nvPicPr>
          <p:cNvPr id="141" name="" descr=""/>
          <p:cNvPicPr/>
          <p:nvPr/>
        </p:nvPicPr>
        <p:blipFill>
          <a:blip r:embed="rId1"/>
          <a:stretch/>
        </p:blipFill>
        <p:spPr>
          <a:xfrm>
            <a:off x="2971800" y="1010880"/>
            <a:ext cx="6323400" cy="5847120"/>
          </a:xfrm>
          <a:prstGeom prst="rect">
            <a:avLst/>
          </a:prstGeom>
          <a:noFill/>
          <a:ln w="0">
            <a:noFill/>
          </a:ln>
        </p:spPr>
      </p:pic>
      <p:pic>
        <p:nvPicPr>
          <p:cNvPr id="142" name="" descr=""/>
          <p:cNvPicPr/>
          <p:nvPr/>
        </p:nvPicPr>
        <p:blipFill>
          <a:blip r:embed="rId2"/>
          <a:stretch/>
        </p:blipFill>
        <p:spPr>
          <a:xfrm>
            <a:off x="5486400" y="-1600200"/>
            <a:ext cx="4494600" cy="2593440"/>
          </a:xfrm>
          <a:prstGeom prst="rect">
            <a:avLst/>
          </a:prstGeom>
          <a:noFill/>
          <a:ln w="0">
            <a:noFill/>
          </a:ln>
        </p:spPr>
      </p:pic>
      <p:sp>
        <p:nvSpPr>
          <p:cNvPr id="4" name="PlaceHolder 3"/>
          <p:cNvSpPr>
            <a:spLocks noGrp="1"/>
          </p:cNvSpPr>
          <p:nvPr>
            <p:ph type="dt" idx="24"/>
          </p:nvPr>
        </p:nvSpPr>
        <p:spPr/>
        <p:txBody>
          <a:bodyPr/>
          <a:p>
            <a:fld id="{A1DFEBD9-2F80-4214-979C-D131A0FDFF03}" type="datetime3">
              <a:rPr lang="en-US"/>
              <a:t>January 6, 2026</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2318400" y="2190600"/>
            <a:ext cx="8519400" cy="625320"/>
          </a:xfrm>
          <a:prstGeom prst="rect">
            <a:avLst/>
          </a:prstGeom>
          <a:noFill/>
          <a:ln w="0">
            <a:noFill/>
          </a:ln>
        </p:spPr>
        <p:txBody>
          <a:bodyPr lIns="0" rIns="0" tIns="0" bIns="0" anchor="ctr">
            <a:spAutoFit/>
          </a:bodyPr>
          <a:p>
            <a:pPr indent="0" algn="ctr">
              <a:buNone/>
            </a:pPr>
            <a:r>
              <a:rPr b="0" lang="en-US" sz="4400" strike="noStrike" u="none">
                <a:solidFill>
                  <a:srgbClr val="000000"/>
                </a:solidFill>
                <a:effectLst/>
                <a:uFillTx/>
                <a:latin typeface="Arial"/>
              </a:rPr>
              <a:t> </a:t>
            </a:r>
            <a:endParaRPr b="0" lang="en-US" sz="4400" strike="noStrike" u="none">
              <a:solidFill>
                <a:srgbClr val="000000"/>
              </a:solidFill>
              <a:effectLst/>
              <a:uFillTx/>
              <a:latin typeface="Arial"/>
            </a:endParaRPr>
          </a:p>
        </p:txBody>
      </p:sp>
      <p:sp>
        <p:nvSpPr>
          <p:cNvPr id="144" name="PlaceHolder 2"/>
          <p:cNvSpPr>
            <a:spLocks noGrp="1"/>
          </p:cNvSpPr>
          <p:nvPr>
            <p:ph/>
          </p:nvPr>
        </p:nvSpPr>
        <p:spPr>
          <a:xfrm>
            <a:off x="686880" y="3110040"/>
            <a:ext cx="10971720" cy="3976560"/>
          </a:xfrm>
          <a:prstGeom prst="rect">
            <a:avLst/>
          </a:prstGeom>
          <a:noFill/>
          <a:ln w="0">
            <a:noFill/>
          </a:ln>
        </p:spPr>
        <p:txBody>
          <a:bodyPr lIns="0" rIns="0" tIns="0" bIns="0" anchor="t">
            <a:normAutofit/>
          </a:bodyPr>
          <a:p>
            <a:pPr marL="432000" indent="0">
              <a:spcBef>
                <a:spcPts val="1417"/>
              </a:spcBef>
              <a:buNone/>
            </a:pPr>
            <a:r>
              <a:rPr b="0" lang="en-US" sz="3200" strike="noStrike" u="none">
                <a:solidFill>
                  <a:srgbClr val="000000"/>
                </a:solidFill>
                <a:effectLst/>
                <a:uFillTx/>
                <a:latin typeface="Arial"/>
              </a:rPr>
              <a:t> </a:t>
            </a:r>
            <a:endParaRPr b="0" lang="en-US" sz="3200" strike="noStrike" u="none">
              <a:solidFill>
                <a:srgbClr val="000000"/>
              </a:solidFill>
              <a:effectLst/>
              <a:uFillTx/>
              <a:latin typeface="Arial"/>
            </a:endParaRPr>
          </a:p>
        </p:txBody>
      </p:sp>
      <p:pic>
        <p:nvPicPr>
          <p:cNvPr id="145" name="" descr=""/>
          <p:cNvPicPr/>
          <p:nvPr/>
        </p:nvPicPr>
        <p:blipFill>
          <a:blip r:embed="rId1"/>
          <a:stretch/>
        </p:blipFill>
        <p:spPr>
          <a:xfrm>
            <a:off x="152640" y="2286000"/>
            <a:ext cx="12191760" cy="4196160"/>
          </a:xfrm>
          <a:prstGeom prst="rect">
            <a:avLst/>
          </a:prstGeom>
          <a:noFill/>
          <a:ln w="0">
            <a:noFill/>
          </a:ln>
        </p:spPr>
      </p:pic>
      <p:pic>
        <p:nvPicPr>
          <p:cNvPr id="146" name="" descr=""/>
          <p:cNvPicPr/>
          <p:nvPr/>
        </p:nvPicPr>
        <p:blipFill>
          <a:blip r:embed="rId2"/>
          <a:stretch/>
        </p:blipFill>
        <p:spPr>
          <a:xfrm>
            <a:off x="3200400" y="838800"/>
            <a:ext cx="6456960" cy="1447200"/>
          </a:xfrm>
          <a:prstGeom prst="rect">
            <a:avLst/>
          </a:prstGeom>
          <a:noFill/>
          <a:ln w="0">
            <a:noFill/>
          </a:ln>
        </p:spPr>
      </p:pic>
      <p:sp>
        <p:nvSpPr>
          <p:cNvPr id="4" name="PlaceHolder 3"/>
          <p:cNvSpPr>
            <a:spLocks noGrp="1"/>
          </p:cNvSpPr>
          <p:nvPr>
            <p:ph type="dt" idx="24"/>
          </p:nvPr>
        </p:nvSpPr>
        <p:spPr/>
        <p:txBody>
          <a:bodyPr/>
          <a:p>
            <a:fld id="{459E8C8D-9322-47C6-BFBA-922C819BB052}" type="datetime3">
              <a:rPr lang="en-US"/>
              <a:t>January 6, 2026</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2452680" y="-72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48" name="PlaceHolder 2"/>
          <p:cNvSpPr>
            <a:spLocks noGrp="1"/>
          </p:cNvSpPr>
          <p:nvPr>
            <p:ph/>
          </p:nvPr>
        </p:nvSpPr>
        <p:spPr>
          <a:xfrm>
            <a:off x="2514600" y="1604520"/>
            <a:ext cx="8458200" cy="4566960"/>
          </a:xfrm>
          <a:prstGeom prst="rect">
            <a:avLst/>
          </a:prstGeom>
          <a:noFill/>
          <a:ln w="0">
            <a:noFill/>
          </a:ln>
        </p:spPr>
        <p:txBody>
          <a:bodyPr lIns="0" rIns="0" tIns="0" bIns="0" anchor="t">
            <a:normAutofit/>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Exercise 8: Advanced Packet Capture Filters</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15. Task: Create custom filters in Wireshark or tcpdump to capture only specific types of traffic, such as TCP or HTTP traffic, between your system and the OWASP VM.</a:t>
            </a:r>
            <a:endParaRPr b="0" lang="en-US" sz="1400" strike="noStrike" u="none">
              <a:solidFill>
                <a:srgbClr val="000000"/>
              </a:solidFill>
              <a:effectLst/>
              <a:uFillTx/>
              <a:latin typeface="Arial"/>
            </a:endParaRPr>
          </a:p>
          <a:p>
            <a:pPr marL="432000" indent="-324000">
              <a:lnSpc>
                <a:spcPct val="90000"/>
              </a:lnSpc>
              <a:spcBef>
                <a:spcPts val="1191"/>
              </a:spcBef>
              <a:spcAft>
                <a:spcPts val="992"/>
              </a:spcAft>
              <a:buClr>
                <a:srgbClr val="000000"/>
              </a:buClr>
              <a:buSzPct val="45000"/>
              <a:buFont typeface="Wingdings" charset="2"/>
              <a:buChar char=""/>
              <a:tabLst>
                <a:tab algn="l" pos="0"/>
              </a:tabLst>
            </a:pPr>
            <a:r>
              <a:rPr b="0" lang="en-US" sz="1400" strike="noStrike" u="none">
                <a:solidFill>
                  <a:schemeClr val="dk1"/>
                </a:solidFill>
                <a:effectLst/>
                <a:uFillTx/>
                <a:latin typeface="Times New Roman"/>
              </a:rPr>
              <a:t>Example Filter for HTTP Traffic: </a:t>
            </a:r>
            <a:endParaRPr b="0" lang="en-US" sz="1400" strike="noStrike" u="none">
              <a:solidFill>
                <a:srgbClr val="000000"/>
              </a:solidFill>
              <a:effectLst/>
              <a:uFillTx/>
              <a:latin typeface="Arial"/>
            </a:endParaRPr>
          </a:p>
          <a:p>
            <a:pPr marL="864000" indent="0">
              <a:lnSpc>
                <a:spcPct val="90000"/>
              </a:lnSpc>
              <a:spcBef>
                <a:spcPts val="1134"/>
              </a:spcBef>
              <a:buNone/>
              <a:tabLst>
                <a:tab algn="l" pos="0"/>
              </a:tabLst>
            </a:pPr>
            <a:r>
              <a:rPr b="0" lang="en-US" sz="1400" strike="noStrike" u="none">
                <a:solidFill>
                  <a:schemeClr val="dk1"/>
                </a:solidFill>
                <a:effectLst/>
                <a:uFillTx/>
                <a:latin typeface="Times New Roman"/>
              </a:rPr>
              <a:t>tcp port 80 and ip.addr == &lt;OWASP_IP&gt;</a:t>
            </a: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marL="432000"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16. Question:</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What is the significance of filtering specific traffic?</a:t>
            </a:r>
            <a:endParaRPr b="0" lang="en-US" sz="1400" strike="noStrike" u="none">
              <a:solidFill>
                <a:srgbClr val="000000"/>
              </a:solidFill>
              <a:effectLst/>
              <a:uFillTx/>
              <a:latin typeface="Arial"/>
            </a:endParaRPr>
          </a:p>
          <a:p>
            <a:pPr lvl="1" marL="864000" indent="-324000">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How can advanced filters help network engineers diagnose and resolve issues?</a:t>
            </a: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E149E47A-1622-4181-8F6D-A71BEF923D7A}" type="datetime3">
              <a:rPr lang="en-US"/>
              <a:t>January 6, 2026</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2318400" y="228600"/>
            <a:ext cx="8519400" cy="2505600"/>
          </a:xfrm>
          <a:prstGeom prst="rect">
            <a:avLst/>
          </a:prstGeom>
          <a:noFill/>
          <a:ln w="0">
            <a:noFill/>
          </a:ln>
        </p:spPr>
        <p:txBody>
          <a:bodyPr lIns="0" rIns="0" tIns="0" bIns="0" anchor="ctr">
            <a:spAutoFit/>
          </a:bodyPr>
          <a:p>
            <a:pPr indent="0">
              <a:lnSpc>
                <a:spcPct val="100000"/>
              </a:lnSpc>
              <a:buNone/>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sp>
        <p:nvSpPr>
          <p:cNvPr id="150" name="PlaceHolder 2"/>
          <p:cNvSpPr>
            <a:spLocks noGrp="1"/>
          </p:cNvSpPr>
          <p:nvPr>
            <p:ph/>
          </p:nvPr>
        </p:nvSpPr>
        <p:spPr>
          <a:xfrm>
            <a:off x="609480" y="1604520"/>
            <a:ext cx="10971720" cy="3976560"/>
          </a:xfrm>
          <a:prstGeom prst="rect">
            <a:avLst/>
          </a:prstGeom>
          <a:noFill/>
          <a:ln w="0">
            <a:noFill/>
          </a:ln>
        </p:spPr>
        <p:txBody>
          <a:bodyPr lIns="0" rIns="0" tIns="0" bIns="0" anchor="t">
            <a:normAutofit/>
          </a:bodyPr>
          <a:p>
            <a:pPr indent="0">
              <a:lnSpc>
                <a:spcPct val="100000"/>
              </a:lnSpc>
              <a:buNone/>
            </a:pPr>
            <a:r>
              <a:rPr b="0" lang="en-US" sz="1800" strike="noStrike" u="none">
                <a:solidFill>
                  <a:srgbClr val="000000"/>
                </a:solidFill>
                <a:effectLst/>
                <a:uFillTx/>
                <a:latin typeface="Arial"/>
              </a:rPr>
              <a:t>  </a:t>
            </a:r>
            <a:endParaRPr b="0" lang="en-US" sz="1800" strike="noStrike" u="none">
              <a:solidFill>
                <a:srgbClr val="000000"/>
              </a:solidFill>
              <a:effectLst/>
              <a:uFillTx/>
              <a:latin typeface="Arial"/>
            </a:endParaRPr>
          </a:p>
        </p:txBody>
      </p:sp>
      <p:pic>
        <p:nvPicPr>
          <p:cNvPr id="151" name="" descr=""/>
          <p:cNvPicPr/>
          <p:nvPr/>
        </p:nvPicPr>
        <p:blipFill>
          <a:blip r:embed="rId1"/>
          <a:stretch/>
        </p:blipFill>
        <p:spPr>
          <a:xfrm>
            <a:off x="1246680" y="910080"/>
            <a:ext cx="9685440" cy="4666320"/>
          </a:xfrm>
          <a:prstGeom prst="rect">
            <a:avLst/>
          </a:prstGeom>
          <a:noFill/>
          <a:ln w="0">
            <a:noFill/>
          </a:ln>
        </p:spPr>
      </p:pic>
      <p:sp>
        <p:nvSpPr>
          <p:cNvPr id="4" name="PlaceHolder 3"/>
          <p:cNvSpPr>
            <a:spLocks noGrp="1"/>
          </p:cNvSpPr>
          <p:nvPr>
            <p:ph type="dt" idx="24"/>
          </p:nvPr>
        </p:nvSpPr>
        <p:spPr/>
        <p:txBody>
          <a:bodyPr/>
          <a:p>
            <a:fld id="{2304E402-0E58-4070-8A33-AB25B0E5F326}" type="datetime3">
              <a:rPr lang="en-US"/>
              <a:t>January 6, 2026</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2681280" y="-676800"/>
            <a:ext cx="8519400" cy="250560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chemeClr val="dk1"/>
                </a:solidFill>
                <a:effectLst/>
                <a:uFillTx/>
                <a:latin typeface="poppins"/>
              </a:rPr>
              <a:t> </a:t>
            </a:r>
            <a:endParaRPr b="0" lang="en-US" sz="1800" strike="noStrike" u="none">
              <a:solidFill>
                <a:srgbClr val="000000"/>
              </a:solidFill>
              <a:effectLst/>
              <a:uFillTx/>
              <a:latin typeface="Arial"/>
            </a:endParaRPr>
          </a:p>
        </p:txBody>
      </p:sp>
      <p:sp>
        <p:nvSpPr>
          <p:cNvPr id="153" name="PlaceHolder 2"/>
          <p:cNvSpPr>
            <a:spLocks noGrp="1"/>
          </p:cNvSpPr>
          <p:nvPr>
            <p:ph/>
          </p:nvPr>
        </p:nvSpPr>
        <p:spPr>
          <a:xfrm>
            <a:off x="2286000" y="1600200"/>
            <a:ext cx="8914680" cy="4571280"/>
          </a:xfrm>
          <a:prstGeom prst="rect">
            <a:avLst/>
          </a:prstGeom>
          <a:noFill/>
          <a:ln w="0">
            <a:noFill/>
          </a:ln>
        </p:spPr>
        <p:txBody>
          <a:bodyPr lIns="0" rIns="0" tIns="0" bIns="0" anchor="t">
            <a:normAutofit/>
          </a:bodyPr>
          <a:p>
            <a:pPr marL="432000"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Submission Requirements:</a:t>
            </a:r>
            <a:endParaRPr b="0" lang="en-US" sz="1400" strike="noStrike" u="none">
              <a:solidFill>
                <a:srgbClr val="000000"/>
              </a:solidFill>
              <a:effectLst/>
              <a:uFillTx/>
              <a:latin typeface="Arial"/>
            </a:endParaRPr>
          </a:p>
          <a:p>
            <a:pPr lvl="1" marL="864000" indent="-324000" algn="just">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Submit a report detailing the output of each exercise.</a:t>
            </a:r>
            <a:endParaRPr b="0" lang="en-US" sz="1400" strike="noStrike" u="none">
              <a:solidFill>
                <a:srgbClr val="000000"/>
              </a:solidFill>
              <a:effectLst/>
              <a:uFillTx/>
              <a:latin typeface="Arial"/>
            </a:endParaRPr>
          </a:p>
          <a:p>
            <a:pPr lvl="1" marL="864000" indent="-324000" algn="just">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Include screenshots for critical steps such as packet captures and bandwidth monitoring.</a:t>
            </a:r>
            <a:endParaRPr b="0" lang="en-US" sz="1400" strike="noStrike" u="none">
              <a:solidFill>
                <a:srgbClr val="000000"/>
              </a:solidFill>
              <a:effectLst/>
              <a:uFillTx/>
              <a:latin typeface="Arial"/>
            </a:endParaRPr>
          </a:p>
          <a:p>
            <a:pPr lvl="1" marL="864000" indent="-324000" algn="just">
              <a:lnSpc>
                <a:spcPct val="90000"/>
              </a:lnSpc>
              <a:spcBef>
                <a:spcPts val="1134"/>
              </a:spcBef>
              <a:buClr>
                <a:srgbClr val="000000"/>
              </a:buClr>
              <a:buSzPct val="75000"/>
              <a:buFont typeface="OpenSymbol"/>
              <a:buChar char="◦"/>
              <a:tabLst>
                <a:tab algn="l" pos="0"/>
              </a:tabLst>
            </a:pPr>
            <a:r>
              <a:rPr b="0" lang="en-US" sz="1400" strike="noStrike" u="none">
                <a:solidFill>
                  <a:schemeClr val="dk1"/>
                </a:solidFill>
                <a:effectLst/>
                <a:uFillTx/>
                <a:latin typeface="Times New Roman"/>
              </a:rPr>
              <a:t>Provide explanations for each observed behavior, particularly focusing on the significance of network interfaces and packet transmission.</a:t>
            </a:r>
            <a:endParaRPr b="0" lang="en-US" sz="14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1" lang="en-US" sz="1400" strike="noStrike" u="none">
                <a:solidFill>
                  <a:schemeClr val="dk1"/>
                </a:solidFill>
                <a:effectLst/>
                <a:uFillTx/>
                <a:latin typeface="Times New Roman"/>
              </a:rPr>
              <a:t>Reflection:</a:t>
            </a:r>
            <a:endParaRPr b="0" lang="en-US" sz="14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400" strike="noStrike" u="none">
                <a:solidFill>
                  <a:schemeClr val="dk1"/>
                </a:solidFill>
                <a:effectLst/>
                <a:uFillTx/>
                <a:latin typeface="Times New Roman"/>
              </a:rPr>
              <a:t>By the end of this lab, students will have a practical understanding of network interfaces and packet transmission. They will be able to configure and monitor network interfaces, analyze packet transmission, and troubleshoot network connectivity using real-world tools.</a:t>
            </a:r>
            <a:endParaRPr b="0" lang="en-US" sz="14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US" sz="1400" strike="noStrike" u="none">
              <a:solidFill>
                <a:srgbClr val="000000"/>
              </a:solidFill>
              <a:effectLst/>
              <a:uFillTx/>
              <a:latin typeface="Arial"/>
            </a:endParaRPr>
          </a:p>
          <a:p>
            <a:pPr indent="0">
              <a:lnSpc>
                <a:spcPct val="90000"/>
              </a:lnSpc>
              <a:spcBef>
                <a:spcPts val="1417"/>
              </a:spcBef>
              <a:buNone/>
              <a:tabLst>
                <a:tab algn="l" pos="0"/>
              </a:tabLst>
            </a:pPr>
            <a:endParaRPr b="0" lang="en-US" sz="1400" strike="noStrike" u="none">
              <a:solidFill>
                <a:srgbClr val="000000"/>
              </a:solidFill>
              <a:effectLst/>
              <a:uFillTx/>
              <a:latin typeface="Arial"/>
            </a:endParaRPr>
          </a:p>
        </p:txBody>
      </p:sp>
      <p:sp>
        <p:nvSpPr>
          <p:cNvPr id="4" name="PlaceHolder 3"/>
          <p:cNvSpPr>
            <a:spLocks noGrp="1"/>
          </p:cNvSpPr>
          <p:nvPr>
            <p:ph type="dt" idx="24"/>
          </p:nvPr>
        </p:nvSpPr>
        <p:spPr/>
        <p:txBody>
          <a:bodyPr/>
          <a:p>
            <a:fld id="{AB9633D8-17EE-4D99-B526-A6A0EDDDD3EC}" type="datetime3">
              <a:rPr lang="en-US"/>
              <a:t>January 6, 2026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ICDFA Color">
      <a:dk1>
        <a:srgbClr val="002060"/>
      </a:dk1>
      <a:lt1>
        <a:srgbClr val="ffffff"/>
      </a:lt1>
      <a:dk2>
        <a:srgbClr val="002060"/>
      </a:dk2>
      <a:lt2>
        <a:srgbClr val="ffffff"/>
      </a:lt2>
      <a:accent1>
        <a:srgbClr val="002060"/>
      </a:accent1>
      <a:accent2>
        <a:srgbClr val="00b0f0"/>
      </a:accent2>
      <a:accent3>
        <a:srgbClr val="ffffff"/>
      </a:accent3>
      <a:accent4>
        <a:srgbClr val="ffffff"/>
      </a:accent4>
      <a:accent5>
        <a:srgbClr val="002060"/>
      </a:accent5>
      <a:accent6>
        <a:srgbClr val="00b0f0"/>
      </a:accent6>
      <a:hlink>
        <a:srgbClr val="00b0f0"/>
      </a:hlink>
      <a:folHlink>
        <a:srgbClr val="00206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150</TotalTime>
  <Application>LibreOffice/25.8.3.2$Windows_X86_64 LibreOffice_project/8ca8d55c161d602844f5428fa4b58097424e324e</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2026-01-05T14:34:30Z</dcterms:created>
  <dc:creator/>
  <dc:description/>
  <dc:language>en-US</dc:language>
  <cp:lastModifiedBy/>
  <dcterms:modified xsi:type="dcterms:W3CDTF">2026-01-06T12:30:50Z</dcterms:modified>
  <cp:revision>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r8>1</vt:r8>
  </property>
</Properties>
</file>