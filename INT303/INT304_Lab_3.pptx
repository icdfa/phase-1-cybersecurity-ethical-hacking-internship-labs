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9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00" name="PlaceHolder 4"/>
          <p:cNvSpPr>
            <a:spLocks noGrp="1"/>
          </p:cNvSpPr>
          <p:nvPr>
            <p:ph type="dt" idx="4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01" name="PlaceHolder 5"/>
          <p:cNvSpPr>
            <a:spLocks noGrp="1"/>
          </p:cNvSpPr>
          <p:nvPr>
            <p:ph type="ftr" idx="4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2" name="PlaceHolder 6"/>
          <p:cNvSpPr>
            <a:spLocks noGrp="1"/>
          </p:cNvSpPr>
          <p:nvPr>
            <p:ph type="sldNum" idx="4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C2495AF-FB8B-4E6A-807B-021D0BF2B3F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280" cy="377100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2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Liberation Mono;Courier New;DejaVu Sans Mono;Lucida Sans Typewriter"/>
              </a:rPr>
              <a:t>tcpdump -i &lt;interface&gt; tcp and host &lt;OWASP_IP&gt;tcpdump -i eth0 tcp and host 192.168.56.101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0"/>
          <p:cNvSpPr/>
          <p:nvPr/>
        </p:nvSpPr>
        <p:spPr>
          <a:xfrm>
            <a:off x="371520" y="6284880"/>
            <a:ext cx="16840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14"/>
          <p:cNvPicPr/>
          <p:nvPr/>
        </p:nvPicPr>
        <p:blipFill>
          <a:blip r:embed="rId3"/>
          <a:stretch/>
        </p:blipFill>
        <p:spPr>
          <a:xfrm>
            <a:off x="11241000" y="70920"/>
            <a:ext cx="791280" cy="79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80880" y="800280"/>
            <a:ext cx="8090640" cy="88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80880" y="190728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5702400" y="190728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7431120" y="6240600"/>
            <a:ext cx="192168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January 6,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3891240" y="6237360"/>
            <a:ext cx="323460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9659520" y="6249240"/>
            <a:ext cx="1412640" cy="34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78FFB8D-A8A5-4A4D-A434-C9C9946B86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0"/>
          <p:cNvSpPr/>
          <p:nvPr/>
        </p:nvSpPr>
        <p:spPr>
          <a:xfrm>
            <a:off x="371520" y="6284880"/>
            <a:ext cx="16840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Picture 14"/>
          <p:cNvPicPr/>
          <p:nvPr/>
        </p:nvPicPr>
        <p:blipFill>
          <a:blip r:embed="rId3"/>
          <a:stretch/>
        </p:blipFill>
        <p:spPr>
          <a:xfrm>
            <a:off x="11241000" y="70920"/>
            <a:ext cx="791280" cy="79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71520" y="824040"/>
            <a:ext cx="8100360" cy="8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71520" y="189576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371520" y="2877480"/>
            <a:ext cx="5157000" cy="304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5689440" y="189324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5689440" y="2833920"/>
            <a:ext cx="5182560" cy="308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dt" idx="4"/>
          </p:nvPr>
        </p:nvSpPr>
        <p:spPr>
          <a:xfrm>
            <a:off x="7431120" y="6240600"/>
            <a:ext cx="192168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January 6,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7"/>
          <p:cNvSpPr>
            <a:spLocks noGrp="1"/>
          </p:cNvSpPr>
          <p:nvPr>
            <p:ph type="ftr" idx="5"/>
          </p:nvPr>
        </p:nvSpPr>
        <p:spPr>
          <a:xfrm>
            <a:off x="3891240" y="6237360"/>
            <a:ext cx="323460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" name="PlaceHolder 8"/>
          <p:cNvSpPr>
            <a:spLocks noGrp="1"/>
          </p:cNvSpPr>
          <p:nvPr>
            <p:ph type="sldNum" idx="6"/>
          </p:nvPr>
        </p:nvSpPr>
        <p:spPr>
          <a:xfrm>
            <a:off x="9659520" y="6249240"/>
            <a:ext cx="1412640" cy="34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F82E4A-D04A-47C0-9040-4B78078385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30"/>
          <p:cNvSpPr/>
          <p:nvPr/>
        </p:nvSpPr>
        <p:spPr>
          <a:xfrm>
            <a:off x="371520" y="6284880"/>
            <a:ext cx="16840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Picture 14"/>
          <p:cNvPicPr/>
          <p:nvPr/>
        </p:nvPicPr>
        <p:blipFill>
          <a:blip r:embed="rId3"/>
          <a:stretch/>
        </p:blipFill>
        <p:spPr>
          <a:xfrm>
            <a:off x="11241000" y="70920"/>
            <a:ext cx="791280" cy="79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80880" y="817920"/>
            <a:ext cx="7678440" cy="88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7"/>
          </p:nvPr>
        </p:nvSpPr>
        <p:spPr>
          <a:xfrm>
            <a:off x="7431120" y="6240600"/>
            <a:ext cx="192168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January 6,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8"/>
          </p:nvPr>
        </p:nvSpPr>
        <p:spPr>
          <a:xfrm>
            <a:off x="3891240" y="6237360"/>
            <a:ext cx="323460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5" name="PlaceHolder 4"/>
          <p:cNvSpPr>
            <a:spLocks noGrp="1"/>
          </p:cNvSpPr>
          <p:nvPr>
            <p:ph type="sldNum" idx="9"/>
          </p:nvPr>
        </p:nvSpPr>
        <p:spPr>
          <a:xfrm>
            <a:off x="9659520" y="6249240"/>
            <a:ext cx="1412640" cy="34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B65237-28B9-4E05-8DBC-84BC59AA28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30"/>
          <p:cNvSpPr/>
          <p:nvPr/>
        </p:nvSpPr>
        <p:spPr>
          <a:xfrm>
            <a:off x="371520" y="6284880"/>
            <a:ext cx="16840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Picture 14"/>
          <p:cNvPicPr/>
          <p:nvPr/>
        </p:nvPicPr>
        <p:blipFill>
          <a:blip r:embed="rId2"/>
          <a:stretch/>
        </p:blipFill>
        <p:spPr>
          <a:xfrm>
            <a:off x="11241000" y="70920"/>
            <a:ext cx="791280" cy="79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dt" idx="10"/>
          </p:nvPr>
        </p:nvSpPr>
        <p:spPr>
          <a:xfrm>
            <a:off x="7431120" y="6240600"/>
            <a:ext cx="192168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January 6, 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ftr" idx="11"/>
          </p:nvPr>
        </p:nvSpPr>
        <p:spPr>
          <a:xfrm>
            <a:off x="3891240" y="6237360"/>
            <a:ext cx="323460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sldNum" idx="12"/>
          </p:nvPr>
        </p:nvSpPr>
        <p:spPr>
          <a:xfrm>
            <a:off x="9659520" y="6249240"/>
            <a:ext cx="1412640" cy="34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99B880B-35AB-4164-AA3C-1AF3370CFC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‹#›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/>
          <p:nvPr/>
        </p:nvSpPr>
        <p:spPr>
          <a:xfrm>
            <a:off x="371520" y="6284880"/>
            <a:ext cx="16840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Picture 14"/>
          <p:cNvPicPr/>
          <p:nvPr/>
        </p:nvPicPr>
        <p:blipFill>
          <a:blip r:embed="rId3"/>
          <a:stretch/>
        </p:blipFill>
        <p:spPr>
          <a:xfrm>
            <a:off x="11241000" y="70920"/>
            <a:ext cx="791280" cy="79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71520" y="800280"/>
            <a:ext cx="3931560" cy="8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68760" y="81900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71520" y="188136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3"/>
          </p:nvPr>
        </p:nvSpPr>
        <p:spPr>
          <a:xfrm>
            <a:off x="7431120" y="6240600"/>
            <a:ext cx="192168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January 6,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14"/>
          </p:nvPr>
        </p:nvSpPr>
        <p:spPr>
          <a:xfrm>
            <a:off x="3891240" y="6237360"/>
            <a:ext cx="323460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8" name="PlaceHolder 6"/>
          <p:cNvSpPr>
            <a:spLocks noGrp="1"/>
          </p:cNvSpPr>
          <p:nvPr>
            <p:ph type="sldNum" idx="15"/>
          </p:nvPr>
        </p:nvSpPr>
        <p:spPr>
          <a:xfrm>
            <a:off x="9659520" y="6249240"/>
            <a:ext cx="1412640" cy="34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1AB7AD-38F9-498B-A7B2-830C078692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0"/>
          <p:cNvSpPr/>
          <p:nvPr/>
        </p:nvSpPr>
        <p:spPr>
          <a:xfrm>
            <a:off x="371520" y="6284880"/>
            <a:ext cx="16840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Picture 14"/>
          <p:cNvPicPr/>
          <p:nvPr/>
        </p:nvPicPr>
        <p:blipFill>
          <a:blip r:embed="rId3"/>
          <a:stretch/>
        </p:blipFill>
        <p:spPr>
          <a:xfrm>
            <a:off x="11241000" y="70920"/>
            <a:ext cx="791280" cy="79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Rectangle 7"/>
          <p:cNvSpPr/>
          <p:nvPr/>
        </p:nvSpPr>
        <p:spPr>
          <a:xfrm>
            <a:off x="673920" y="1212840"/>
            <a:ext cx="10101600" cy="486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oppins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poppins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dt" idx="16"/>
          </p:nvPr>
        </p:nvSpPr>
        <p:spPr>
          <a:xfrm>
            <a:off x="7431120" y="6240600"/>
            <a:ext cx="192168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January 6,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ftr" idx="17"/>
          </p:nvPr>
        </p:nvSpPr>
        <p:spPr>
          <a:xfrm>
            <a:off x="3891240" y="6237360"/>
            <a:ext cx="323460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5" name="PlaceHolder 4"/>
          <p:cNvSpPr>
            <a:spLocks noGrp="1"/>
          </p:cNvSpPr>
          <p:nvPr>
            <p:ph type="sldNum" idx="18"/>
          </p:nvPr>
        </p:nvSpPr>
        <p:spPr>
          <a:xfrm>
            <a:off x="9659520" y="6249240"/>
            <a:ext cx="1412640" cy="34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6CA7E6-769E-4942-AF75-2CF26520EC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0"/>
          <p:cNvSpPr/>
          <p:nvPr/>
        </p:nvSpPr>
        <p:spPr>
          <a:xfrm>
            <a:off x="371520" y="6284880"/>
            <a:ext cx="16840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Picture 14"/>
          <p:cNvPicPr/>
          <p:nvPr/>
        </p:nvPicPr>
        <p:blipFill>
          <a:blip r:embed="rId3"/>
          <a:stretch/>
        </p:blipFill>
        <p:spPr>
          <a:xfrm>
            <a:off x="11241000" y="70920"/>
            <a:ext cx="791280" cy="79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Rectangle 7"/>
          <p:cNvSpPr/>
          <p:nvPr/>
        </p:nvSpPr>
        <p:spPr>
          <a:xfrm>
            <a:off x="673920" y="1212840"/>
            <a:ext cx="10101600" cy="486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poppins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poppins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19"/>
          </p:nvPr>
        </p:nvSpPr>
        <p:spPr>
          <a:xfrm>
            <a:off x="7431120" y="6240600"/>
            <a:ext cx="192168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0"/>
          </p:nvPr>
        </p:nvSpPr>
        <p:spPr>
          <a:xfrm>
            <a:off x="3891240" y="6237360"/>
            <a:ext cx="323460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3" name="PlaceHolder 4"/>
          <p:cNvSpPr>
            <a:spLocks noGrp="1"/>
          </p:cNvSpPr>
          <p:nvPr>
            <p:ph type="sldNum" idx="21"/>
          </p:nvPr>
        </p:nvSpPr>
        <p:spPr>
          <a:xfrm>
            <a:off x="9659520" y="6249240"/>
            <a:ext cx="1412640" cy="34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838AB03-494D-4D0F-8FF4-E2BF792EC1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30"/>
          <p:cNvSpPr/>
          <p:nvPr/>
        </p:nvSpPr>
        <p:spPr>
          <a:xfrm>
            <a:off x="371520" y="6284880"/>
            <a:ext cx="16840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Picture 14"/>
          <p:cNvPicPr/>
          <p:nvPr/>
        </p:nvPicPr>
        <p:blipFill>
          <a:blip r:embed="rId3"/>
          <a:stretch/>
        </p:blipFill>
        <p:spPr>
          <a:xfrm>
            <a:off x="11241000" y="70920"/>
            <a:ext cx="791280" cy="79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71520" y="800280"/>
            <a:ext cx="6440760" cy="8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667760" y="1882800"/>
            <a:ext cx="5577120" cy="380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icon to add picture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371520" y="188136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22"/>
          </p:nvPr>
        </p:nvSpPr>
        <p:spPr>
          <a:xfrm>
            <a:off x="7456680" y="6240600"/>
            <a:ext cx="192168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23"/>
          </p:nvPr>
        </p:nvSpPr>
        <p:spPr>
          <a:xfrm>
            <a:off x="3891240" y="6237360"/>
            <a:ext cx="323460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2" name="PlaceHolder 6"/>
          <p:cNvSpPr>
            <a:spLocks noGrp="1"/>
          </p:cNvSpPr>
          <p:nvPr>
            <p:ph type="sldNum" idx="24"/>
          </p:nvPr>
        </p:nvSpPr>
        <p:spPr>
          <a:xfrm>
            <a:off x="9634320" y="6249240"/>
            <a:ext cx="1412640" cy="34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6808F2B-2E82-4832-8ADD-93DE49BDA6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30"/>
          <p:cNvSpPr/>
          <p:nvPr/>
        </p:nvSpPr>
        <p:spPr>
          <a:xfrm>
            <a:off x="371520" y="6284880"/>
            <a:ext cx="16840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Picture 14"/>
          <p:cNvPicPr/>
          <p:nvPr/>
        </p:nvPicPr>
        <p:blipFill>
          <a:blip r:embed="rId3"/>
          <a:stretch/>
        </p:blipFill>
        <p:spPr>
          <a:xfrm>
            <a:off x="11241000" y="70920"/>
            <a:ext cx="791280" cy="79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80880" y="817920"/>
            <a:ext cx="8090640" cy="88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380880" y="1889280"/>
            <a:ext cx="8090640" cy="4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dt" idx="25"/>
          </p:nvPr>
        </p:nvSpPr>
        <p:spPr>
          <a:xfrm>
            <a:off x="7431120" y="6240600"/>
            <a:ext cx="192168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ftr" idx="26"/>
          </p:nvPr>
        </p:nvSpPr>
        <p:spPr>
          <a:xfrm>
            <a:off x="3891240" y="6237360"/>
            <a:ext cx="323460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9" name="PlaceHolder 5"/>
          <p:cNvSpPr>
            <a:spLocks noGrp="1"/>
          </p:cNvSpPr>
          <p:nvPr>
            <p:ph type="sldNum" idx="27"/>
          </p:nvPr>
        </p:nvSpPr>
        <p:spPr>
          <a:xfrm>
            <a:off x="9659520" y="6249240"/>
            <a:ext cx="1412640" cy="34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07E417F-F521-465C-B4B4-C0B4E3DFC1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30"/>
          <p:cNvSpPr/>
          <p:nvPr/>
        </p:nvSpPr>
        <p:spPr>
          <a:xfrm>
            <a:off x="371520" y="6284880"/>
            <a:ext cx="16840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14"/>
          <p:cNvPicPr/>
          <p:nvPr/>
        </p:nvPicPr>
        <p:blipFill>
          <a:blip r:embed="rId3"/>
          <a:stretch/>
        </p:blipFill>
        <p:spPr>
          <a:xfrm>
            <a:off x="11241000" y="70920"/>
            <a:ext cx="791280" cy="79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728560" y="800280"/>
            <a:ext cx="2343960" cy="54482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1145520" y="800280"/>
            <a:ext cx="7355880" cy="54223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dt" idx="28"/>
          </p:nvPr>
        </p:nvSpPr>
        <p:spPr>
          <a:xfrm>
            <a:off x="7431120" y="6240600"/>
            <a:ext cx="192168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ftr" idx="29"/>
          </p:nvPr>
        </p:nvSpPr>
        <p:spPr>
          <a:xfrm>
            <a:off x="3891240" y="6237360"/>
            <a:ext cx="323460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6" name="PlaceHolder 5"/>
          <p:cNvSpPr>
            <a:spLocks noGrp="1"/>
          </p:cNvSpPr>
          <p:nvPr>
            <p:ph type="sldNum" idx="30"/>
          </p:nvPr>
        </p:nvSpPr>
        <p:spPr>
          <a:xfrm>
            <a:off x="9659520" y="6249240"/>
            <a:ext cx="1412640" cy="34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7BD77B5-CA22-46DD-BF1B-2480CBEC4B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30"/>
          <p:cNvSpPr/>
          <p:nvPr/>
        </p:nvSpPr>
        <p:spPr>
          <a:xfrm>
            <a:off x="371520" y="6284880"/>
            <a:ext cx="16840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Picture 14"/>
          <p:cNvPicPr/>
          <p:nvPr/>
        </p:nvPicPr>
        <p:blipFill>
          <a:blip r:embed="rId3"/>
          <a:stretch/>
        </p:blipFill>
        <p:spPr>
          <a:xfrm>
            <a:off x="11241000" y="70920"/>
            <a:ext cx="791280" cy="79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148760" y="170028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dt" idx="31"/>
          </p:nvPr>
        </p:nvSpPr>
        <p:spPr>
          <a:xfrm>
            <a:off x="7431120" y="6240600"/>
            <a:ext cx="192168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ftr" idx="32"/>
          </p:nvPr>
        </p:nvSpPr>
        <p:spPr>
          <a:xfrm>
            <a:off x="3891240" y="6237360"/>
            <a:ext cx="323460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sldNum" idx="33"/>
          </p:nvPr>
        </p:nvSpPr>
        <p:spPr>
          <a:xfrm>
            <a:off x="9659520" y="6249240"/>
            <a:ext cx="1412640" cy="34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CAE5C80-902C-43DA-ABFC-938A595D6B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30"/>
          <p:cNvSpPr/>
          <p:nvPr/>
        </p:nvSpPr>
        <p:spPr>
          <a:xfrm>
            <a:off x="371520" y="6284880"/>
            <a:ext cx="16840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Picture 14"/>
          <p:cNvPicPr/>
          <p:nvPr/>
        </p:nvPicPr>
        <p:blipFill>
          <a:blip r:embed="rId3"/>
          <a:stretch/>
        </p:blipFill>
        <p:spPr>
          <a:xfrm>
            <a:off x="11241000" y="70920"/>
            <a:ext cx="791280" cy="79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80880" y="817920"/>
            <a:ext cx="8090640" cy="88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380880" y="1889280"/>
            <a:ext cx="809064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34"/>
          </p:nvPr>
        </p:nvSpPr>
        <p:spPr>
          <a:xfrm>
            <a:off x="7431120" y="6240600"/>
            <a:ext cx="192168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ftr" idx="35"/>
          </p:nvPr>
        </p:nvSpPr>
        <p:spPr>
          <a:xfrm>
            <a:off x="3891240" y="6237360"/>
            <a:ext cx="323460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9" name="PlaceHolder 5"/>
          <p:cNvSpPr>
            <a:spLocks noGrp="1"/>
          </p:cNvSpPr>
          <p:nvPr>
            <p:ph type="sldNum" idx="36"/>
          </p:nvPr>
        </p:nvSpPr>
        <p:spPr>
          <a:xfrm>
            <a:off x="9659520" y="6249240"/>
            <a:ext cx="1412640" cy="34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20CC147-4A6A-458C-AA69-6BB1589F0A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30"/>
          <p:cNvSpPr/>
          <p:nvPr/>
        </p:nvSpPr>
        <p:spPr>
          <a:xfrm>
            <a:off x="371520" y="6284880"/>
            <a:ext cx="16840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" name="Picture 14"/>
          <p:cNvPicPr/>
          <p:nvPr/>
        </p:nvPicPr>
        <p:blipFill>
          <a:blip r:embed="rId2"/>
          <a:stretch/>
        </p:blipFill>
        <p:spPr>
          <a:xfrm>
            <a:off x="11241000" y="70920"/>
            <a:ext cx="791280" cy="79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71520" y="80028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poppins"/>
              </a:rPr>
              <a:t>Click to edit Master title style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371520" y="38480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Click to edit Master text styles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dt" idx="37"/>
          </p:nvPr>
        </p:nvSpPr>
        <p:spPr>
          <a:xfrm>
            <a:off x="7431120" y="6240600"/>
            <a:ext cx="192168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ftr" idx="38"/>
          </p:nvPr>
        </p:nvSpPr>
        <p:spPr>
          <a:xfrm>
            <a:off x="3891240" y="6237360"/>
            <a:ext cx="3234600" cy="35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6" name="PlaceHolder 5"/>
          <p:cNvSpPr>
            <a:spLocks noGrp="1"/>
          </p:cNvSpPr>
          <p:nvPr>
            <p:ph type="sldNum" idx="39"/>
          </p:nvPr>
        </p:nvSpPr>
        <p:spPr>
          <a:xfrm>
            <a:off x="9659520" y="6249240"/>
            <a:ext cx="1412640" cy="34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E18871-AC14-412E-A2FC-E2742E0233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‹#›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INT303: Networking Fundamentals – Lab 3</a:t>
            </a:r>
            <a:br>
              <a:rPr sz="3200"/>
            </a:b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153080" y="4295880"/>
            <a:ext cx="9143280" cy="130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Lab 3: TCP/IP Protocol Stack and Packet Inspection Using OWASP Broken Web Application IP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C8B70472-DF7C-4787-BDBA-3AC367201627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371960" y="540000"/>
            <a:ext cx="9143280" cy="243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914400" y="1371600"/>
            <a:ext cx="9600840" cy="45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indent="0" algn="just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Objective: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In this lab, students will delve into the Transmission Control Protocol/Internet Protocol (TCP/IP) stack, dissecting and inspecting the various layers involved in packet transmission. Students will focus on understanding how data travels across a network, analyzing packets, and troubleshooting issues related to the TCP/IP model.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Learning Outcomes: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the end of this lab, students will: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Understand the fundamentals of the TCP/IP model.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Be able to analyze packets at different layers (Application, Transport, Network, and Link).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Gain hands-on experience in dissecting TCP/IP traffic using packet inspection tools.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Symbol" charset="2"/>
              <a:buChar char=""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Learn how to apply practical troubleshooting techniques based on TCP/IP behavior.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AEEDAA9-415B-4289-81AC-905B8041E855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371960" y="228240"/>
            <a:ext cx="9143280" cy="243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143000" y="160020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Materials Needed: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Linux-based system (Kali, Ubuntu, etc.)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OWASP Broken Web Application VM (running and reachable on your network)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IP address of the OWASP Broken Web Application (e.g., 192.168.X.X)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Wireshark or tshark for packet capture and analysis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C31C58FC-1A89-44BD-9819-0049E6735457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371600" y="997200"/>
            <a:ext cx="9143280" cy="243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1371960" y="1737720"/>
            <a:ext cx="96004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Lab Exercises: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Exercise 1: Understanding the TCP/IP 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1. Task: Briefly review the layers of the TCP/IP model (Application, Transport, Network, and Link layers). Understand the purpose and function of each layer in data transmission.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2. Question: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OpenSymbol"/>
              <a:buChar char="◦"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Explain the differences between the TCP/IP and OSI models.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OpenSymbol"/>
              <a:buChar char="◦"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Which layers of the TCP/IP model correspond to specific OSI layers?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B4C96DE-ED1E-4651-B3F0-55AB62F65997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371600" y="1225800"/>
            <a:ext cx="9143280" cy="243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914400" y="1371600"/>
            <a:ext cx="9600480" cy="45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Exercise 2: Capturing and Analyzing TCP Packets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3. Task: Initiate a connection to the OWASP Broken Web Application VM via HTTP or SSH. Capture TCP packets related to this connection using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tcpdump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Command: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tcpdump -i &lt;interface&gt; tcp and host &lt;OWASP_IP&gt;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tcpdump -i eth0 tcp and host 192.168.56.101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Question: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What happens during the TCP handshake (SYN, SYN-ACK, ACK)?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Identify and describe the flags used in TCP communication (SYN, ACK, FIN, etc.).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How does the TCP connection maintain reliability during transmission?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9286BF3-D288-46AD-8018-83F04FF334C6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153080" y="1699920"/>
            <a:ext cx="9143280" cy="243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914400" y="365760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pic>
        <p:nvPicPr>
          <p:cNvPr id="115" name="Picture 114"/>
          <p:cNvPicPr/>
          <p:nvPr/>
        </p:nvPicPr>
        <p:blipFill>
          <a:blip r:embed="rId2"/>
          <a:stretch/>
        </p:blipFill>
        <p:spPr>
          <a:xfrm>
            <a:off x="457200" y="1600200"/>
            <a:ext cx="11430000" cy="37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5BC9C30-EDCA-49EA-919F-44DCC84A2BC1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85800" y="1509480"/>
            <a:ext cx="10972080" cy="420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Exercise 3: Investigating IP Packets (Network Layer)</a:t>
            </a: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3. Task: Capture and analyze the IP packets from your connection to the OWASP Broken Web Application.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Command: Use Wireshark or</a:t>
            </a:r>
          </a:p>
          <a:p>
            <a:pPr marL="864000" lvl="1" indent="0">
              <a:spcBef>
                <a:spcPts val="1134"/>
              </a:spcBef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tcpdump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0">
              <a:spcBef>
                <a:spcPts val="1134"/>
              </a:spcBef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ip.addr == &lt;OWASP_IP&gt;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4. Question: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  <a:ea typeface="Liberation Mono;Courier New;DejaVu Sans Mono;Lucida Sans Typewriter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What fields can you see in the IP packet header (e.g., Source IP, Destination IP, TTL, etc.)?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What is the significance of each of these fields?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How does IP routing work in this scenario? Are there any hops between your system and the OWASP VM?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F8D4E6D-61BE-4BF8-BCBB-03FDBAEDCC6A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915120" y="91440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288108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417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pic>
        <p:nvPicPr>
          <p:cNvPr id="120" name="Picture 119"/>
          <p:cNvPicPr/>
          <p:nvPr/>
        </p:nvPicPr>
        <p:blipFill>
          <a:blip r:embed="rId2"/>
          <a:stretch/>
        </p:blipFill>
        <p:spPr>
          <a:xfrm>
            <a:off x="228600" y="1143000"/>
            <a:ext cx="11826360" cy="48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EEA18EF-AD9F-4342-9622-8CAA7229C290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143000" y="99792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914400" y="2057400"/>
            <a:ext cx="10972080" cy="44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Exercise 4: Application Layer Analysis (HTTP/SSH Traffic)</a:t>
            </a: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7. Task: If you're using HTTP, filter the packets to capture only HTTP traffic using Wireshark or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Tcpdump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  <a:ea typeface="Liberation Mono;Courier New;DejaVu Sans Mono;Lucida Sans Typewriter"/>
            </a:endParaRPr>
          </a:p>
          <a:p>
            <a:pPr marL="864000" lvl="1" indent="0">
              <a:spcBef>
                <a:spcPts val="1134"/>
              </a:spcBef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tcpdump -i &lt;interface&gt; port 80 and host &lt;OWASP_IP&gt;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0">
              <a:spcBef>
                <a:spcPts val="1134"/>
              </a:spcBef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tcpdump -i &lt;interface&gt; port 22 and host &lt;OWASP_IP&gt;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8. Question: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  <a:ea typeface="Liberation Mono;Courier New;DejaVu Sans Mono;Lucida Sans Typewriter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Analyze the HTTP packets. What information is available in the HTTP request and response?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For SSH traffic, what is the significance of encrypted packets? Can you analyze the payload?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How does the application layer play a role in data exchange between your system and the OWASP VM?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B9DA953-2C6C-40F2-A570-82C9E8D5CAC8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86520" y="320040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417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pic>
        <p:nvPicPr>
          <p:cNvPr id="125" name="Picture 124"/>
          <p:cNvPicPr/>
          <p:nvPr/>
        </p:nvPicPr>
        <p:blipFill>
          <a:blip r:embed="rId2"/>
          <a:stretch/>
        </p:blipFill>
        <p:spPr>
          <a:xfrm>
            <a:off x="-6480" y="1124280"/>
            <a:ext cx="12191760" cy="460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85800" y="1371600"/>
            <a:ext cx="10515600" cy="480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Exercise 5: Error Handling in TCP/IP Transmission</a:t>
            </a: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9. Task: Simulate packet loss or network issues by introducing a delay or stopping the network connection momentarily. Capture how TCP/IP handles this issue.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Command: Temporarily disable your network interface using</a:t>
            </a:r>
          </a:p>
          <a:p>
            <a:pPr marL="432000" indent="0">
              <a:spcBef>
                <a:spcPts val="1417"/>
              </a:spcBef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ifconfig &lt;interface&gt; down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  <a:ea typeface="Liberation Mono;Courier New;DejaVu Sans Mono;Lucida Sans Typewriter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10. Question: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  <a:ea typeface="Liberation Mono;Courier New;DejaVu Sans Mono;Lucida Sans Typewriter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What happens when packets are dropped or delayed?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How does TCP ensure data reliability in the presence of errors?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How do retransmissions and sequence numbers work in TCP to maintain a proper data flow?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ED0CDF9-F2D9-44C6-BB3A-8228684AF2BB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920" y="402408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417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pic>
        <p:nvPicPr>
          <p:cNvPr id="130" name="Picture 129"/>
          <p:cNvPicPr/>
          <p:nvPr/>
        </p:nvPicPr>
        <p:blipFill>
          <a:blip r:embed="rId2"/>
          <a:stretch/>
        </p:blipFill>
        <p:spPr>
          <a:xfrm>
            <a:off x="369360" y="1143000"/>
            <a:ext cx="9356040" cy="41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26DF175-EA8A-41D2-8D66-84B94C3FFA28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914400" y="1600200"/>
            <a:ext cx="10972080" cy="43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Exercise 6: ICMP and Ping Inspection (Network Layer)</a:t>
            </a: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11. Task: Send a series of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ping- Command: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  <a:ea typeface="Liberation Mono;Courier New;DejaVu Sans Mono;Lucida Sans Typewriter"/>
            </a:endParaRPr>
          </a:p>
          <a:p>
            <a:pPr marL="864000" lvl="1" indent="0">
              <a:spcBef>
                <a:spcPts val="1134"/>
              </a:spcBef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ping &lt;OWASP_IP&gt;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0">
              <a:spcBef>
                <a:spcPts val="1134"/>
              </a:spcBef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tcpdump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0">
              <a:spcBef>
                <a:spcPts val="1134"/>
              </a:spcBef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icmp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12. Question: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  <a:ea typeface="Liberation Mono;Courier New;DejaVu Sans Mono;Lucida Sans Typewriter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What are the key fields in an ICMP packet (e.g., Type, Code, Checksum)?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How does ICMP assist in diagnosing network connectivity issues?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What is the significance of TTL in both ICMP packets and general IP packets?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311D618-C9C1-40F7-A7A8-BB14D177648B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920" y="297180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417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pic>
        <p:nvPicPr>
          <p:cNvPr id="135" name="Picture 134"/>
          <p:cNvPicPr/>
          <p:nvPr/>
        </p:nvPicPr>
        <p:blipFill>
          <a:blip r:embed="rId2"/>
          <a:stretch/>
        </p:blipFill>
        <p:spPr>
          <a:xfrm>
            <a:off x="400320" y="685800"/>
            <a:ext cx="11029680" cy="503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1779364-47E1-4B41-8D91-75EEBC16409B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828800" y="168372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914400" y="1371600"/>
            <a:ext cx="9829800" cy="43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Exercise 7: Analyzing UDP Packets (Transport Layer)</a:t>
            </a: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13. Task: If available, generate some UDP traffic to the OWASP VM by using a simple application or UDP-based service. Capture and analyze the UDP packets.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Command:</a:t>
            </a:r>
          </a:p>
          <a:p>
            <a:pPr marL="864000" lvl="1" indent="0">
              <a:spcBef>
                <a:spcPts val="1134"/>
              </a:spcBef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tcpdump -i &lt;interface&gt; udp and host &lt;OWASP_IP&gt;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14. Question: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  <a:ea typeface="Liberation Mono;Courier New;DejaVu Sans Mono;Lucida Sans Typewriter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Compare UDP with TCP. What are the major differences in packet structure and behavior?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Why does UDP not ensure reliability, and in what scenarios would you prefer UDP over TCP?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How does UDP manage data transmission without the need for acknowledgments or retransmissions?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DAB9783-6DA0-4356-B21F-7461F8BF389E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920" y="365760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417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pic>
        <p:nvPicPr>
          <p:cNvPr id="140" name="Picture 139"/>
          <p:cNvPicPr/>
          <p:nvPr/>
        </p:nvPicPr>
        <p:blipFill>
          <a:blip r:embed="rId2"/>
          <a:stretch/>
        </p:blipFill>
        <p:spPr>
          <a:xfrm>
            <a:off x="1020600" y="144000"/>
            <a:ext cx="9723600" cy="602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9D05944-A100-45F0-84F4-8D6A9369042A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86520" y="1371600"/>
            <a:ext cx="10972080" cy="45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Exercise 8: OS Detection via Nmap (Network and Transport Layers)</a:t>
            </a: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15. Task: Use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nmap- Command: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  <a:ea typeface="Liberation Mono;Courier New;DejaVu Sans Mono;Lucida Sans Typewriter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nmap -O &lt;OWASP_IP&gt;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  <a:ea typeface="Liberation Mono;Courier New;DejaVu Sans Mono;Lucida Sans Typewriter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16. Question: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  <a:ea typeface="Liberation Mono;Courier New;DejaVu Sans Mono;Lucida Sans Typewriter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How does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  <a:ea typeface="Liberation Mono;Courier New;DejaVu Sans Mono;Lucida Sans Typewriter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Nmap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- What packet characteristics (TTL, window size, etc.) help in identifying the OS?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- Explain why OS detection can be an important step in network analysis and vulnerability assessment.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D39EDAF-4F7D-49DF-8726-8D1AC989F82E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09480" y="365760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417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pic>
        <p:nvPicPr>
          <p:cNvPr id="145" name="Picture 144"/>
          <p:cNvPicPr/>
          <p:nvPr/>
        </p:nvPicPr>
        <p:blipFill>
          <a:blip r:embed="rId2"/>
          <a:stretch/>
        </p:blipFill>
        <p:spPr>
          <a:xfrm>
            <a:off x="118440" y="1076400"/>
            <a:ext cx="11768760" cy="496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6F64488-ED0E-428C-B439-D465102211BC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914400" y="114300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686520" y="1509480"/>
            <a:ext cx="10972080" cy="48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Exercise 9: Analyzing ARP Traffic (Link Layer)</a:t>
            </a: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17. Task: Use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arp-scan- Command: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  <a:ea typeface="Liberation Mono;Courier New;DejaVu Sans Mono;Lucida Sans Typewriter"/>
            </a:endParaRPr>
          </a:p>
          <a:p>
            <a:pPr marL="864000" lvl="1" indent="0">
              <a:spcBef>
                <a:spcPts val="1134"/>
              </a:spcBef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arp-scan -I &lt;interface&gt; &lt;OWASP_IP&gt;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18. Question: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  <a:ea typeface="Liberation Mono;Courier New;DejaVu Sans Mono;Lucida Sans Typewriter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What information can you gather from ARP packets (e.g., MAC addresses)?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How does the ARP protocol function at the link layer?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What role does ARP play in the communication between your system and the OWASP VM?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Picture 147"/>
          <p:cNvPicPr/>
          <p:nvPr/>
        </p:nvPicPr>
        <p:blipFill>
          <a:blip r:embed="rId2"/>
          <a:stretch/>
        </p:blipFill>
        <p:spPr>
          <a:xfrm>
            <a:off x="457200" y="4593600"/>
            <a:ext cx="10058400" cy="217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41A8C50-FD34-430E-9651-5B95653C1097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9829800" cy="480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Exercise 10: Troubleshooting Network Connectivity Using TCP/IP Knowledge</a:t>
            </a: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19. Task: Simulate a common network issue (e.g., incorrect subnet mask, gateway misconfiguration) and troubleshoot the issue using your understanding of the TCP/IP stack.</a:t>
            </a: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20. Question: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What is the issue you simulated, and how did it affect network communication?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How did you diagnose and resolve the issue using packet inspection and knowledge of the TCP/IP layers?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What tools and techniques would you recommend for real-world network troubleshooting?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36C16E5-FEA9-4202-9754-68D618A3FA9F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280" cy="243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914400" y="1600200"/>
            <a:ext cx="9601200" cy="45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Submission Requirements: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Submit a report that includes packet captures, command outputs, and explanations for each exercise.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Include screenshots and highlight key details in the packet captures.</a:t>
            </a: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Provide in-depth analysis of TCP/IP behavior observed during the lab.</a:t>
            </a: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Reflection: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Through this lab, students will gain practical experience in dissecting and troubleshooting network traffic using the TCP/IP stack. Understanding how data flows across the network at various layers will help in mastering network fundamentals and preparing for real-world challenges in network administration and cybersecurity.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CF19F2D3-D0B2-49F0-A513-5F4700616A4D}" type="datetime3">
              <a:rPr lang="en-US"/>
              <a:t>12 January 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ICDFA Color">
      <a:dk1>
        <a:srgbClr val="002060"/>
      </a:dk1>
      <a:lt1>
        <a:srgbClr val="FFFFFF"/>
      </a:lt1>
      <a:dk2>
        <a:srgbClr val="002060"/>
      </a:dk2>
      <a:lt2>
        <a:srgbClr val="FFFFFF"/>
      </a:lt2>
      <a:accent1>
        <a:srgbClr val="002060"/>
      </a:accent1>
      <a:accent2>
        <a:srgbClr val="00B0F0"/>
      </a:accent2>
      <a:accent3>
        <a:srgbClr val="FFFFFF"/>
      </a:accent3>
      <a:accent4>
        <a:srgbClr val="FFFFFF"/>
      </a:accent4>
      <a:accent5>
        <a:srgbClr val="002060"/>
      </a:accent5>
      <a:accent6>
        <a:srgbClr val="00B0F0"/>
      </a:accent6>
      <a:hlink>
        <a:srgbClr val="00B0F0"/>
      </a:hlink>
      <a:folHlink>
        <a:srgbClr val="002060"/>
      </a:folHlink>
    </a:clrScheme>
    <a:fontScheme name="ICDFA Font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1304</Words>
  <Application>Microsoft Office PowerPoint</Application>
  <PresentationFormat>Widescreen</PresentationFormat>
  <Paragraphs>153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OpenSymbol</vt:lpstr>
      <vt:lpstr>Arial</vt:lpstr>
      <vt:lpstr>poppins</vt:lpstr>
      <vt:lpstr>Symbol</vt:lpstr>
      <vt:lpstr>Times New Roman</vt:lpstr>
      <vt:lpstr>Wingdings</vt:lpstr>
      <vt:lpstr>Office Theme</vt:lpstr>
      <vt:lpstr>INT303: Networking Fundamentals – Lab 3 </vt:lpstr>
      <vt:lpstr> </vt:lpstr>
      <vt:lpstr> </vt:lpstr>
      <vt:lpstr> 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Aminu Idris</cp:lastModifiedBy>
  <cp:revision>9</cp:revision>
  <dcterms:created xsi:type="dcterms:W3CDTF">2026-01-05T16:31:50Z</dcterms:created>
  <dcterms:modified xsi:type="dcterms:W3CDTF">2026-01-12T08:19:53Z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