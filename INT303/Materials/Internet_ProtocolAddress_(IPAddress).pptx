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83452"/>
            <a:ext cx="10058399" cy="4328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>
                <a:moveTo>
                  <a:pt x="0" y="0"/>
                </a:moveTo>
                <a:lnTo>
                  <a:pt x="8223123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283452"/>
            <a:ext cx="10058399" cy="4328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>
                <a:moveTo>
                  <a:pt x="0" y="0"/>
                </a:moveTo>
                <a:lnTo>
                  <a:pt x="8223123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8011" y="2456688"/>
            <a:ext cx="8385175" cy="3300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83452"/>
            <a:ext cx="10058400" cy="432434"/>
            <a:chOff x="0" y="6283452"/>
            <a:chExt cx="10058400" cy="432434"/>
          </a:xfrm>
        </p:grpSpPr>
        <p:sp>
          <p:nvSpPr>
            <p:cNvPr id="3" name="object 3"/>
            <p:cNvSpPr/>
            <p:nvPr/>
          </p:nvSpPr>
          <p:spPr>
            <a:xfrm>
              <a:off x="3047" y="6338316"/>
              <a:ext cx="10055225" cy="377825"/>
            </a:xfrm>
            <a:custGeom>
              <a:avLst/>
              <a:gdLst/>
              <a:ahLst/>
              <a:cxnLst/>
              <a:rect l="l" t="t" r="r" b="b"/>
              <a:pathLst>
                <a:path w="10055225" h="377825">
                  <a:moveTo>
                    <a:pt x="10054844" y="0"/>
                  </a:moveTo>
                  <a:lnTo>
                    <a:pt x="0" y="0"/>
                  </a:lnTo>
                  <a:lnTo>
                    <a:pt x="0" y="377444"/>
                  </a:lnTo>
                  <a:lnTo>
                    <a:pt x="10054844" y="377444"/>
                  </a:lnTo>
                  <a:lnTo>
                    <a:pt x="10054844" y="0"/>
                  </a:lnTo>
                  <a:close/>
                </a:path>
              </a:pathLst>
            </a:custGeom>
            <a:solidFill>
              <a:srgbClr val="BB5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83452"/>
              <a:ext cx="10057130" cy="53340"/>
            </a:xfrm>
            <a:custGeom>
              <a:avLst/>
              <a:gdLst/>
              <a:ahLst/>
              <a:cxnLst/>
              <a:rect l="l" t="t" r="r" b="b"/>
              <a:pathLst>
                <a:path w="10057130" h="53339">
                  <a:moveTo>
                    <a:pt x="10056622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10056622" y="53340"/>
                  </a:lnTo>
                  <a:lnTo>
                    <a:pt x="10056622" y="0"/>
                  </a:lnTo>
                  <a:close/>
                </a:path>
              </a:pathLst>
            </a:custGeom>
            <a:solidFill>
              <a:srgbClr val="E383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8534400" cy="1977463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 indent="22860" algn="ctr">
              <a:lnSpc>
                <a:spcPts val="7300"/>
              </a:lnSpc>
              <a:spcBef>
                <a:spcPts val="819"/>
              </a:spcBef>
            </a:pPr>
            <a:r>
              <a:rPr lang="en-US" sz="6600" spc="-160" dirty="0">
                <a:solidFill>
                  <a:srgbClr val="202020"/>
                </a:solidFill>
              </a:rPr>
              <a:t>INT303</a:t>
            </a:r>
            <a:r>
              <a:rPr sz="6600" spc="-300" dirty="0">
                <a:solidFill>
                  <a:srgbClr val="202020"/>
                </a:solidFill>
              </a:rPr>
              <a:t> </a:t>
            </a:r>
            <a:r>
              <a:rPr lang="en-US" sz="6600" spc="-40" dirty="0">
                <a:solidFill>
                  <a:srgbClr val="202020"/>
                </a:solidFill>
              </a:rPr>
              <a:t>Networking Fundamentals</a:t>
            </a:r>
            <a:endParaRPr sz="6600" dirty="0"/>
          </a:p>
        </p:txBody>
      </p:sp>
      <p:sp>
        <p:nvSpPr>
          <p:cNvPr id="6" name="object 6"/>
          <p:cNvSpPr txBox="1"/>
          <p:nvPr/>
        </p:nvSpPr>
        <p:spPr>
          <a:xfrm>
            <a:off x="2091689" y="3824173"/>
            <a:ext cx="6051550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300" spc="65" dirty="0">
                <a:solidFill>
                  <a:srgbClr val="616F52"/>
                </a:solidFill>
                <a:latin typeface="Trebuchet MS"/>
                <a:cs typeface="Trebuchet MS"/>
              </a:rPr>
              <a:t>NETWORKING</a:t>
            </a:r>
            <a:endParaRPr sz="2300" dirty="0">
              <a:latin typeface="Trebuchet MS"/>
              <a:cs typeface="Trebuchet MS"/>
            </a:endParaRPr>
          </a:p>
          <a:p>
            <a:pPr marR="33655" algn="ctr">
              <a:lnSpc>
                <a:spcPct val="100000"/>
              </a:lnSpc>
              <a:spcBef>
                <a:spcPts val="85"/>
              </a:spcBef>
            </a:pPr>
            <a:r>
              <a:rPr sz="2300" dirty="0">
                <a:solidFill>
                  <a:srgbClr val="616F52"/>
                </a:solidFill>
                <a:latin typeface="Trebuchet MS"/>
                <a:cs typeface="Trebuchet MS"/>
              </a:rPr>
              <a:t>AND</a:t>
            </a:r>
            <a:r>
              <a:rPr sz="2300" spc="215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616F52"/>
                </a:solidFill>
                <a:latin typeface="Trebuchet MS"/>
                <a:cs typeface="Trebuchet MS"/>
              </a:rPr>
              <a:t>IP</a:t>
            </a:r>
            <a:r>
              <a:rPr sz="2300" spc="25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2300" spc="65" dirty="0">
                <a:solidFill>
                  <a:srgbClr val="616F52"/>
                </a:solidFill>
                <a:latin typeface="Trebuchet MS"/>
                <a:cs typeface="Trebuchet MS"/>
              </a:rPr>
              <a:t>ADDRESSING</a:t>
            </a:r>
            <a:endParaRPr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300" dirty="0">
              <a:latin typeface="Trebuchet MS"/>
              <a:cs typeface="Trebuchet MS"/>
            </a:endParaRPr>
          </a:p>
          <a:p>
            <a:pPr marL="5715" algn="ctr">
              <a:lnSpc>
                <a:spcPct val="100000"/>
              </a:lnSpc>
            </a:pPr>
            <a:r>
              <a:rPr sz="1650" dirty="0">
                <a:solidFill>
                  <a:srgbClr val="616F52"/>
                </a:solidFill>
                <a:latin typeface="Trebuchet MS"/>
                <a:cs typeface="Trebuchet MS"/>
              </a:rPr>
              <a:t>PREPARED</a:t>
            </a:r>
            <a:r>
              <a:rPr sz="1650" spc="420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616F52"/>
                </a:solidFill>
                <a:latin typeface="Trebuchet MS"/>
                <a:cs typeface="Trebuchet MS"/>
              </a:rPr>
              <a:t>BY:</a:t>
            </a:r>
            <a:endParaRPr sz="16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6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50" dirty="0">
                <a:solidFill>
                  <a:srgbClr val="616F52"/>
                </a:solidFill>
                <a:latin typeface="Trebuchet MS"/>
                <a:cs typeface="Trebuchet MS"/>
              </a:rPr>
              <a:t>AMINU</a:t>
            </a:r>
            <a:r>
              <a:rPr sz="1650" spc="15" dirty="0">
                <a:solidFill>
                  <a:srgbClr val="616F52"/>
                </a:solidFill>
                <a:latin typeface="Trebuchet MS"/>
                <a:cs typeface="Trebuchet MS"/>
              </a:rPr>
              <a:t>  </a:t>
            </a:r>
            <a:r>
              <a:rPr sz="1650" spc="30" dirty="0">
                <a:solidFill>
                  <a:srgbClr val="616F52"/>
                </a:solidFill>
                <a:latin typeface="Trebuchet MS"/>
                <a:cs typeface="Trebuchet MS"/>
              </a:rPr>
              <a:t>IDRIS</a:t>
            </a:r>
            <a:r>
              <a:rPr lang="en-US" sz="1650" spc="30" dirty="0">
                <a:solidFill>
                  <a:srgbClr val="616F52"/>
                </a:solidFill>
                <a:latin typeface="Trebuchet MS"/>
                <a:cs typeface="Trebuchet MS"/>
              </a:rPr>
              <a:t>,AMCPN</a:t>
            </a:r>
            <a:endParaRPr sz="16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50" spc="65" dirty="0">
                <a:solidFill>
                  <a:srgbClr val="616F52"/>
                </a:solidFill>
                <a:latin typeface="Trebuchet MS"/>
                <a:cs typeface="Trebuchet MS"/>
              </a:rPr>
              <a:t>(CCNA,</a:t>
            </a:r>
            <a:r>
              <a:rPr sz="1650" spc="110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1650" spc="65" dirty="0">
                <a:solidFill>
                  <a:srgbClr val="616F52"/>
                </a:solidFill>
                <a:latin typeface="Trebuchet MS"/>
                <a:cs typeface="Trebuchet MS"/>
              </a:rPr>
              <a:t>CompTIA</a:t>
            </a:r>
            <a:r>
              <a:rPr sz="1650" spc="55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616F52"/>
                </a:solidFill>
                <a:latin typeface="Trebuchet MS"/>
                <a:cs typeface="Trebuchet MS"/>
              </a:rPr>
              <a:t>Security+,</a:t>
            </a:r>
            <a:r>
              <a:rPr sz="1650" spc="150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1650" spc="50" dirty="0">
                <a:solidFill>
                  <a:srgbClr val="616F52"/>
                </a:solidFill>
                <a:latin typeface="Trebuchet MS"/>
                <a:cs typeface="Trebuchet MS"/>
              </a:rPr>
              <a:t>CEH,</a:t>
            </a:r>
            <a:r>
              <a:rPr sz="1650" spc="120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1650" spc="-50" dirty="0">
                <a:solidFill>
                  <a:srgbClr val="616F52"/>
                </a:solidFill>
                <a:latin typeface="Trebuchet MS"/>
                <a:cs typeface="Trebuchet MS"/>
              </a:rPr>
              <a:t>OSCP,</a:t>
            </a:r>
            <a:r>
              <a:rPr sz="1650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616F52"/>
                </a:solidFill>
                <a:latin typeface="Trebuchet MS"/>
                <a:cs typeface="Trebuchet MS"/>
              </a:rPr>
              <a:t>CISSP,</a:t>
            </a:r>
            <a:r>
              <a:rPr sz="1650" dirty="0">
                <a:solidFill>
                  <a:srgbClr val="616F52"/>
                </a:solidFill>
                <a:latin typeface="Trebuchet MS"/>
                <a:cs typeface="Trebuchet MS"/>
              </a:rPr>
              <a:t> </a:t>
            </a:r>
            <a:r>
              <a:rPr sz="1650" spc="50" dirty="0">
                <a:solidFill>
                  <a:srgbClr val="616F52"/>
                </a:solidFill>
                <a:latin typeface="Trebuchet MS"/>
                <a:cs typeface="Trebuchet MS"/>
              </a:rPr>
              <a:t>CISM</a:t>
            </a:r>
            <a:r>
              <a:rPr sz="1650" spc="-10" dirty="0">
                <a:solidFill>
                  <a:srgbClr val="616F52"/>
                </a:solidFill>
                <a:latin typeface="Trebuchet MS"/>
                <a:cs typeface="Trebuchet MS"/>
              </a:rPr>
              <a:t>)</a:t>
            </a:r>
            <a:endParaRPr sz="16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/>
              <a:t>Addressing</a:t>
            </a:r>
            <a:r>
              <a:rPr lang="en-US" spc="-160"/>
              <a:t> </a:t>
            </a:r>
            <a:r>
              <a:rPr spc="-160"/>
              <a:t>Schemes</a:t>
            </a:r>
            <a:endParaRPr spc="-160" dirty="0"/>
          </a:p>
        </p:txBody>
      </p:sp>
      <p:sp>
        <p:nvSpPr>
          <p:cNvPr id="3" name="object 3"/>
          <p:cNvSpPr txBox="1"/>
          <p:nvPr/>
        </p:nvSpPr>
        <p:spPr>
          <a:xfrm>
            <a:off x="892251" y="2523591"/>
            <a:ext cx="3691890" cy="322707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08305" algn="ctr">
              <a:lnSpc>
                <a:spcPct val="100000"/>
              </a:lnSpc>
              <a:spcBef>
                <a:spcPts val="880"/>
              </a:spcBef>
            </a:pPr>
            <a:r>
              <a:rPr sz="2300" b="1" u="heavy" spc="-20" dirty="0">
                <a:solidFill>
                  <a:srgbClr val="616F52"/>
                </a:solidFill>
                <a:uFill>
                  <a:solidFill>
                    <a:srgbClr val="616F52"/>
                  </a:solidFill>
                </a:uFill>
                <a:latin typeface="Carlito"/>
                <a:cs typeface="Carlito"/>
              </a:rPr>
              <a:t>FLAT</a:t>
            </a:r>
            <a:endParaRPr sz="2300">
              <a:latin typeface="Carlito"/>
              <a:cs typeface="Carlito"/>
            </a:endParaRPr>
          </a:p>
          <a:p>
            <a:pPr marL="202565" indent="-200025">
              <a:lnSpc>
                <a:spcPct val="100000"/>
              </a:lnSpc>
              <a:spcBef>
                <a:spcPts val="780"/>
              </a:spcBef>
              <a:buClr>
                <a:srgbClr val="E38311"/>
              </a:buClr>
              <a:buSzPct val="94871"/>
              <a:buAutoNum type="arabicPeriod"/>
              <a:tabLst>
                <a:tab pos="202565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 by</a:t>
            </a:r>
            <a:r>
              <a:rPr sz="1950" spc="-1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I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ntranetworks</a:t>
            </a:r>
            <a:endParaRPr sz="1950">
              <a:latin typeface="Carlito"/>
              <a:cs typeface="Carlito"/>
            </a:endParaRPr>
          </a:p>
          <a:p>
            <a:pPr marL="202565" indent="-200025">
              <a:lnSpc>
                <a:spcPct val="100000"/>
              </a:lnSpc>
              <a:spcBef>
                <a:spcPts val="445"/>
              </a:spcBef>
              <a:buClr>
                <a:srgbClr val="E38311"/>
              </a:buClr>
              <a:buSzPct val="94871"/>
              <a:buAutoNum type="arabicPeriod"/>
              <a:tabLst>
                <a:tab pos="202565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9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Layer</a:t>
            </a:r>
            <a:r>
              <a:rPr sz="19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50" dirty="0">
                <a:solidFill>
                  <a:srgbClr val="3C3C3C"/>
                </a:solidFill>
                <a:latin typeface="Carlito"/>
                <a:cs typeface="Carlito"/>
              </a:rPr>
              <a:t>2</a:t>
            </a:r>
            <a:endParaRPr sz="1950">
              <a:latin typeface="Carlito"/>
              <a:cs typeface="Carlito"/>
            </a:endParaRPr>
          </a:p>
          <a:p>
            <a:pPr marL="201930" indent="-200025">
              <a:lnSpc>
                <a:spcPct val="100000"/>
              </a:lnSpc>
              <a:spcBef>
                <a:spcPts val="395"/>
              </a:spcBef>
              <a:buClr>
                <a:srgbClr val="E38311"/>
              </a:buClr>
              <a:buSzPct val="94871"/>
              <a:buAutoNum type="arabicPeriod"/>
              <a:tabLst>
                <a:tab pos="201930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9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950" spc="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MAC</a:t>
            </a:r>
            <a:r>
              <a:rPr sz="1950" spc="-1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950">
              <a:latin typeface="Carlito"/>
              <a:cs typeface="Carlito"/>
            </a:endParaRPr>
          </a:p>
          <a:p>
            <a:pPr marL="203200" marR="5080" indent="-191135">
              <a:lnSpc>
                <a:spcPts val="2100"/>
              </a:lnSpc>
              <a:spcBef>
                <a:spcPts val="1605"/>
              </a:spcBef>
              <a:buClr>
                <a:srgbClr val="E38311"/>
              </a:buClr>
              <a:buSzPct val="92307"/>
              <a:buAutoNum type="arabicPeriod"/>
              <a:tabLst>
                <a:tab pos="204470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Is</a:t>
            </a:r>
            <a:r>
              <a:rPr sz="195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9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30" dirty="0">
                <a:solidFill>
                  <a:srgbClr val="3C3C3C"/>
                </a:solidFill>
                <a:latin typeface="Carlito"/>
                <a:cs typeface="Carlito"/>
              </a:rPr>
              <a:t>statically</a:t>
            </a:r>
            <a:r>
              <a:rPr sz="19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based</a:t>
            </a:r>
            <a:r>
              <a:rPr sz="19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on</a:t>
            </a:r>
            <a:r>
              <a:rPr sz="1950" spc="-9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next 	</a:t>
            </a:r>
            <a:r>
              <a:rPr sz="1950" spc="-25" dirty="0">
                <a:solidFill>
                  <a:srgbClr val="3C3C3C"/>
                </a:solidFill>
                <a:latin typeface="Carlito"/>
                <a:cs typeface="Carlito"/>
              </a:rPr>
              <a:t>available</a:t>
            </a:r>
            <a:r>
              <a:rPr sz="19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number</a:t>
            </a:r>
            <a:r>
              <a:rPr sz="1950" spc="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or</a:t>
            </a:r>
            <a:r>
              <a:rPr sz="19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random</a:t>
            </a:r>
            <a:endParaRPr sz="1950">
              <a:latin typeface="Carlito"/>
              <a:cs typeface="Carlito"/>
            </a:endParaRPr>
          </a:p>
          <a:p>
            <a:pPr marL="328930" lvl="1" indent="-151765">
              <a:lnSpc>
                <a:spcPct val="100000"/>
              </a:lnSpc>
              <a:spcBef>
                <a:spcPts val="185"/>
              </a:spcBef>
              <a:buClr>
                <a:srgbClr val="E38311"/>
              </a:buClr>
              <a:buFont typeface="Arial"/>
              <a:buChar char="◦"/>
              <a:tabLst>
                <a:tab pos="328930" algn="l"/>
              </a:tabLst>
            </a:pP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Social</a:t>
            </a:r>
            <a:r>
              <a:rPr sz="16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Security</a:t>
            </a:r>
            <a:r>
              <a:rPr sz="165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Number</a:t>
            </a:r>
            <a:endParaRPr sz="1650">
              <a:latin typeface="Carlito"/>
              <a:cs typeface="Carlito"/>
            </a:endParaRPr>
          </a:p>
          <a:p>
            <a:pPr marL="328930" lvl="1" indent="-151765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328930" algn="l"/>
              </a:tabLst>
            </a:pPr>
            <a:r>
              <a:rPr sz="1650" spc="-85" dirty="0">
                <a:solidFill>
                  <a:srgbClr val="3C3C3C"/>
                </a:solidFill>
                <a:latin typeface="Carlito"/>
                <a:cs typeface="Carlito"/>
              </a:rPr>
              <a:t>Your</a:t>
            </a:r>
            <a:r>
              <a:rPr sz="1650" spc="-1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20" dirty="0">
                <a:solidFill>
                  <a:srgbClr val="3C3C3C"/>
                </a:solidFill>
                <a:latin typeface="Carlito"/>
                <a:cs typeface="Carlito"/>
              </a:rPr>
              <a:t>Name</a:t>
            </a:r>
            <a:endParaRPr sz="1650">
              <a:latin typeface="Carlito"/>
              <a:cs typeface="Carlito"/>
            </a:endParaRPr>
          </a:p>
          <a:p>
            <a:pPr marL="328930" lvl="1" indent="-151765">
              <a:lnSpc>
                <a:spcPct val="100000"/>
              </a:lnSpc>
              <a:spcBef>
                <a:spcPts val="200"/>
              </a:spcBef>
              <a:buClr>
                <a:srgbClr val="E38311"/>
              </a:buClr>
              <a:buFont typeface="Arial"/>
              <a:buChar char="◦"/>
              <a:tabLst>
                <a:tab pos="3289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MAC-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C0:AD:00:23:4F:89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7338" y="2485948"/>
            <a:ext cx="4047490" cy="3284854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160145">
              <a:lnSpc>
                <a:spcPct val="100000"/>
              </a:lnSpc>
              <a:spcBef>
                <a:spcPts val="1170"/>
              </a:spcBef>
            </a:pPr>
            <a:r>
              <a:rPr sz="2300" b="1" u="heavy" spc="-10" dirty="0">
                <a:solidFill>
                  <a:srgbClr val="616F52"/>
                </a:solidFill>
                <a:uFill>
                  <a:solidFill>
                    <a:srgbClr val="616F52"/>
                  </a:solidFill>
                </a:uFill>
                <a:latin typeface="Carlito"/>
                <a:cs typeface="Carlito"/>
              </a:rPr>
              <a:t>HIERARCHICAL</a:t>
            </a:r>
            <a:endParaRPr sz="2300">
              <a:latin typeface="Carlito"/>
              <a:cs typeface="Carlito"/>
            </a:endParaRPr>
          </a:p>
          <a:p>
            <a:pPr marL="202565" indent="-200025">
              <a:lnSpc>
                <a:spcPct val="100000"/>
              </a:lnSpc>
              <a:spcBef>
                <a:spcPts val="915"/>
              </a:spcBef>
              <a:buClr>
                <a:srgbClr val="E38311"/>
              </a:buClr>
              <a:buSzPct val="94871"/>
              <a:buAutoNum type="arabicPeriod"/>
              <a:tabLst>
                <a:tab pos="202565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9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95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Internetworks</a:t>
            </a:r>
            <a:endParaRPr sz="1950">
              <a:latin typeface="Carlito"/>
              <a:cs typeface="Carlito"/>
            </a:endParaRPr>
          </a:p>
          <a:p>
            <a:pPr marL="202565" indent="-200025">
              <a:lnSpc>
                <a:spcPct val="100000"/>
              </a:lnSpc>
              <a:spcBef>
                <a:spcPts val="215"/>
              </a:spcBef>
              <a:buClr>
                <a:srgbClr val="E38311"/>
              </a:buClr>
              <a:buSzPct val="94871"/>
              <a:buAutoNum type="arabicPeriod"/>
              <a:tabLst>
                <a:tab pos="202565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9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Layer</a:t>
            </a:r>
            <a:r>
              <a:rPr sz="19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50" dirty="0">
                <a:solidFill>
                  <a:srgbClr val="3C3C3C"/>
                </a:solidFill>
                <a:latin typeface="Carlito"/>
                <a:cs typeface="Carlito"/>
              </a:rPr>
              <a:t>3</a:t>
            </a:r>
            <a:endParaRPr sz="1950">
              <a:latin typeface="Carlito"/>
              <a:cs typeface="Carlito"/>
            </a:endParaRPr>
          </a:p>
          <a:p>
            <a:pPr marL="202565" indent="-200025">
              <a:lnSpc>
                <a:spcPct val="100000"/>
              </a:lnSpc>
              <a:spcBef>
                <a:spcPts val="209"/>
              </a:spcBef>
              <a:buClr>
                <a:srgbClr val="E38311"/>
              </a:buClr>
              <a:buSzPct val="94871"/>
              <a:buAutoNum type="arabicPeriod"/>
              <a:tabLst>
                <a:tab pos="202565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9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95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950" spc="-10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950">
              <a:latin typeface="Carlito"/>
              <a:cs typeface="Carlito"/>
            </a:endParaRPr>
          </a:p>
          <a:p>
            <a:pPr marL="203200" marR="5080" indent="-191135">
              <a:lnSpc>
                <a:spcPts val="1910"/>
              </a:lnSpc>
              <a:spcBef>
                <a:spcPts val="1440"/>
              </a:spcBef>
              <a:buClr>
                <a:srgbClr val="E38311"/>
              </a:buClr>
              <a:buSzPct val="92307"/>
              <a:buAutoNum type="arabicPeriod"/>
              <a:tabLst>
                <a:tab pos="204470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Is assigned</a:t>
            </a:r>
            <a:r>
              <a:rPr sz="195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dynamically</a:t>
            </a:r>
            <a:r>
              <a:rPr sz="1950" spc="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based on</a:t>
            </a:r>
            <a:r>
              <a:rPr sz="1950" spc="-18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your 	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location</a:t>
            </a:r>
            <a:endParaRPr sz="1950">
              <a:latin typeface="Carlito"/>
              <a:cs typeface="Carlito"/>
            </a:endParaRPr>
          </a:p>
          <a:p>
            <a:pPr marL="328930" lvl="1" indent="-151765">
              <a:lnSpc>
                <a:spcPct val="100000"/>
              </a:lnSpc>
              <a:spcBef>
                <a:spcPts val="1900"/>
              </a:spcBef>
              <a:buClr>
                <a:srgbClr val="E38311"/>
              </a:buClr>
              <a:buFont typeface="Arial"/>
              <a:buChar char="◦"/>
              <a:tabLst>
                <a:tab pos="328930" algn="l"/>
              </a:tabLst>
            </a:pP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Phone</a:t>
            </a:r>
            <a:r>
              <a:rPr sz="1650" spc="-8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System</a:t>
            </a:r>
            <a:endParaRPr sz="1650">
              <a:latin typeface="Carlito"/>
              <a:cs typeface="Carlito"/>
            </a:endParaRPr>
          </a:p>
          <a:p>
            <a:pPr marL="329565" lvl="1" indent="-152400">
              <a:lnSpc>
                <a:spcPct val="100000"/>
              </a:lnSpc>
              <a:spcBef>
                <a:spcPts val="100"/>
              </a:spcBef>
              <a:buClr>
                <a:srgbClr val="E38311"/>
              </a:buClr>
              <a:buFont typeface="Arial"/>
              <a:buChar char="◦"/>
              <a:tabLst>
                <a:tab pos="329565" algn="l"/>
              </a:tabLst>
            </a:pP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ZIP</a:t>
            </a:r>
            <a:r>
              <a:rPr sz="16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20" dirty="0">
                <a:solidFill>
                  <a:srgbClr val="3C3C3C"/>
                </a:solidFill>
                <a:latin typeface="Carlito"/>
                <a:cs typeface="Carlito"/>
              </a:rPr>
              <a:t>Code</a:t>
            </a:r>
            <a:endParaRPr sz="1650">
              <a:latin typeface="Carlito"/>
              <a:cs typeface="Carlito"/>
            </a:endParaRPr>
          </a:p>
          <a:p>
            <a:pPr marL="328930" lvl="1" indent="-151765">
              <a:lnSpc>
                <a:spcPct val="100000"/>
              </a:lnSpc>
              <a:spcBef>
                <a:spcPts val="90"/>
              </a:spcBef>
              <a:buClr>
                <a:srgbClr val="E38311"/>
              </a:buClr>
              <a:buFont typeface="Arial"/>
              <a:buChar char="◦"/>
              <a:tabLst>
                <a:tab pos="3289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IP-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182.157.63.219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83452"/>
            <a:ext cx="10058399" cy="4328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85266" y="1524000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>
                <a:moveTo>
                  <a:pt x="0" y="0"/>
                </a:moveTo>
                <a:lnTo>
                  <a:pt x="8223123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85266" y="762000"/>
            <a:ext cx="8539734" cy="6200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I</a:t>
            </a:r>
            <a:r>
              <a:rPr spc="-235" dirty="0"/>
              <a:t>nterne</a:t>
            </a:r>
            <a:r>
              <a:rPr spc="290" dirty="0"/>
              <a:t>t</a:t>
            </a:r>
            <a:r>
              <a:rPr lang="en-US" spc="290" dirty="0"/>
              <a:t> </a:t>
            </a:r>
            <a:r>
              <a:rPr spc="-250" dirty="0"/>
              <a:t>P</a:t>
            </a:r>
            <a:r>
              <a:rPr spc="-245" dirty="0"/>
              <a:t>ro</a:t>
            </a:r>
            <a:r>
              <a:rPr spc="-250" dirty="0"/>
              <a:t>t</a:t>
            </a:r>
            <a:r>
              <a:rPr spc="-245" dirty="0"/>
              <a:t>o</a:t>
            </a:r>
            <a:r>
              <a:rPr spc="-240" dirty="0"/>
              <a:t>c</a:t>
            </a:r>
            <a:r>
              <a:rPr spc="-245" dirty="0"/>
              <a:t>o</a:t>
            </a:r>
            <a:r>
              <a:rPr spc="280" dirty="0"/>
              <a:t>l</a:t>
            </a:r>
            <a:r>
              <a:rPr lang="en-US" spc="280" dirty="0"/>
              <a:t>  </a:t>
            </a:r>
            <a:r>
              <a:rPr spc="-170" dirty="0"/>
              <a:t>A</a:t>
            </a:r>
            <a:r>
              <a:rPr spc="-180" dirty="0"/>
              <a:t>dd</a:t>
            </a:r>
            <a:r>
              <a:rPr spc="-170" dirty="0"/>
              <a:t>r</a:t>
            </a:r>
            <a:r>
              <a:rPr spc="-175" dirty="0"/>
              <a:t>es</a:t>
            </a:r>
            <a:r>
              <a:rPr spc="335" dirty="0"/>
              <a:t>s</a:t>
            </a:r>
            <a:r>
              <a:rPr lang="en-US" spc="335" dirty="0"/>
              <a:t> </a:t>
            </a:r>
            <a:r>
              <a:rPr spc="-175" dirty="0"/>
              <a:t>(</a:t>
            </a:r>
            <a:r>
              <a:rPr spc="-170" dirty="0"/>
              <a:t>I</a:t>
            </a:r>
            <a:r>
              <a:rPr spc="295" dirty="0"/>
              <a:t>P</a:t>
            </a:r>
            <a:r>
              <a:rPr spc="-195" dirty="0"/>
              <a:t>A</a:t>
            </a:r>
            <a:r>
              <a:rPr spc="-200" dirty="0"/>
              <a:t>ddress</a:t>
            </a:r>
            <a:r>
              <a:rPr dirty="0"/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2000" y="1658621"/>
            <a:ext cx="7959725" cy="358902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790"/>
              </a:spcBef>
              <a:buClr>
                <a:srgbClr val="E38311"/>
              </a:buClr>
              <a:buAutoNum type="arabicPeriod"/>
              <a:tabLst>
                <a:tab pos="296545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9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unique</a:t>
            </a:r>
            <a:r>
              <a:rPr sz="195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numerical</a:t>
            </a:r>
            <a:r>
              <a:rPr sz="195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label</a:t>
            </a:r>
            <a:r>
              <a:rPr sz="1950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9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9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each</a:t>
            </a:r>
            <a:r>
              <a:rPr sz="19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device participating</a:t>
            </a:r>
            <a:r>
              <a:rPr sz="1950" spc="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in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anetwork</a:t>
            </a:r>
            <a:endParaRPr sz="1950" dirty="0">
              <a:latin typeface="Carlito"/>
              <a:cs typeface="Carlito"/>
            </a:endParaRPr>
          </a:p>
          <a:p>
            <a:pPr marL="296545" indent="-283845">
              <a:lnSpc>
                <a:spcPct val="100000"/>
              </a:lnSpc>
              <a:spcBef>
                <a:spcPts val="695"/>
              </a:spcBef>
              <a:buClr>
                <a:srgbClr val="E38311"/>
              </a:buClr>
              <a:buAutoNum type="arabicPeriod"/>
              <a:tabLst>
                <a:tab pos="296545" algn="l"/>
              </a:tabLst>
            </a:pP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Every</a:t>
            </a:r>
            <a:r>
              <a:rPr sz="19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device on the</a:t>
            </a:r>
            <a:r>
              <a:rPr sz="195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Internet</a:t>
            </a:r>
            <a:r>
              <a:rPr sz="19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must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 have</a:t>
            </a:r>
            <a:r>
              <a:rPr sz="19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a unique</a:t>
            </a:r>
            <a:r>
              <a:rPr sz="19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IP address</a:t>
            </a:r>
            <a:r>
              <a:rPr sz="19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9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identify</a:t>
            </a:r>
            <a:r>
              <a:rPr sz="1950" spc="-1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itself</a:t>
            </a:r>
            <a:endParaRPr sz="1950" dirty="0">
              <a:latin typeface="Carlito"/>
              <a:cs typeface="Carlito"/>
            </a:endParaRPr>
          </a:p>
          <a:p>
            <a:pPr marL="295910" indent="-283210">
              <a:lnSpc>
                <a:spcPct val="100000"/>
              </a:lnSpc>
              <a:spcBef>
                <a:spcPts val="710"/>
              </a:spcBef>
              <a:buClr>
                <a:srgbClr val="E38311"/>
              </a:buClr>
              <a:buAutoNum type="arabicPeriod"/>
              <a:tabLst>
                <a:tab pos="295910" algn="l"/>
              </a:tabLst>
            </a:pPr>
            <a:r>
              <a:rPr sz="1950" b="1" spc="-20" dirty="0">
                <a:solidFill>
                  <a:srgbClr val="3C3C3C"/>
                </a:solidFill>
                <a:latin typeface="Carlito"/>
                <a:cs typeface="Carlito"/>
              </a:rPr>
              <a:t>Internet</a:t>
            </a:r>
            <a:r>
              <a:rPr sz="1950" b="1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b="1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950" b="1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b="1" dirty="0">
                <a:solidFill>
                  <a:srgbClr val="3C3C3C"/>
                </a:solidFill>
                <a:latin typeface="Carlito"/>
                <a:cs typeface="Carlito"/>
              </a:rPr>
              <a:t>Numbers</a:t>
            </a:r>
            <a:r>
              <a:rPr sz="1950" b="1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b="1" dirty="0">
                <a:solidFill>
                  <a:srgbClr val="3C3C3C"/>
                </a:solidFill>
                <a:latin typeface="Carlito"/>
                <a:cs typeface="Carlito"/>
              </a:rPr>
              <a:t>Authority</a:t>
            </a:r>
            <a:r>
              <a:rPr sz="1950" b="1" spc="-1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(IANA)</a:t>
            </a:r>
            <a:endParaRPr sz="1950" dirty="0">
              <a:latin typeface="Carlito"/>
              <a:cs typeface="Carlito"/>
            </a:endParaRPr>
          </a:p>
          <a:p>
            <a:pPr marL="296545" indent="-283845">
              <a:lnSpc>
                <a:spcPct val="100000"/>
              </a:lnSpc>
              <a:spcBef>
                <a:spcPts val="695"/>
              </a:spcBef>
              <a:buClr>
                <a:srgbClr val="E38311"/>
              </a:buClr>
              <a:buAutoNum type="arabicPeriod"/>
              <a:tabLst>
                <a:tab pos="296545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Manages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95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9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space</a:t>
            </a:r>
            <a:r>
              <a:rPr sz="19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allocations</a:t>
            </a:r>
            <a:r>
              <a:rPr sz="1950" spc="-204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globally</a:t>
            </a:r>
            <a:endParaRPr sz="1950" dirty="0">
              <a:latin typeface="Carlito"/>
              <a:cs typeface="Carlito"/>
            </a:endParaRPr>
          </a:p>
          <a:p>
            <a:pPr marL="295910" marR="5080" indent="-283845">
              <a:lnSpc>
                <a:spcPts val="1900"/>
              </a:lnSpc>
              <a:spcBef>
                <a:spcPts val="1235"/>
              </a:spcBef>
              <a:buClr>
                <a:srgbClr val="E38311"/>
              </a:buClr>
              <a:buAutoNum type="arabicPeriod"/>
              <a:tabLst>
                <a:tab pos="297180" algn="l"/>
              </a:tabLst>
            </a:pPr>
            <a:r>
              <a:rPr sz="1950" spc="-25" dirty="0">
                <a:solidFill>
                  <a:srgbClr val="3C3C3C"/>
                </a:solidFill>
                <a:latin typeface="Carlito"/>
                <a:cs typeface="Carlito"/>
              </a:rPr>
              <a:t>Delegates</a:t>
            </a:r>
            <a:r>
              <a:rPr sz="19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five</a:t>
            </a:r>
            <a:r>
              <a:rPr sz="19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b="1" dirty="0">
                <a:solidFill>
                  <a:srgbClr val="3C3C3C"/>
                </a:solidFill>
                <a:latin typeface="Carlito"/>
                <a:cs typeface="Carlito"/>
              </a:rPr>
              <a:t>regional</a:t>
            </a:r>
            <a:r>
              <a:rPr sz="1950" b="1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b="1" spc="-20" dirty="0">
                <a:solidFill>
                  <a:srgbClr val="3C3C3C"/>
                </a:solidFill>
                <a:latin typeface="Carlito"/>
                <a:cs typeface="Carlito"/>
              </a:rPr>
              <a:t>Internet</a:t>
            </a:r>
            <a:r>
              <a:rPr sz="1950" b="1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b="1" spc="-20" dirty="0">
                <a:solidFill>
                  <a:srgbClr val="3C3C3C"/>
                </a:solidFill>
                <a:latin typeface="Carlito"/>
                <a:cs typeface="Carlito"/>
              </a:rPr>
              <a:t>registries</a:t>
            </a:r>
            <a:r>
              <a:rPr sz="1950" b="1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(RIRs)</a:t>
            </a:r>
            <a:r>
              <a:rPr sz="19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9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allocate</a:t>
            </a:r>
            <a:r>
              <a:rPr sz="19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9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95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blocks 	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9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local</a:t>
            </a:r>
            <a:r>
              <a:rPr sz="19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Internet</a:t>
            </a:r>
            <a:r>
              <a:rPr sz="19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registries</a:t>
            </a:r>
            <a:r>
              <a:rPr sz="19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(Internet</a:t>
            </a:r>
            <a:r>
              <a:rPr sz="19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service</a:t>
            </a:r>
            <a:r>
              <a:rPr sz="1950" spc="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providers)</a:t>
            </a:r>
            <a:endParaRPr sz="1950" dirty="0">
              <a:latin typeface="Carlito"/>
              <a:cs typeface="Carlito"/>
            </a:endParaRPr>
          </a:p>
          <a:p>
            <a:pPr marL="296545" indent="-283845">
              <a:lnSpc>
                <a:spcPct val="100000"/>
              </a:lnSpc>
              <a:spcBef>
                <a:spcPts val="575"/>
              </a:spcBef>
              <a:buClr>
                <a:srgbClr val="E38311"/>
              </a:buClr>
              <a:buAutoNum type="arabicPeriod"/>
              <a:tabLst>
                <a:tab pos="296545" algn="l"/>
              </a:tabLst>
            </a:pP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9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an</a:t>
            </a:r>
            <a:r>
              <a:rPr sz="195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95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9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be 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routable</a:t>
            </a:r>
            <a:r>
              <a:rPr sz="19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over</a:t>
            </a:r>
            <a:r>
              <a:rPr sz="19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9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20" dirty="0">
                <a:solidFill>
                  <a:srgbClr val="3C3C3C"/>
                </a:solidFill>
                <a:latin typeface="Carlito"/>
                <a:cs typeface="Carlito"/>
              </a:rPr>
              <a:t>Internet,</a:t>
            </a:r>
            <a:r>
              <a:rPr sz="19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it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must</a:t>
            </a:r>
            <a:r>
              <a:rPr sz="1950" spc="-1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have:</a:t>
            </a:r>
            <a:endParaRPr sz="1950" dirty="0">
              <a:latin typeface="Carlito"/>
              <a:cs typeface="Carlito"/>
            </a:endParaRPr>
          </a:p>
          <a:p>
            <a:pPr marL="480059" lvl="1" indent="-150495">
              <a:lnSpc>
                <a:spcPct val="100000"/>
              </a:lnSpc>
              <a:spcBef>
                <a:spcPts val="120"/>
              </a:spcBef>
              <a:buClr>
                <a:srgbClr val="E38311"/>
              </a:buClr>
              <a:buFont typeface="Arial"/>
              <a:buChar char="◦"/>
              <a:tabLst>
                <a:tab pos="480059" algn="l"/>
              </a:tabLst>
            </a:pPr>
            <a:r>
              <a:rPr sz="155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55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550" dirty="0">
              <a:latin typeface="Carlito"/>
              <a:cs typeface="Carlito"/>
            </a:endParaRPr>
          </a:p>
          <a:p>
            <a:pPr marL="480059" lvl="1" indent="-150495">
              <a:lnSpc>
                <a:spcPct val="100000"/>
              </a:lnSpc>
              <a:spcBef>
                <a:spcPts val="204"/>
              </a:spcBef>
              <a:buClr>
                <a:srgbClr val="E38311"/>
              </a:buClr>
              <a:buFont typeface="Arial"/>
              <a:buChar char="◦"/>
              <a:tabLst>
                <a:tab pos="480059" algn="l"/>
              </a:tabLst>
            </a:pPr>
            <a:r>
              <a:rPr sz="1550" dirty="0">
                <a:solidFill>
                  <a:srgbClr val="3C3C3C"/>
                </a:solidFill>
                <a:latin typeface="Carlito"/>
                <a:cs typeface="Carlito"/>
              </a:rPr>
              <a:t>Subnet</a:t>
            </a:r>
            <a:r>
              <a:rPr sz="155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20" dirty="0">
                <a:solidFill>
                  <a:srgbClr val="3C3C3C"/>
                </a:solidFill>
                <a:latin typeface="Carlito"/>
                <a:cs typeface="Carlito"/>
              </a:rPr>
              <a:t>Mask</a:t>
            </a:r>
            <a:endParaRPr sz="1550" dirty="0">
              <a:latin typeface="Carlito"/>
              <a:cs typeface="Carlito"/>
            </a:endParaRPr>
          </a:p>
          <a:p>
            <a:pPr marL="480059" lvl="1" indent="-150495">
              <a:lnSpc>
                <a:spcPct val="100000"/>
              </a:lnSpc>
              <a:spcBef>
                <a:spcPts val="95"/>
              </a:spcBef>
              <a:buClr>
                <a:srgbClr val="E38311"/>
              </a:buClr>
              <a:buFont typeface="Arial"/>
              <a:buChar char="◦"/>
              <a:tabLst>
                <a:tab pos="480059" algn="l"/>
              </a:tabLst>
            </a:pPr>
            <a:r>
              <a:rPr sz="1550" spc="-20" dirty="0">
                <a:solidFill>
                  <a:srgbClr val="3C3C3C"/>
                </a:solidFill>
                <a:latin typeface="Carlito"/>
                <a:cs typeface="Carlito"/>
              </a:rPr>
              <a:t>Default</a:t>
            </a:r>
            <a:r>
              <a:rPr sz="15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10" dirty="0">
                <a:solidFill>
                  <a:srgbClr val="3C3C3C"/>
                </a:solidFill>
                <a:latin typeface="Carlito"/>
                <a:cs typeface="Carlito"/>
              </a:rPr>
              <a:t>Gateway</a:t>
            </a:r>
            <a:endParaRPr sz="1550" dirty="0">
              <a:latin typeface="Carlito"/>
              <a:cs typeface="Carlito"/>
            </a:endParaRPr>
          </a:p>
          <a:p>
            <a:pPr marL="480059" lvl="1" indent="-150495">
              <a:lnSpc>
                <a:spcPct val="100000"/>
              </a:lnSpc>
              <a:spcBef>
                <a:spcPts val="100"/>
              </a:spcBef>
              <a:buClr>
                <a:srgbClr val="E38311"/>
              </a:buClr>
              <a:buFont typeface="Arial"/>
              <a:buChar char="◦"/>
              <a:tabLst>
                <a:tab pos="480059" algn="l"/>
              </a:tabLst>
            </a:pPr>
            <a:r>
              <a:rPr sz="1550" dirty="0">
                <a:solidFill>
                  <a:srgbClr val="3C3C3C"/>
                </a:solidFill>
                <a:latin typeface="Carlito"/>
                <a:cs typeface="Carlito"/>
              </a:rPr>
              <a:t>DNS</a:t>
            </a:r>
            <a:r>
              <a:rPr sz="1550" spc="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5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dirty="0">
                <a:solidFill>
                  <a:srgbClr val="3C3C3C"/>
                </a:solidFill>
                <a:latin typeface="Carlito"/>
                <a:cs typeface="Carlito"/>
              </a:rPr>
              <a:t>(only</a:t>
            </a:r>
            <a:r>
              <a:rPr sz="1550" spc="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25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5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5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10" dirty="0">
                <a:solidFill>
                  <a:srgbClr val="3C3C3C"/>
                </a:solidFill>
                <a:latin typeface="Carlito"/>
                <a:cs typeface="Carlito"/>
              </a:rPr>
              <a:t>lookup,</a:t>
            </a:r>
            <a:r>
              <a:rPr sz="15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dirty="0">
                <a:solidFill>
                  <a:srgbClr val="3C3C3C"/>
                </a:solidFill>
                <a:latin typeface="Carlito"/>
                <a:cs typeface="Carlito"/>
              </a:rPr>
              <a:t>i.e.</a:t>
            </a:r>
            <a:r>
              <a:rPr sz="15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25" dirty="0">
                <a:solidFill>
                  <a:srgbClr val="3C3C3C"/>
                </a:solidFill>
                <a:latin typeface="Carlito"/>
                <a:cs typeface="Carlito"/>
              </a:rPr>
              <a:t>web</a:t>
            </a:r>
            <a:r>
              <a:rPr sz="1550" spc="-1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550" spc="-10" dirty="0">
                <a:solidFill>
                  <a:srgbClr val="3C3C3C"/>
                </a:solidFill>
                <a:latin typeface="Carlito"/>
                <a:cs typeface="Carlito"/>
              </a:rPr>
              <a:t>sites)</a:t>
            </a:r>
            <a:endParaRPr sz="155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83452"/>
            <a:ext cx="10058399" cy="4328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69657" y="1371600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>
                <a:moveTo>
                  <a:pt x="0" y="0"/>
                </a:moveTo>
                <a:lnTo>
                  <a:pt x="8223123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9657" y="609600"/>
            <a:ext cx="7919084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40" dirty="0"/>
              <a:t>T</a:t>
            </a:r>
            <a:r>
              <a:rPr spc="-250" dirty="0"/>
              <a:t>y</a:t>
            </a:r>
            <a:r>
              <a:rPr spc="-254" dirty="0"/>
              <a:t>p</a:t>
            </a:r>
            <a:r>
              <a:rPr spc="-250" dirty="0"/>
              <a:t>e</a:t>
            </a:r>
            <a:r>
              <a:rPr spc="310" dirty="0"/>
              <a:t>s</a:t>
            </a:r>
            <a:r>
              <a:rPr spc="-110" dirty="0"/>
              <a:t>o</a:t>
            </a:r>
            <a:r>
              <a:rPr spc="229" dirty="0"/>
              <a:t>f</a:t>
            </a:r>
            <a:r>
              <a:rPr spc="-195" dirty="0"/>
              <a:t>A</a:t>
            </a:r>
            <a:r>
              <a:rPr spc="-200" dirty="0"/>
              <a:t>ddress</a:t>
            </a:r>
            <a:r>
              <a:rPr spc="-195" dirty="0"/>
              <a:t>i</a:t>
            </a:r>
            <a:r>
              <a:rPr spc="-200" dirty="0"/>
              <a:t>n</a:t>
            </a:r>
            <a:r>
              <a:rPr dirty="0"/>
              <a:t>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0600" y="1752600"/>
            <a:ext cx="5151755" cy="33718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405"/>
              </a:spcBef>
              <a:buClr>
                <a:srgbClr val="E38311"/>
              </a:buClr>
              <a:buSzPct val="91304"/>
              <a:buAutoNum type="arabicPeriod"/>
              <a:tabLst>
                <a:tab pos="238760" algn="l"/>
              </a:tabLst>
            </a:pPr>
            <a:r>
              <a:rPr sz="2300" b="1" spc="-25" dirty="0">
                <a:solidFill>
                  <a:srgbClr val="3C3C3C"/>
                </a:solidFill>
                <a:latin typeface="Carlito"/>
                <a:cs typeface="Carlito"/>
              </a:rPr>
              <a:t>Static</a:t>
            </a:r>
            <a:r>
              <a:rPr sz="2300" b="1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2300" b="1" spc="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2300" dirty="0">
              <a:latin typeface="Carlito"/>
              <a:cs typeface="Carlito"/>
            </a:endParaRPr>
          </a:p>
          <a:p>
            <a:pPr marL="532130" lvl="1" indent="-213360">
              <a:lnSpc>
                <a:spcPct val="100000"/>
              </a:lnSpc>
              <a:spcBef>
                <a:spcPts val="235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Manually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device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an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administrator</a:t>
            </a:r>
            <a:endParaRPr sz="1800" dirty="0">
              <a:latin typeface="Carlito"/>
              <a:cs typeface="Carlito"/>
            </a:endParaRPr>
          </a:p>
          <a:p>
            <a:pPr marL="532130" lvl="1" indent="-213360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Constant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and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does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not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change.</a:t>
            </a:r>
            <a:endParaRPr sz="1800" dirty="0">
              <a:latin typeface="Carlito"/>
              <a:cs typeface="Carlito"/>
            </a:endParaRPr>
          </a:p>
          <a:p>
            <a:pPr marL="238760" indent="-226060">
              <a:lnSpc>
                <a:spcPct val="100000"/>
              </a:lnSpc>
              <a:spcBef>
                <a:spcPts val="965"/>
              </a:spcBef>
              <a:buClr>
                <a:srgbClr val="E38311"/>
              </a:buClr>
              <a:buSzPct val="91304"/>
              <a:buAutoNum type="arabicPeriod"/>
              <a:tabLst>
                <a:tab pos="238760" algn="l"/>
              </a:tabLst>
            </a:pPr>
            <a:r>
              <a:rPr sz="2300" b="1" dirty="0">
                <a:solidFill>
                  <a:srgbClr val="3C3C3C"/>
                </a:solidFill>
                <a:latin typeface="Carlito"/>
                <a:cs typeface="Carlito"/>
              </a:rPr>
              <a:t>Dynamic</a:t>
            </a:r>
            <a:r>
              <a:rPr sz="2300" b="1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2300" b="1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2300" dirty="0">
              <a:latin typeface="Carlito"/>
              <a:cs typeface="Carlito"/>
            </a:endParaRPr>
          </a:p>
          <a:p>
            <a:pPr marL="532130" lvl="1" indent="-213360">
              <a:lnSpc>
                <a:spcPct val="100000"/>
              </a:lnSpc>
              <a:spcBef>
                <a:spcPts val="235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device</a:t>
            </a:r>
            <a:r>
              <a:rPr sz="18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each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time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it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starts</a:t>
            </a:r>
            <a:endParaRPr sz="1800" dirty="0">
              <a:latin typeface="Carlito"/>
              <a:cs typeface="Carlito"/>
            </a:endParaRPr>
          </a:p>
          <a:p>
            <a:pPr marL="532130" lvl="1" indent="-213360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Requires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less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human</a:t>
            </a:r>
            <a:r>
              <a:rPr sz="18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intervention</a:t>
            </a:r>
            <a:endParaRPr sz="1800" dirty="0">
              <a:latin typeface="Carlito"/>
              <a:cs typeface="Carlito"/>
            </a:endParaRPr>
          </a:p>
          <a:p>
            <a:pPr marL="532130" lvl="1" indent="-213360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Less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administration</a:t>
            </a:r>
            <a:endParaRPr sz="1800" dirty="0">
              <a:latin typeface="Carlito"/>
              <a:cs typeface="Carlito"/>
            </a:endParaRPr>
          </a:p>
          <a:p>
            <a:pPr marL="532130" lvl="1" indent="-213360">
              <a:lnSpc>
                <a:spcPct val="100000"/>
              </a:lnSpc>
              <a:spcBef>
                <a:spcPts val="305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Uses</a:t>
            </a:r>
            <a:r>
              <a:rPr sz="18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Dynamic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Configuration</a:t>
            </a:r>
            <a:r>
              <a:rPr sz="18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Protocol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(DHCP)</a:t>
            </a:r>
            <a:endParaRPr sz="1800" dirty="0">
              <a:latin typeface="Carlito"/>
              <a:cs typeface="Carlito"/>
            </a:endParaRPr>
          </a:p>
          <a:p>
            <a:pPr marL="532130" lvl="1" indent="-213360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Enabled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default</a:t>
            </a:r>
            <a:endParaRPr sz="1800" dirty="0">
              <a:latin typeface="Carlito"/>
              <a:cs typeface="Carlito"/>
            </a:endParaRPr>
          </a:p>
          <a:p>
            <a:pPr marL="532130" lvl="1" indent="-213360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No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user</a:t>
            </a:r>
            <a:r>
              <a:rPr sz="18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intervention</a:t>
            </a:r>
            <a:endParaRPr sz="1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Classful</a:t>
            </a:r>
            <a:r>
              <a:rPr spc="-745" dirty="0"/>
              <a:t> </a:t>
            </a:r>
            <a:r>
              <a:rPr lang="en-US" spc="-745" dirty="0"/>
              <a:t> </a:t>
            </a:r>
            <a:r>
              <a:rPr spc="-140" dirty="0"/>
              <a:t>vs</a:t>
            </a:r>
            <a:r>
              <a:rPr lang="en-US" spc="-140" dirty="0"/>
              <a:t> </a:t>
            </a:r>
            <a:r>
              <a:rPr spc="-140" dirty="0"/>
              <a:t>Classless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6071" y="2126001"/>
            <a:ext cx="3595370" cy="314579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100"/>
              </a:spcBef>
            </a:pPr>
            <a:r>
              <a:rPr sz="2300" b="1" u="heavy" spc="-10" dirty="0">
                <a:solidFill>
                  <a:srgbClr val="616F52"/>
                </a:solidFill>
                <a:uFill>
                  <a:solidFill>
                    <a:srgbClr val="616F52"/>
                  </a:solidFill>
                </a:uFill>
                <a:latin typeface="Carlito"/>
                <a:cs typeface="Carlito"/>
              </a:rPr>
              <a:t>CLASSFUL</a:t>
            </a:r>
            <a:endParaRPr sz="2300">
              <a:latin typeface="Carlito"/>
              <a:cs typeface="Carlito"/>
            </a:endParaRPr>
          </a:p>
          <a:p>
            <a:pPr marL="203835" indent="-200025">
              <a:lnSpc>
                <a:spcPts val="2440"/>
              </a:lnSpc>
              <a:spcBef>
                <a:spcPts val="930"/>
              </a:spcBef>
              <a:buClr>
                <a:srgbClr val="E38311"/>
              </a:buClr>
              <a:buSzPct val="86046"/>
              <a:buAutoNum type="arabicPeriod"/>
              <a:tabLst>
                <a:tab pos="203835" algn="l"/>
              </a:tabLst>
            </a:pP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Divided</a:t>
            </a:r>
            <a:r>
              <a:rPr sz="215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into</a:t>
            </a:r>
            <a:r>
              <a:rPr sz="21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5</a:t>
            </a:r>
            <a:r>
              <a:rPr sz="21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classes</a:t>
            </a:r>
            <a:r>
              <a:rPr sz="21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A,</a:t>
            </a:r>
            <a:r>
              <a:rPr sz="215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B,</a:t>
            </a:r>
            <a:r>
              <a:rPr sz="21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35" dirty="0">
                <a:solidFill>
                  <a:srgbClr val="3C3C3C"/>
                </a:solidFill>
                <a:latin typeface="Carlito"/>
                <a:cs typeface="Carlito"/>
              </a:rPr>
              <a:t>C,</a:t>
            </a:r>
            <a:r>
              <a:rPr sz="2150" spc="-2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50" dirty="0">
                <a:solidFill>
                  <a:srgbClr val="3C3C3C"/>
                </a:solidFill>
                <a:latin typeface="Carlito"/>
                <a:cs typeface="Carlito"/>
              </a:rPr>
              <a:t>D</a:t>
            </a:r>
            <a:endParaRPr sz="2150">
              <a:latin typeface="Carlito"/>
              <a:cs typeface="Carlito"/>
            </a:endParaRPr>
          </a:p>
          <a:p>
            <a:pPr marL="204470">
              <a:lnSpc>
                <a:spcPts val="2305"/>
              </a:lnSpc>
            </a:pPr>
            <a:r>
              <a:rPr sz="2150" spc="-20" dirty="0">
                <a:solidFill>
                  <a:srgbClr val="3C3C3C"/>
                </a:solidFill>
                <a:latin typeface="Carlito"/>
                <a:cs typeface="Carlito"/>
              </a:rPr>
              <a:t>(multicast)</a:t>
            </a:r>
            <a:r>
              <a:rPr sz="215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25" dirty="0">
                <a:solidFill>
                  <a:srgbClr val="3C3C3C"/>
                </a:solidFill>
                <a:latin typeface="Carlito"/>
                <a:cs typeface="Carlito"/>
              </a:rPr>
              <a:t>and</a:t>
            </a:r>
            <a:endParaRPr sz="2150">
              <a:latin typeface="Carlito"/>
              <a:cs typeface="Carlito"/>
            </a:endParaRPr>
          </a:p>
          <a:p>
            <a:pPr marL="204470">
              <a:lnSpc>
                <a:spcPts val="2445"/>
              </a:lnSpc>
            </a:pP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E</a:t>
            </a:r>
            <a:r>
              <a:rPr sz="21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(reserved)</a:t>
            </a:r>
            <a:endParaRPr sz="2150">
              <a:latin typeface="Carlito"/>
              <a:cs typeface="Carlito"/>
            </a:endParaRPr>
          </a:p>
          <a:p>
            <a:pPr marL="203200" marR="1010919" indent="-200025">
              <a:lnSpc>
                <a:spcPts val="2300"/>
              </a:lnSpc>
              <a:spcBef>
                <a:spcPts val="1225"/>
              </a:spcBef>
              <a:buClr>
                <a:srgbClr val="E38311"/>
              </a:buClr>
              <a:buSzPct val="86046"/>
              <a:buAutoNum type="arabicPeriod" startAt="2"/>
              <a:tabLst>
                <a:tab pos="204470" algn="l"/>
              </a:tabLst>
            </a:pP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Does</a:t>
            </a:r>
            <a:r>
              <a:rPr sz="21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not</a:t>
            </a:r>
            <a:r>
              <a:rPr sz="21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send</a:t>
            </a:r>
            <a:r>
              <a:rPr sz="2150" spc="-20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subnet 	information</a:t>
            </a:r>
            <a:endParaRPr sz="2150">
              <a:latin typeface="Carlito"/>
              <a:cs typeface="Carlito"/>
            </a:endParaRPr>
          </a:p>
          <a:p>
            <a:pPr marL="198120" indent="-195580">
              <a:lnSpc>
                <a:spcPct val="100000"/>
              </a:lnSpc>
              <a:spcBef>
                <a:spcPts val="790"/>
              </a:spcBef>
              <a:buClr>
                <a:srgbClr val="E38311"/>
              </a:buClr>
              <a:buSzPct val="83720"/>
              <a:buAutoNum type="arabicPeriod" startAt="2"/>
              <a:tabLst>
                <a:tab pos="198120" algn="l"/>
              </a:tabLst>
            </a:pP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All</a:t>
            </a:r>
            <a:r>
              <a:rPr sz="2150" spc="-10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30" dirty="0">
                <a:solidFill>
                  <a:srgbClr val="3C3C3C"/>
                </a:solidFill>
                <a:latin typeface="Carlito"/>
                <a:cs typeface="Carlito"/>
              </a:rPr>
              <a:t>networks</a:t>
            </a:r>
            <a:r>
              <a:rPr sz="21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are</a:t>
            </a:r>
            <a:r>
              <a:rPr sz="215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1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same</a:t>
            </a:r>
            <a:r>
              <a:rPr sz="2150" spc="-1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solidFill>
                  <a:srgbClr val="3C3C3C"/>
                </a:solidFill>
                <a:latin typeface="Carlito"/>
                <a:cs typeface="Carlito"/>
              </a:rPr>
              <a:t>size</a:t>
            </a:r>
            <a:endParaRPr sz="2150">
              <a:latin typeface="Carlito"/>
              <a:cs typeface="Carlito"/>
            </a:endParaRPr>
          </a:p>
          <a:p>
            <a:pPr marL="216535" indent="-214629">
              <a:lnSpc>
                <a:spcPct val="100000"/>
              </a:lnSpc>
              <a:spcBef>
                <a:spcPts val="910"/>
              </a:spcBef>
              <a:buClr>
                <a:srgbClr val="E38311"/>
              </a:buClr>
              <a:buSzPct val="93023"/>
              <a:buAutoNum type="arabicPeriod" startAt="2"/>
              <a:tabLst>
                <a:tab pos="216535" algn="l"/>
              </a:tabLst>
            </a:pPr>
            <a:r>
              <a:rPr sz="2150" spc="-20" dirty="0">
                <a:solidFill>
                  <a:srgbClr val="3C3C3C"/>
                </a:solidFill>
                <a:latin typeface="Carlito"/>
                <a:cs typeface="Carlito"/>
              </a:rPr>
              <a:t>Have</a:t>
            </a:r>
            <a:r>
              <a:rPr sz="215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same</a:t>
            </a:r>
            <a:r>
              <a:rPr sz="21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solidFill>
                  <a:srgbClr val="3C3C3C"/>
                </a:solidFill>
                <a:latin typeface="Carlito"/>
                <a:cs typeface="Carlito"/>
              </a:rPr>
              <a:t>subnet</a:t>
            </a:r>
            <a:r>
              <a:rPr sz="2150" spc="-19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solidFill>
                  <a:srgbClr val="3C3C3C"/>
                </a:solidFill>
                <a:latin typeface="Carlito"/>
                <a:cs typeface="Carlito"/>
              </a:rPr>
              <a:t>mask</a:t>
            </a:r>
            <a:endParaRPr sz="21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7714" y="2132189"/>
            <a:ext cx="3798570" cy="329565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050"/>
              </a:spcBef>
            </a:pPr>
            <a:r>
              <a:rPr sz="2300" b="1" spc="-10" dirty="0">
                <a:solidFill>
                  <a:srgbClr val="616F52"/>
                </a:solidFill>
                <a:latin typeface="Carlito"/>
                <a:cs typeface="Carlito"/>
              </a:rPr>
              <a:t>C</a:t>
            </a:r>
            <a:r>
              <a:rPr sz="2300" b="1" u="heavy" spc="-10" dirty="0">
                <a:solidFill>
                  <a:srgbClr val="616F52"/>
                </a:solidFill>
                <a:uFill>
                  <a:solidFill>
                    <a:srgbClr val="616F52"/>
                  </a:solidFill>
                </a:uFill>
                <a:latin typeface="Carlito"/>
                <a:cs typeface="Carlito"/>
              </a:rPr>
              <a:t>LASSLESS</a:t>
            </a:r>
            <a:endParaRPr sz="2300">
              <a:latin typeface="Carlito"/>
              <a:cs typeface="Carlito"/>
            </a:endParaRPr>
          </a:p>
          <a:p>
            <a:pPr marL="204470" marR="80010" indent="-203200">
              <a:lnSpc>
                <a:spcPts val="2500"/>
              </a:lnSpc>
              <a:spcBef>
                <a:spcPts val="1250"/>
              </a:spcBef>
              <a:buSzPct val="84782"/>
              <a:buAutoNum type="arabicPeriod"/>
              <a:tabLst>
                <a:tab pos="204470" algn="l"/>
                <a:tab pos="210820" algn="l"/>
              </a:tabLst>
            </a:pPr>
            <a:r>
              <a:rPr sz="2300" dirty="0">
                <a:solidFill>
                  <a:srgbClr val="E38311"/>
                </a:solidFill>
                <a:latin typeface="Carlito"/>
                <a:cs typeface="Carlito"/>
              </a:rPr>
              <a:t>	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Also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known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as</a:t>
            </a:r>
            <a:r>
              <a:rPr sz="23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CIDR</a:t>
            </a:r>
            <a:r>
              <a:rPr sz="2300" spc="-1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(Classless 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Inter-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Domain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Routing)</a:t>
            </a:r>
            <a:endParaRPr sz="2300">
              <a:latin typeface="Carlito"/>
              <a:cs typeface="Carlito"/>
            </a:endParaRPr>
          </a:p>
          <a:p>
            <a:pPr marL="213995" indent="-213995">
              <a:lnSpc>
                <a:spcPct val="100000"/>
              </a:lnSpc>
              <a:spcBef>
                <a:spcPts val="509"/>
              </a:spcBef>
              <a:buClr>
                <a:srgbClr val="E38311"/>
              </a:buClr>
              <a:buSzPct val="86956"/>
              <a:buAutoNum type="arabicPeriod"/>
              <a:tabLst>
                <a:tab pos="213995" algn="l"/>
              </a:tabLst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Sends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subnet</a:t>
            </a:r>
            <a:r>
              <a:rPr sz="23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information</a:t>
            </a:r>
            <a:endParaRPr sz="2300">
              <a:latin typeface="Carlito"/>
              <a:cs typeface="Carlito"/>
            </a:endParaRPr>
          </a:p>
          <a:p>
            <a:pPr marL="223520" indent="-223520">
              <a:lnSpc>
                <a:spcPct val="100000"/>
              </a:lnSpc>
              <a:spcBef>
                <a:spcPts val="720"/>
              </a:spcBef>
              <a:buClr>
                <a:srgbClr val="E38311"/>
              </a:buClr>
              <a:buSzPct val="91304"/>
              <a:buAutoNum type="arabicPeriod"/>
              <a:tabLst>
                <a:tab pos="223520" algn="l"/>
              </a:tabLst>
            </a:pP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23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can</a:t>
            </a:r>
            <a:r>
              <a:rPr sz="23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be</a:t>
            </a:r>
            <a:r>
              <a:rPr sz="23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45" dirty="0">
                <a:solidFill>
                  <a:srgbClr val="3C3C3C"/>
                </a:solidFill>
                <a:latin typeface="Carlito"/>
                <a:cs typeface="Carlito"/>
              </a:rPr>
              <a:t>different</a:t>
            </a:r>
            <a:r>
              <a:rPr sz="2300" spc="-10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sizes</a:t>
            </a:r>
            <a:endParaRPr sz="2300">
              <a:latin typeface="Carlito"/>
              <a:cs typeface="Carlito"/>
            </a:endParaRPr>
          </a:p>
          <a:p>
            <a:pPr marL="232410" indent="-228600">
              <a:lnSpc>
                <a:spcPct val="100000"/>
              </a:lnSpc>
              <a:spcBef>
                <a:spcPts val="720"/>
              </a:spcBef>
              <a:buClr>
                <a:srgbClr val="E38311"/>
              </a:buClr>
              <a:buSzPct val="93478"/>
              <a:buAutoNum type="arabicPeriod"/>
              <a:tabLst>
                <a:tab pos="232410" algn="l"/>
              </a:tabLst>
            </a:pP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Networks</a:t>
            </a:r>
            <a:r>
              <a:rPr sz="2300" spc="-10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can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have</a:t>
            </a:r>
            <a:r>
              <a:rPr sz="23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different</a:t>
            </a:r>
            <a:endParaRPr sz="2300">
              <a:latin typeface="Carlito"/>
              <a:cs typeface="Carlito"/>
            </a:endParaRPr>
          </a:p>
          <a:p>
            <a:pPr marL="204470" marR="5080">
              <a:lnSpc>
                <a:spcPts val="2500"/>
              </a:lnSpc>
              <a:spcBef>
                <a:spcPts val="600"/>
              </a:spcBef>
            </a:pP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subnet</a:t>
            </a:r>
            <a:r>
              <a:rPr sz="2300" spc="-10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masks</a:t>
            </a:r>
            <a:r>
              <a:rPr sz="2300" spc="-9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using</a:t>
            </a:r>
            <a:r>
              <a:rPr sz="2300" spc="-9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VLSM 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(Variable</a:t>
            </a:r>
            <a:r>
              <a:rPr sz="2300" spc="-9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Length</a:t>
            </a:r>
            <a:r>
              <a:rPr sz="23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Subnet</a:t>
            </a:r>
            <a:r>
              <a:rPr sz="2300" spc="-1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Mask)</a:t>
            </a:r>
            <a:endParaRPr sz="23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37446" y="6351523"/>
            <a:ext cx="14986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50" dirty="0">
                <a:latin typeface="Times New Roman"/>
                <a:cs typeface="Times New Roman"/>
              </a:rPr>
              <a:t>5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83452"/>
            <a:ext cx="10058399" cy="4328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>
                <a:moveTo>
                  <a:pt x="0" y="0"/>
                </a:moveTo>
                <a:lnTo>
                  <a:pt x="8223123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Network</a:t>
            </a:r>
            <a:r>
              <a:rPr lang="en-US" spc="-135" dirty="0"/>
              <a:t> </a:t>
            </a:r>
            <a:r>
              <a:rPr spc="-135" dirty="0"/>
              <a:t>&amp;</a:t>
            </a:r>
            <a:r>
              <a:rPr spc="-545" dirty="0"/>
              <a:t> </a:t>
            </a:r>
            <a:r>
              <a:rPr spc="-135" dirty="0"/>
              <a:t>Host</a:t>
            </a:r>
            <a:r>
              <a:rPr lang="en-US" spc="-135" dirty="0"/>
              <a:t> </a:t>
            </a:r>
            <a:r>
              <a:rPr spc="-810" dirty="0"/>
              <a:t> </a:t>
            </a:r>
            <a:r>
              <a:rPr spc="-165" dirty="0"/>
              <a:t>N</a:t>
            </a:r>
            <a:r>
              <a:rPr spc="-160" dirty="0"/>
              <a:t>u</a:t>
            </a:r>
            <a:r>
              <a:rPr spc="-165" dirty="0"/>
              <a:t>m</a:t>
            </a:r>
            <a:r>
              <a:rPr spc="-170" dirty="0"/>
              <a:t>b</a:t>
            </a:r>
            <a:r>
              <a:rPr spc="-165" dirty="0"/>
              <a:t>e</a:t>
            </a:r>
            <a:r>
              <a:rPr spc="340" dirty="0"/>
              <a:t>r</a:t>
            </a:r>
            <a:r>
              <a:rPr lang="en-US" spc="340" dirty="0"/>
              <a:t> </a:t>
            </a:r>
            <a:r>
              <a:rPr spc="-200" dirty="0"/>
              <a:t>F</a:t>
            </a:r>
            <a:r>
              <a:rPr spc="-195" dirty="0"/>
              <a:t>o</a:t>
            </a:r>
            <a:r>
              <a:rPr spc="-200" dirty="0"/>
              <a:t>r</a:t>
            </a:r>
            <a:r>
              <a:rPr spc="-195" dirty="0"/>
              <a:t>m</a:t>
            </a:r>
            <a:r>
              <a:rPr spc="-200" dirty="0"/>
              <a:t>u</a:t>
            </a:r>
            <a:r>
              <a:rPr spc="-195" dirty="0"/>
              <a:t>l</a:t>
            </a:r>
            <a:r>
              <a:rPr spc="-210" dirty="0"/>
              <a:t>a</a:t>
            </a:r>
            <a:r>
              <a:rPr spc="10"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22297" y="3854043"/>
            <a:ext cx="6692900" cy="21348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formulas</a:t>
            </a:r>
            <a:r>
              <a:rPr sz="2300" spc="-10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are</a:t>
            </a:r>
            <a:r>
              <a:rPr sz="2300" spc="-8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default</a:t>
            </a:r>
            <a:r>
              <a:rPr sz="23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configuration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2300" spc="-9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each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class:</a:t>
            </a:r>
            <a:endParaRPr sz="23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300" b="1" dirty="0">
                <a:solidFill>
                  <a:srgbClr val="E38311"/>
                </a:solidFill>
                <a:latin typeface="Carlito"/>
                <a:cs typeface="Carlito"/>
              </a:rPr>
              <a:t>1.</a:t>
            </a:r>
            <a:r>
              <a:rPr sz="2300" b="1" dirty="0">
                <a:solidFill>
                  <a:srgbClr val="3C3C3C"/>
                </a:solidFill>
                <a:latin typeface="Carlito"/>
                <a:cs typeface="Carlito"/>
              </a:rPr>
              <a:t>N</a:t>
            </a:r>
            <a:r>
              <a:rPr sz="2300" b="1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dirty="0">
                <a:solidFill>
                  <a:srgbClr val="3C3C3C"/>
                </a:solidFill>
                <a:latin typeface="Carlito"/>
                <a:cs typeface="Carlito"/>
              </a:rPr>
              <a:t>=</a:t>
            </a:r>
            <a:r>
              <a:rPr sz="2300" b="1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2300" b="1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Number</a:t>
            </a:r>
            <a:endParaRPr sz="2300">
              <a:latin typeface="Carlito"/>
              <a:cs typeface="Carlito"/>
            </a:endParaRPr>
          </a:p>
          <a:p>
            <a:pPr marL="532130" indent="-212090">
              <a:lnSpc>
                <a:spcPct val="100000"/>
              </a:lnSpc>
              <a:spcBef>
                <a:spcPts val="35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800" spc="-9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American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Registry</a:t>
            </a:r>
            <a:r>
              <a:rPr sz="18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Internet</a:t>
            </a:r>
            <a:r>
              <a:rPr sz="1800" spc="-8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Numbers</a:t>
            </a:r>
            <a:r>
              <a:rPr sz="1800" spc="1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(ARIN)</a:t>
            </a:r>
            <a:endParaRPr sz="1800">
              <a:latin typeface="Carlito"/>
              <a:cs typeface="Carlito"/>
            </a:endParaRPr>
          </a:p>
          <a:p>
            <a:pPr marL="532130" indent="-212090">
              <a:lnSpc>
                <a:spcPct val="100000"/>
              </a:lnSpc>
              <a:spcBef>
                <a:spcPts val="95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spc="-30" dirty="0">
                <a:solidFill>
                  <a:srgbClr val="3C3C3C"/>
                </a:solidFill>
                <a:latin typeface="Carlito"/>
                <a:cs typeface="Carlito"/>
              </a:rPr>
              <a:t>Administrator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has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no</a:t>
            </a:r>
            <a:r>
              <a:rPr sz="180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control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over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this part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80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10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300" b="1" dirty="0">
                <a:solidFill>
                  <a:srgbClr val="E38311"/>
                </a:solidFill>
                <a:latin typeface="Carlito"/>
                <a:cs typeface="Carlito"/>
              </a:rPr>
              <a:t>2.</a:t>
            </a:r>
            <a:r>
              <a:rPr sz="2300" b="1" dirty="0">
                <a:solidFill>
                  <a:srgbClr val="3C3C3C"/>
                </a:solidFill>
                <a:latin typeface="Carlito"/>
                <a:cs typeface="Carlito"/>
              </a:rPr>
              <a:t>H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dirty="0">
                <a:solidFill>
                  <a:srgbClr val="3C3C3C"/>
                </a:solidFill>
                <a:latin typeface="Carlito"/>
                <a:cs typeface="Carlito"/>
              </a:rPr>
              <a:t>=</a:t>
            </a:r>
            <a:r>
              <a:rPr sz="2300" b="1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2300" b="1" spc="-9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Number</a:t>
            </a:r>
            <a:endParaRPr sz="2300">
              <a:latin typeface="Carlito"/>
              <a:cs typeface="Carlito"/>
            </a:endParaRPr>
          </a:p>
          <a:p>
            <a:pPr marL="532130" indent="-212090">
              <a:lnSpc>
                <a:spcPct val="100000"/>
              </a:lnSpc>
              <a:spcBef>
                <a:spcPts val="35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and</a:t>
            </a:r>
            <a:r>
              <a:rPr sz="18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controlled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administrator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7544" y="2499360"/>
            <a:ext cx="1018032" cy="833627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35860" y="2487676"/>
          <a:ext cx="5090794" cy="1445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7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145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Byte</a:t>
                      </a:r>
                      <a:endParaRPr sz="1450">
                        <a:latin typeface="Carlito"/>
                        <a:cs typeface="Carlito"/>
                      </a:endParaRPr>
                    </a:p>
                    <a:p>
                      <a:pPr marL="292735">
                        <a:lnSpc>
                          <a:spcPct val="100000"/>
                        </a:lnSpc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8</a:t>
                      </a:r>
                      <a:r>
                        <a:rPr sz="145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145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Byte</a:t>
                      </a:r>
                      <a:endParaRPr sz="1450">
                        <a:latin typeface="Carlito"/>
                        <a:cs typeface="Carlito"/>
                      </a:endParaRPr>
                    </a:p>
                    <a:p>
                      <a:pPr marL="292735">
                        <a:lnSpc>
                          <a:spcPct val="100000"/>
                        </a:lnSpc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8</a:t>
                      </a:r>
                      <a:r>
                        <a:rPr sz="145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145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Byte</a:t>
                      </a:r>
                      <a:endParaRPr sz="1450">
                        <a:latin typeface="Carlito"/>
                        <a:cs typeface="Carlito"/>
                      </a:endParaRPr>
                    </a:p>
                    <a:p>
                      <a:pPr marL="291465">
                        <a:lnSpc>
                          <a:spcPct val="100000"/>
                        </a:lnSpc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8</a:t>
                      </a:r>
                      <a:r>
                        <a:rPr sz="145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145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Byte</a:t>
                      </a:r>
                      <a:endParaRPr sz="1450">
                        <a:latin typeface="Carlito"/>
                        <a:cs typeface="Carlito"/>
                      </a:endParaRPr>
                    </a:p>
                    <a:p>
                      <a:pPr marL="291465">
                        <a:lnSpc>
                          <a:spcPct val="100000"/>
                        </a:lnSpc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8</a:t>
                      </a:r>
                      <a:r>
                        <a:rPr sz="145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b="1" dirty="0">
                          <a:latin typeface="Carlito"/>
                          <a:cs typeface="Carlito"/>
                        </a:rPr>
                        <a:t>Class</a:t>
                      </a:r>
                      <a:r>
                        <a:rPr sz="1450" b="1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50" dirty="0">
                          <a:latin typeface="Carlito"/>
                          <a:cs typeface="Carlito"/>
                        </a:rPr>
                        <a:t>A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N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H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H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H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latin typeface="Carlito"/>
                          <a:cs typeface="Carlito"/>
                        </a:rPr>
                        <a:t>Class</a:t>
                      </a:r>
                      <a:r>
                        <a:rPr sz="1450" b="1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50" dirty="0">
                          <a:latin typeface="Carlito"/>
                          <a:cs typeface="Carlito"/>
                        </a:rPr>
                        <a:t>B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N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N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H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H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latin typeface="Carlito"/>
                          <a:cs typeface="Carlito"/>
                        </a:rPr>
                        <a:t>Class</a:t>
                      </a:r>
                      <a:r>
                        <a:rPr sz="1450" b="1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50" dirty="0">
                          <a:latin typeface="Carlito"/>
                          <a:cs typeface="Carlito"/>
                        </a:rPr>
                        <a:t>C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N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N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N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spc="-50" dirty="0">
                          <a:latin typeface="Carlito"/>
                          <a:cs typeface="Carlito"/>
                        </a:rPr>
                        <a:t>H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4248150" y="2854451"/>
            <a:ext cx="188595" cy="92710"/>
            <a:chOff x="4248150" y="2854451"/>
            <a:chExt cx="188595" cy="92710"/>
          </a:xfrm>
        </p:grpSpPr>
        <p:sp>
          <p:nvSpPr>
            <p:cNvPr id="9" name="object 9"/>
            <p:cNvSpPr/>
            <p:nvPr/>
          </p:nvSpPr>
          <p:spPr>
            <a:xfrm>
              <a:off x="4248150" y="2902457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41876" y="2854451"/>
              <a:ext cx="94615" cy="92710"/>
            </a:xfrm>
            <a:custGeom>
              <a:avLst/>
              <a:gdLst/>
              <a:ahLst/>
              <a:cxnLst/>
              <a:rect l="l" t="t" r="r" b="b"/>
              <a:pathLst>
                <a:path w="94614" h="92710">
                  <a:moveTo>
                    <a:pt x="0" y="0"/>
                  </a:moveTo>
                  <a:lnTo>
                    <a:pt x="0" y="92583"/>
                  </a:lnTo>
                  <a:lnTo>
                    <a:pt x="94361" y="46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529584" y="2854451"/>
            <a:ext cx="189230" cy="92710"/>
            <a:chOff x="3529584" y="2854451"/>
            <a:chExt cx="189230" cy="92710"/>
          </a:xfrm>
        </p:grpSpPr>
        <p:sp>
          <p:nvSpPr>
            <p:cNvPr id="12" name="object 12"/>
            <p:cNvSpPr/>
            <p:nvPr/>
          </p:nvSpPr>
          <p:spPr>
            <a:xfrm>
              <a:off x="3608070" y="2902457"/>
              <a:ext cx="111125" cy="0"/>
            </a:xfrm>
            <a:custGeom>
              <a:avLst/>
              <a:gdLst/>
              <a:ahLst/>
              <a:cxnLst/>
              <a:rect l="l" t="t" r="r" b="b"/>
              <a:pathLst>
                <a:path w="111125">
                  <a:moveTo>
                    <a:pt x="110743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29584" y="2854451"/>
              <a:ext cx="94615" cy="92710"/>
            </a:xfrm>
            <a:custGeom>
              <a:avLst/>
              <a:gdLst/>
              <a:ahLst/>
              <a:cxnLst/>
              <a:rect l="l" t="t" r="r" b="b"/>
              <a:pathLst>
                <a:path w="94614" h="92710">
                  <a:moveTo>
                    <a:pt x="94361" y="0"/>
                  </a:moveTo>
                  <a:lnTo>
                    <a:pt x="0" y="46989"/>
                  </a:lnTo>
                  <a:lnTo>
                    <a:pt x="94361" y="92583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297673" y="2846832"/>
            <a:ext cx="186690" cy="94615"/>
            <a:chOff x="7297673" y="2846832"/>
            <a:chExt cx="186690" cy="94615"/>
          </a:xfrm>
        </p:grpSpPr>
        <p:sp>
          <p:nvSpPr>
            <p:cNvPr id="15" name="object 15"/>
            <p:cNvSpPr/>
            <p:nvPr/>
          </p:nvSpPr>
          <p:spPr>
            <a:xfrm>
              <a:off x="7297673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89875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>
                  <a:moveTo>
                    <a:pt x="0" y="0"/>
                  </a:moveTo>
                  <a:lnTo>
                    <a:pt x="0" y="94360"/>
                  </a:lnTo>
                  <a:lnTo>
                    <a:pt x="94360" y="47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577583" y="2846832"/>
            <a:ext cx="189865" cy="94615"/>
            <a:chOff x="6577583" y="2846832"/>
            <a:chExt cx="189865" cy="94615"/>
          </a:xfrm>
        </p:grpSpPr>
        <p:sp>
          <p:nvSpPr>
            <p:cNvPr id="18" name="object 18"/>
            <p:cNvSpPr/>
            <p:nvPr/>
          </p:nvSpPr>
          <p:spPr>
            <a:xfrm>
              <a:off x="6657593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77583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>
                  <a:moveTo>
                    <a:pt x="94361" y="0"/>
                  </a:moveTo>
                  <a:lnTo>
                    <a:pt x="0" y="47243"/>
                  </a:lnTo>
                  <a:lnTo>
                    <a:pt x="94361" y="94360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278117" y="2846832"/>
            <a:ext cx="188595" cy="94615"/>
            <a:chOff x="6278117" y="2846832"/>
            <a:chExt cx="188595" cy="94615"/>
          </a:xfrm>
        </p:grpSpPr>
        <p:sp>
          <p:nvSpPr>
            <p:cNvPr id="21" name="object 21"/>
            <p:cNvSpPr/>
            <p:nvPr/>
          </p:nvSpPr>
          <p:spPr>
            <a:xfrm>
              <a:off x="6278117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0" y="0"/>
                  </a:moveTo>
                  <a:lnTo>
                    <a:pt x="109601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71843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0" y="94360"/>
                  </a:lnTo>
                  <a:lnTo>
                    <a:pt x="94360" y="47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559552" y="2846832"/>
            <a:ext cx="189865" cy="94615"/>
            <a:chOff x="5559552" y="2846832"/>
            <a:chExt cx="189865" cy="94615"/>
          </a:xfrm>
        </p:grpSpPr>
        <p:sp>
          <p:nvSpPr>
            <p:cNvPr id="24" name="object 24"/>
            <p:cNvSpPr/>
            <p:nvPr/>
          </p:nvSpPr>
          <p:spPr>
            <a:xfrm>
              <a:off x="5639562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59552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361" y="0"/>
                  </a:moveTo>
                  <a:lnTo>
                    <a:pt x="0" y="47243"/>
                  </a:lnTo>
                  <a:lnTo>
                    <a:pt x="94361" y="94360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258561" y="2846832"/>
            <a:ext cx="188595" cy="94615"/>
            <a:chOff x="5258561" y="2846832"/>
            <a:chExt cx="188595" cy="94615"/>
          </a:xfrm>
        </p:grpSpPr>
        <p:sp>
          <p:nvSpPr>
            <p:cNvPr id="27" name="object 27"/>
            <p:cNvSpPr/>
            <p:nvPr/>
          </p:nvSpPr>
          <p:spPr>
            <a:xfrm>
              <a:off x="5258561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2287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0" y="94360"/>
                  </a:lnTo>
                  <a:lnTo>
                    <a:pt x="94361" y="47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552188" y="2846832"/>
            <a:ext cx="188595" cy="94615"/>
            <a:chOff x="4552188" y="2846832"/>
            <a:chExt cx="188595" cy="94615"/>
          </a:xfrm>
        </p:grpSpPr>
        <p:sp>
          <p:nvSpPr>
            <p:cNvPr id="30" name="object 30"/>
            <p:cNvSpPr/>
            <p:nvPr/>
          </p:nvSpPr>
          <p:spPr>
            <a:xfrm>
              <a:off x="4630674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52188" y="2846832"/>
              <a:ext cx="92710" cy="94615"/>
            </a:xfrm>
            <a:custGeom>
              <a:avLst/>
              <a:gdLst/>
              <a:ahLst/>
              <a:cxnLst/>
              <a:rect l="l" t="t" r="r" b="b"/>
              <a:pathLst>
                <a:path w="92710" h="94614">
                  <a:moveTo>
                    <a:pt x="92583" y="0"/>
                  </a:moveTo>
                  <a:lnTo>
                    <a:pt x="0" y="47243"/>
                  </a:lnTo>
                  <a:lnTo>
                    <a:pt x="92583" y="94360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83452"/>
            <a:ext cx="10058399" cy="4328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>
                <a:moveTo>
                  <a:pt x="0" y="0"/>
                </a:moveTo>
                <a:lnTo>
                  <a:pt x="8223123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Class</a:t>
            </a:r>
            <a:r>
              <a:rPr lang="en-US" spc="-180" dirty="0"/>
              <a:t> </a:t>
            </a:r>
            <a:r>
              <a:rPr spc="-690" dirty="0"/>
              <a:t> </a:t>
            </a:r>
            <a:r>
              <a:rPr dirty="0"/>
              <a:t>A</a:t>
            </a:r>
            <a:r>
              <a:rPr lang="en-US" dirty="0"/>
              <a:t> </a:t>
            </a:r>
            <a:r>
              <a:rPr spc="-800" dirty="0"/>
              <a:t> </a:t>
            </a:r>
            <a:r>
              <a:rPr spc="-155" dirty="0"/>
              <a:t>Addresses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95882" y="3382672"/>
            <a:ext cx="6640195" cy="25463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29870" indent="-191770">
              <a:lnSpc>
                <a:spcPct val="100000"/>
              </a:lnSpc>
              <a:spcBef>
                <a:spcPts val="260"/>
              </a:spcBef>
              <a:buClr>
                <a:srgbClr val="E38311"/>
              </a:buClr>
              <a:buAutoNum type="arabicPeriod"/>
              <a:tabLst>
                <a:tab pos="229870" algn="l"/>
              </a:tabLst>
            </a:pPr>
            <a:r>
              <a:rPr sz="1450" spc="-20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145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octet</a:t>
            </a:r>
            <a:r>
              <a:rPr sz="14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only</a:t>
            </a:r>
            <a:r>
              <a:rPr sz="145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identifies</a:t>
            </a:r>
            <a:r>
              <a:rPr sz="1450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4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1450">
              <a:latin typeface="Carlito"/>
              <a:cs typeface="Carlito"/>
            </a:endParaRPr>
          </a:p>
          <a:p>
            <a:pPr marL="229870" indent="-191770">
              <a:lnSpc>
                <a:spcPts val="1675"/>
              </a:lnSpc>
              <a:spcBef>
                <a:spcPts val="160"/>
              </a:spcBef>
              <a:buClr>
                <a:srgbClr val="E38311"/>
              </a:buClr>
              <a:buAutoNum type="arabicPeriod"/>
              <a:tabLst>
                <a:tab pos="229870" algn="l"/>
              </a:tabLst>
            </a:pP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When</a:t>
            </a:r>
            <a:r>
              <a:rPr sz="145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written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450" spc="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binary</a:t>
            </a:r>
            <a:r>
              <a:rPr sz="1450" spc="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format,</a:t>
            </a:r>
            <a:r>
              <a:rPr sz="14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450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20" dirty="0">
                <a:solidFill>
                  <a:srgbClr val="3C3C3C"/>
                </a:solidFill>
                <a:latin typeface="Carlito"/>
                <a:cs typeface="Carlito"/>
              </a:rPr>
              <a:t>first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(leftmost)</a:t>
            </a:r>
            <a:r>
              <a:rPr sz="145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bit</a:t>
            </a:r>
            <a:r>
              <a:rPr sz="145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450" spc="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4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450" spc="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4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is</a:t>
            </a:r>
            <a:r>
              <a:rPr sz="145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always</a:t>
            </a:r>
            <a:endParaRPr sz="1450">
              <a:latin typeface="Carlito"/>
              <a:cs typeface="Carlito"/>
            </a:endParaRPr>
          </a:p>
          <a:p>
            <a:pPr marL="231140">
              <a:lnSpc>
                <a:spcPts val="1675"/>
              </a:lnSpc>
            </a:pPr>
            <a:r>
              <a:rPr sz="1450" b="1" dirty="0">
                <a:solidFill>
                  <a:srgbClr val="3C3C3C"/>
                </a:solidFill>
                <a:latin typeface="Carlito"/>
                <a:cs typeface="Carlito"/>
              </a:rPr>
              <a:t>0</a:t>
            </a:r>
            <a:r>
              <a:rPr sz="1450" b="1" spc="-10" dirty="0">
                <a:solidFill>
                  <a:srgbClr val="3C3C3C"/>
                </a:solidFill>
                <a:latin typeface="Carlito"/>
                <a:cs typeface="Carlito"/>
              </a:rPr>
              <a:t> (zero)</a:t>
            </a:r>
            <a:endParaRPr sz="1450">
              <a:latin typeface="Carlito"/>
              <a:cs typeface="Carlito"/>
            </a:endParaRPr>
          </a:p>
          <a:p>
            <a:pPr marL="230504" indent="-192405">
              <a:lnSpc>
                <a:spcPct val="100000"/>
              </a:lnSpc>
              <a:spcBef>
                <a:spcPts val="695"/>
              </a:spcBef>
              <a:buClr>
                <a:srgbClr val="E38311"/>
              </a:buClr>
              <a:buAutoNum type="arabicPeriod" startAt="3"/>
              <a:tabLst>
                <a:tab pos="230504" algn="l"/>
              </a:tabLst>
            </a:pP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450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450" spc="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450" spc="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450" spc="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20" dirty="0">
                <a:solidFill>
                  <a:srgbClr val="3C3C3C"/>
                </a:solidFill>
                <a:latin typeface="Carlito"/>
                <a:cs typeface="Carlito"/>
              </a:rPr>
              <a:t>example:</a:t>
            </a:r>
            <a:r>
              <a:rPr sz="1450" spc="-10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124.95.44.15</a:t>
            </a:r>
            <a:endParaRPr sz="1450">
              <a:latin typeface="Carlito"/>
              <a:cs typeface="Carlito"/>
            </a:endParaRPr>
          </a:p>
          <a:p>
            <a:pPr marL="230504" indent="-192405">
              <a:lnSpc>
                <a:spcPct val="100000"/>
              </a:lnSpc>
              <a:spcBef>
                <a:spcPts val="695"/>
              </a:spcBef>
              <a:buClr>
                <a:srgbClr val="E38311"/>
              </a:buClr>
              <a:buAutoNum type="arabicPeriod" startAt="3"/>
              <a:tabLst>
                <a:tab pos="230504" algn="l"/>
              </a:tabLst>
            </a:pP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Range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from</a:t>
            </a:r>
            <a:r>
              <a:rPr sz="14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b="1" spc="-10" dirty="0">
                <a:solidFill>
                  <a:srgbClr val="3C3C3C"/>
                </a:solidFill>
                <a:latin typeface="Carlito"/>
                <a:cs typeface="Carlito"/>
              </a:rPr>
              <a:t>1-</a:t>
            </a:r>
            <a:r>
              <a:rPr sz="1450" b="1" dirty="0">
                <a:solidFill>
                  <a:srgbClr val="3C3C3C"/>
                </a:solidFill>
                <a:latin typeface="Carlito"/>
                <a:cs typeface="Carlito"/>
              </a:rPr>
              <a:t>126</a:t>
            </a:r>
            <a:r>
              <a:rPr sz="1450" b="1" spc="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450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their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25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1450" spc="-8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20" dirty="0">
                <a:solidFill>
                  <a:srgbClr val="3C3C3C"/>
                </a:solidFill>
                <a:latin typeface="Carlito"/>
                <a:cs typeface="Carlito"/>
              </a:rPr>
              <a:t>octet</a:t>
            </a:r>
            <a:endParaRPr sz="1450">
              <a:latin typeface="Carlito"/>
              <a:cs typeface="Carlito"/>
            </a:endParaRPr>
          </a:p>
          <a:p>
            <a:pPr marL="230504" indent="-192405">
              <a:lnSpc>
                <a:spcPct val="100000"/>
              </a:lnSpc>
              <a:spcBef>
                <a:spcPts val="600"/>
              </a:spcBef>
              <a:buClr>
                <a:srgbClr val="E38311"/>
              </a:buClr>
              <a:buAutoNum type="arabicPeriod" startAt="3"/>
              <a:tabLst>
                <a:tab pos="230504" algn="l"/>
              </a:tabLst>
            </a:pP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127</a:t>
            </a:r>
            <a:r>
              <a:rPr sz="1450" spc="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is</a:t>
            </a:r>
            <a:r>
              <a:rPr sz="145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part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45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450" spc="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450" spc="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20" dirty="0">
                <a:solidFill>
                  <a:srgbClr val="3C3C3C"/>
                </a:solidFill>
                <a:latin typeface="Carlito"/>
                <a:cs typeface="Carlito"/>
              </a:rPr>
              <a:t>range</a:t>
            </a:r>
            <a:r>
              <a:rPr sz="145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but</a:t>
            </a:r>
            <a:r>
              <a:rPr sz="1450" spc="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has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been</a:t>
            </a:r>
            <a:r>
              <a:rPr sz="1450" spc="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reserved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45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loopback</a:t>
            </a:r>
            <a:r>
              <a:rPr sz="14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testing</a:t>
            </a:r>
            <a:endParaRPr sz="1450">
              <a:latin typeface="Carlito"/>
              <a:cs typeface="Carlito"/>
            </a:endParaRPr>
          </a:p>
          <a:p>
            <a:pPr marL="229870" indent="-191770">
              <a:lnSpc>
                <a:spcPct val="100000"/>
              </a:lnSpc>
              <a:spcBef>
                <a:spcPts val="710"/>
              </a:spcBef>
              <a:buClr>
                <a:srgbClr val="E38311"/>
              </a:buClr>
              <a:buAutoNum type="arabicPeriod" startAt="3"/>
              <a:tabLst>
                <a:tab pos="229870" algn="l"/>
              </a:tabLst>
            </a:pP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Zero</a:t>
            </a:r>
            <a:r>
              <a:rPr sz="14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(0)</a:t>
            </a:r>
            <a:r>
              <a:rPr sz="1450" spc="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can’t</a:t>
            </a:r>
            <a:r>
              <a:rPr sz="145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be</a:t>
            </a:r>
            <a:r>
              <a:rPr sz="145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2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endParaRPr sz="1450">
              <a:latin typeface="Carlito"/>
              <a:cs typeface="Carlito"/>
            </a:endParaRPr>
          </a:p>
          <a:p>
            <a:pPr marL="230504" indent="-192405">
              <a:lnSpc>
                <a:spcPct val="100000"/>
              </a:lnSpc>
              <a:spcBef>
                <a:spcPts val="695"/>
              </a:spcBef>
              <a:buClr>
                <a:srgbClr val="E38311"/>
              </a:buClr>
              <a:buAutoNum type="arabicPeriod" startAt="3"/>
              <a:tabLst>
                <a:tab pos="230504" algn="l"/>
              </a:tabLst>
            </a:pP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Remaining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 three</a:t>
            </a:r>
            <a:r>
              <a:rPr sz="145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octets</a:t>
            </a:r>
            <a:r>
              <a:rPr sz="14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can</a:t>
            </a:r>
            <a:r>
              <a:rPr sz="145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be</a:t>
            </a:r>
            <a:r>
              <a:rPr sz="14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450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4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450" spc="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14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portion</a:t>
            </a:r>
            <a:r>
              <a:rPr sz="14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4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450" spc="19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450">
              <a:latin typeface="Carlito"/>
              <a:cs typeface="Carlito"/>
            </a:endParaRPr>
          </a:p>
          <a:p>
            <a:pPr marL="230504" indent="-192405">
              <a:lnSpc>
                <a:spcPct val="100000"/>
              </a:lnSpc>
              <a:spcBef>
                <a:spcPts val="600"/>
              </a:spcBef>
              <a:buClr>
                <a:srgbClr val="E38311"/>
              </a:buClr>
              <a:buAutoNum type="arabicPeriod" startAt="3"/>
              <a:tabLst>
                <a:tab pos="230504" algn="l"/>
              </a:tabLst>
            </a:pP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2</a:t>
            </a:r>
            <a:r>
              <a:rPr sz="1500" baseline="16666" dirty="0">
                <a:solidFill>
                  <a:srgbClr val="3C3C3C"/>
                </a:solidFill>
                <a:latin typeface="Carlito"/>
                <a:cs typeface="Carlito"/>
              </a:rPr>
              <a:t>24</a:t>
            </a:r>
            <a:r>
              <a:rPr sz="1500" spc="44" baseline="16666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or</a:t>
            </a:r>
            <a:r>
              <a:rPr sz="145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16,777,216,</a:t>
            </a:r>
            <a:r>
              <a:rPr sz="14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possible</a:t>
            </a:r>
            <a:r>
              <a:rPr sz="14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45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addresses</a:t>
            </a:r>
            <a:r>
              <a:rPr sz="14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per</a:t>
            </a:r>
            <a:r>
              <a:rPr sz="1450" spc="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dirty="0">
                <a:solidFill>
                  <a:srgbClr val="3C3C3C"/>
                </a:solidFill>
                <a:latin typeface="Carlito"/>
                <a:cs typeface="Carlito"/>
              </a:rPr>
              <a:t>class A</a:t>
            </a:r>
            <a:r>
              <a:rPr sz="14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5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1450">
              <a:latin typeface="Carlito"/>
              <a:cs typeface="Carlit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624835" y="2487676"/>
          <a:ext cx="4526279" cy="916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070">
                <a:tc gridSpan="4"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Class</a:t>
                      </a:r>
                      <a:r>
                        <a:rPr sz="1450" b="1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A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dirty="0">
                          <a:latin typeface="Carlito"/>
                          <a:cs typeface="Carlito"/>
                        </a:rPr>
                        <a:t>8</a:t>
                      </a:r>
                      <a:r>
                        <a:rPr sz="145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spc="-20" dirty="0"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dirty="0">
                          <a:latin typeface="Carlito"/>
                          <a:cs typeface="Carlito"/>
                        </a:rPr>
                        <a:t>24</a:t>
                      </a:r>
                      <a:r>
                        <a:rPr sz="1450" spc="-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spc="-20" dirty="0"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10" dirty="0">
                          <a:latin typeface="Carlito"/>
                          <a:cs typeface="Carlito"/>
                        </a:rPr>
                        <a:t>Network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20" dirty="0">
                          <a:latin typeface="Carlito"/>
                          <a:cs typeface="Carlito"/>
                        </a:rPr>
                        <a:t>Host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20" dirty="0">
                          <a:latin typeface="Carlito"/>
                          <a:cs typeface="Carlito"/>
                        </a:rPr>
                        <a:t>Host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20" dirty="0">
                          <a:latin typeface="Carlito"/>
                          <a:cs typeface="Carlito"/>
                        </a:rPr>
                        <a:t>Host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848350" y="2897123"/>
            <a:ext cx="1194435" cy="94615"/>
            <a:chOff x="5848350" y="2897123"/>
            <a:chExt cx="1194435" cy="94615"/>
          </a:xfrm>
        </p:grpSpPr>
        <p:sp>
          <p:nvSpPr>
            <p:cNvPr id="8" name="object 8"/>
            <p:cNvSpPr/>
            <p:nvPr/>
          </p:nvSpPr>
          <p:spPr>
            <a:xfrm>
              <a:off x="5848350" y="2945129"/>
              <a:ext cx="1115695" cy="0"/>
            </a:xfrm>
            <a:custGeom>
              <a:avLst/>
              <a:gdLst/>
              <a:ahLst/>
              <a:cxnLst/>
              <a:rect l="l" t="t" r="r" b="b"/>
              <a:pathLst>
                <a:path w="1115695">
                  <a:moveTo>
                    <a:pt x="0" y="0"/>
                  </a:moveTo>
                  <a:lnTo>
                    <a:pt x="1115441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47916" y="2897123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>
                  <a:moveTo>
                    <a:pt x="0" y="0"/>
                  </a:moveTo>
                  <a:lnTo>
                    <a:pt x="0" y="94361"/>
                  </a:lnTo>
                  <a:lnTo>
                    <a:pt x="94360" y="47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922776" y="2907792"/>
            <a:ext cx="1195705" cy="94615"/>
            <a:chOff x="3922776" y="2907792"/>
            <a:chExt cx="1195705" cy="94615"/>
          </a:xfrm>
        </p:grpSpPr>
        <p:sp>
          <p:nvSpPr>
            <p:cNvPr id="11" name="object 11"/>
            <p:cNvSpPr/>
            <p:nvPr/>
          </p:nvSpPr>
          <p:spPr>
            <a:xfrm>
              <a:off x="4002786" y="2955798"/>
              <a:ext cx="1115695" cy="0"/>
            </a:xfrm>
            <a:custGeom>
              <a:avLst/>
              <a:gdLst/>
              <a:ahLst/>
              <a:cxnLst/>
              <a:rect l="l" t="t" r="r" b="b"/>
              <a:pathLst>
                <a:path w="1115695">
                  <a:moveTo>
                    <a:pt x="1115440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22776" y="290779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361" y="0"/>
                  </a:moveTo>
                  <a:lnTo>
                    <a:pt x="0" y="47244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461765" y="2910839"/>
            <a:ext cx="188595" cy="94615"/>
            <a:chOff x="3461765" y="2910839"/>
            <a:chExt cx="188595" cy="94615"/>
          </a:xfrm>
        </p:grpSpPr>
        <p:sp>
          <p:nvSpPr>
            <p:cNvPr id="14" name="object 14"/>
            <p:cNvSpPr/>
            <p:nvPr/>
          </p:nvSpPr>
          <p:spPr>
            <a:xfrm>
              <a:off x="3461765" y="295884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5491" y="2910839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0" y="94361"/>
                  </a:lnTo>
                  <a:lnTo>
                    <a:pt x="94361" y="47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743200" y="2910839"/>
            <a:ext cx="189865" cy="94615"/>
            <a:chOff x="2743200" y="2910839"/>
            <a:chExt cx="189865" cy="94615"/>
          </a:xfrm>
        </p:grpSpPr>
        <p:sp>
          <p:nvSpPr>
            <p:cNvPr id="17" name="object 17"/>
            <p:cNvSpPr/>
            <p:nvPr/>
          </p:nvSpPr>
          <p:spPr>
            <a:xfrm>
              <a:off x="2823210" y="295884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0" y="2910839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361" y="0"/>
                  </a:moveTo>
                  <a:lnTo>
                    <a:pt x="0" y="47117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Class</a:t>
            </a:r>
            <a:r>
              <a:rPr lang="en-US" spc="-180" dirty="0"/>
              <a:t> </a:t>
            </a:r>
            <a:r>
              <a:rPr spc="-685" dirty="0"/>
              <a:t> </a:t>
            </a:r>
            <a:r>
              <a:rPr spc="-30" dirty="0"/>
              <a:t>B</a:t>
            </a:r>
            <a:r>
              <a:rPr lang="en-US" spc="-30" dirty="0"/>
              <a:t> </a:t>
            </a:r>
            <a:r>
              <a:rPr spc="-810" dirty="0"/>
              <a:t> </a:t>
            </a:r>
            <a:r>
              <a:rPr spc="-150" dirty="0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5882" y="3510153"/>
            <a:ext cx="6660515" cy="21596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31140" marR="278130" indent="-193675">
              <a:lnSpc>
                <a:spcPct val="71100"/>
              </a:lnSpc>
              <a:spcBef>
                <a:spcPts val="725"/>
              </a:spcBef>
              <a:buClr>
                <a:srgbClr val="E38311"/>
              </a:buClr>
              <a:buAutoNum type="arabicPeriod"/>
              <a:tabLst>
                <a:tab pos="23114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When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written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binary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format,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first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(leftmost)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bit</a:t>
            </a:r>
            <a:r>
              <a:rPr sz="180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B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is</a:t>
            </a:r>
            <a:r>
              <a:rPr sz="18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30" dirty="0">
                <a:solidFill>
                  <a:srgbClr val="3C3C3C"/>
                </a:solidFill>
                <a:latin typeface="Carlito"/>
                <a:cs typeface="Carlito"/>
              </a:rPr>
              <a:t>always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10</a:t>
            </a:r>
            <a:r>
              <a:rPr sz="1800" b="1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(one</a:t>
            </a:r>
            <a:r>
              <a:rPr sz="1800" b="1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and</a:t>
            </a:r>
            <a:r>
              <a:rPr sz="1800" b="1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spc="-20" dirty="0">
                <a:solidFill>
                  <a:srgbClr val="3C3C3C"/>
                </a:solidFill>
                <a:latin typeface="Carlito"/>
                <a:cs typeface="Carlito"/>
              </a:rPr>
              <a:t>zero)</a:t>
            </a:r>
            <a:endParaRPr sz="1800">
              <a:latin typeface="Carlito"/>
              <a:cs typeface="Carlito"/>
            </a:endParaRPr>
          </a:p>
          <a:p>
            <a:pPr marL="231775" indent="-193675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AutoNum type="arabicPeriod"/>
              <a:tabLst>
                <a:tab pos="231775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80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address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example: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151.10.13.28</a:t>
            </a:r>
            <a:endParaRPr sz="1800">
              <a:latin typeface="Carlito"/>
              <a:cs typeface="Carlito"/>
            </a:endParaRPr>
          </a:p>
          <a:p>
            <a:pPr marL="231140" indent="-193040">
              <a:lnSpc>
                <a:spcPct val="100000"/>
              </a:lnSpc>
              <a:spcBef>
                <a:spcPts val="505"/>
              </a:spcBef>
              <a:buClr>
                <a:srgbClr val="E38311"/>
              </a:buClr>
              <a:buAutoNum type="arabicPeriod"/>
              <a:tabLst>
                <a:tab pos="23114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two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octets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identify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number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800" spc="1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ARIN</a:t>
            </a:r>
            <a:endParaRPr sz="1800">
              <a:latin typeface="Carlito"/>
              <a:cs typeface="Carlito"/>
            </a:endParaRPr>
          </a:p>
          <a:p>
            <a:pPr marL="231140" indent="-193040">
              <a:lnSpc>
                <a:spcPct val="100000"/>
              </a:lnSpc>
              <a:spcBef>
                <a:spcPts val="505"/>
              </a:spcBef>
              <a:buClr>
                <a:srgbClr val="E38311"/>
              </a:buClr>
              <a:buAutoNum type="arabicPeriod"/>
              <a:tabLst>
                <a:tab pos="231140" algn="l"/>
              </a:tabLst>
            </a:pP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Range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from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128</a:t>
            </a:r>
            <a:r>
              <a:rPr sz="1800" b="1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800" b="1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191</a:t>
            </a:r>
            <a:r>
              <a:rPr sz="1800" b="1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their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octet</a:t>
            </a:r>
            <a:endParaRPr sz="1800">
              <a:latin typeface="Carlito"/>
              <a:cs typeface="Carlito"/>
            </a:endParaRPr>
          </a:p>
          <a:p>
            <a:pPr marL="231140" indent="-193040">
              <a:lnSpc>
                <a:spcPct val="100000"/>
              </a:lnSpc>
              <a:spcBef>
                <a:spcPts val="490"/>
              </a:spcBef>
              <a:buClr>
                <a:srgbClr val="E38311"/>
              </a:buClr>
              <a:buAutoNum type="arabicPeriod"/>
              <a:tabLst>
                <a:tab pos="231140" algn="l"/>
              </a:tabLst>
            </a:pP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Remaining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two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octets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can</a:t>
            </a:r>
            <a:r>
              <a:rPr sz="18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be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80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30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portion</a:t>
            </a:r>
            <a:r>
              <a:rPr sz="18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1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800">
              <a:latin typeface="Carlito"/>
              <a:cs typeface="Carlito"/>
            </a:endParaRPr>
          </a:p>
          <a:p>
            <a:pPr marL="218440" indent="-186055">
              <a:lnSpc>
                <a:spcPct val="100000"/>
              </a:lnSpc>
              <a:spcBef>
                <a:spcPts val="505"/>
              </a:spcBef>
              <a:buClr>
                <a:srgbClr val="E38311"/>
              </a:buClr>
              <a:buAutoNum type="arabicPeriod"/>
              <a:tabLst>
                <a:tab pos="21844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2</a:t>
            </a:r>
            <a:r>
              <a:rPr sz="1800" baseline="16203" dirty="0">
                <a:solidFill>
                  <a:srgbClr val="3C3C3C"/>
                </a:solidFill>
                <a:latin typeface="Carlito"/>
                <a:cs typeface="Carlito"/>
              </a:rPr>
              <a:t>16</a:t>
            </a:r>
            <a:r>
              <a:rPr sz="1800" spc="22" baseline="16203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or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65,536, possible</a:t>
            </a:r>
            <a:r>
              <a:rPr sz="1800" spc="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addresses</a:t>
            </a:r>
            <a:r>
              <a:rPr sz="18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per</a:t>
            </a:r>
            <a:r>
              <a:rPr sz="18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80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</a:t>
            </a:r>
            <a:r>
              <a:rPr sz="1800" spc="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180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24835" y="2487676"/>
          <a:ext cx="4526279" cy="916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070">
                <a:tc gridSpan="4"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Class</a:t>
                      </a:r>
                      <a:r>
                        <a:rPr sz="1450" b="1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dirty="0">
                          <a:latin typeface="Carlito"/>
                          <a:cs typeface="Carlito"/>
                        </a:rPr>
                        <a:t>16</a:t>
                      </a:r>
                      <a:r>
                        <a:rPr sz="145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spc="-20" dirty="0"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dirty="0">
                          <a:latin typeface="Carlito"/>
                          <a:cs typeface="Carlito"/>
                        </a:rPr>
                        <a:t>16</a:t>
                      </a:r>
                      <a:r>
                        <a:rPr sz="145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spc="-20" dirty="0"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10" dirty="0">
                          <a:latin typeface="Carlito"/>
                          <a:cs typeface="Carlito"/>
                        </a:rPr>
                        <a:t>Network</a:t>
                      </a:r>
                      <a:endParaRPr sz="1450" dirty="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10" dirty="0">
                          <a:latin typeface="Carlito"/>
                          <a:cs typeface="Carlito"/>
                        </a:rPr>
                        <a:t>Network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20" dirty="0">
                          <a:latin typeface="Carlito"/>
                          <a:cs typeface="Carlito"/>
                        </a:rPr>
                        <a:t>Host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20" dirty="0">
                          <a:latin typeface="Carlito"/>
                          <a:cs typeface="Carlito"/>
                        </a:rPr>
                        <a:t>Host</a:t>
                      </a:r>
                      <a:endParaRPr sz="1450" dirty="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351270" y="2939795"/>
            <a:ext cx="753745" cy="94615"/>
            <a:chOff x="6351270" y="2939795"/>
            <a:chExt cx="753745" cy="94615"/>
          </a:xfrm>
        </p:grpSpPr>
        <p:sp>
          <p:nvSpPr>
            <p:cNvPr id="6" name="object 6"/>
            <p:cNvSpPr/>
            <p:nvPr/>
          </p:nvSpPr>
          <p:spPr>
            <a:xfrm>
              <a:off x="6351270" y="2987801"/>
              <a:ext cx="676910" cy="0"/>
            </a:xfrm>
            <a:custGeom>
              <a:avLst/>
              <a:gdLst/>
              <a:ahLst/>
              <a:cxnLst/>
              <a:rect l="l" t="t" r="r" b="b"/>
              <a:pathLst>
                <a:path w="676909">
                  <a:moveTo>
                    <a:pt x="0" y="0"/>
                  </a:moveTo>
                  <a:lnTo>
                    <a:pt x="676401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10400" y="2939795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>
                  <a:moveTo>
                    <a:pt x="0" y="0"/>
                  </a:moveTo>
                  <a:lnTo>
                    <a:pt x="0" y="94361"/>
                  </a:lnTo>
                  <a:lnTo>
                    <a:pt x="94360" y="47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968240" y="2947416"/>
            <a:ext cx="770890" cy="94615"/>
            <a:chOff x="4968240" y="2947416"/>
            <a:chExt cx="770890" cy="94615"/>
          </a:xfrm>
        </p:grpSpPr>
        <p:sp>
          <p:nvSpPr>
            <p:cNvPr id="9" name="object 9"/>
            <p:cNvSpPr/>
            <p:nvPr/>
          </p:nvSpPr>
          <p:spPr>
            <a:xfrm>
              <a:off x="5046726" y="2986278"/>
              <a:ext cx="676910" cy="8890"/>
            </a:xfrm>
            <a:custGeom>
              <a:avLst/>
              <a:gdLst/>
              <a:ahLst/>
              <a:cxnLst/>
              <a:rect l="l" t="t" r="r" b="b"/>
              <a:pathLst>
                <a:path w="676910" h="8889">
                  <a:moveTo>
                    <a:pt x="676401" y="0"/>
                  </a:moveTo>
                  <a:lnTo>
                    <a:pt x="0" y="8762"/>
                  </a:lnTo>
                </a:path>
              </a:pathLst>
            </a:custGeom>
            <a:ln w="32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8240" y="2947416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2837" y="0"/>
                  </a:moveTo>
                  <a:lnTo>
                    <a:pt x="0" y="47117"/>
                  </a:lnTo>
                  <a:lnTo>
                    <a:pt x="94361" y="94361"/>
                  </a:lnTo>
                  <a:lnTo>
                    <a:pt x="928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072128" y="2947416"/>
            <a:ext cx="757555" cy="94615"/>
            <a:chOff x="4072128" y="2947416"/>
            <a:chExt cx="757555" cy="94615"/>
          </a:xfrm>
        </p:grpSpPr>
        <p:sp>
          <p:nvSpPr>
            <p:cNvPr id="12" name="object 12"/>
            <p:cNvSpPr/>
            <p:nvPr/>
          </p:nvSpPr>
          <p:spPr>
            <a:xfrm>
              <a:off x="4088130" y="2993898"/>
              <a:ext cx="664210" cy="1270"/>
            </a:xfrm>
            <a:custGeom>
              <a:avLst/>
              <a:gdLst/>
              <a:ahLst/>
              <a:cxnLst/>
              <a:rect l="l" t="t" r="r" b="b"/>
              <a:pathLst>
                <a:path w="664210" h="1269">
                  <a:moveTo>
                    <a:pt x="0" y="0"/>
                  </a:moveTo>
                  <a:lnTo>
                    <a:pt x="664083" y="1269"/>
                  </a:lnTo>
                </a:path>
              </a:pathLst>
            </a:custGeom>
            <a:ln w="320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5068" y="2947416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0" y="94361"/>
                  </a:lnTo>
                  <a:lnTo>
                    <a:pt x="94361" y="47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743200" y="2947416"/>
            <a:ext cx="732790" cy="94615"/>
            <a:chOff x="2743200" y="2947416"/>
            <a:chExt cx="732790" cy="94615"/>
          </a:xfrm>
        </p:grpSpPr>
        <p:sp>
          <p:nvSpPr>
            <p:cNvPr id="15" name="object 15"/>
            <p:cNvSpPr/>
            <p:nvPr/>
          </p:nvSpPr>
          <p:spPr>
            <a:xfrm>
              <a:off x="2823210" y="2993898"/>
              <a:ext cx="636905" cy="1270"/>
            </a:xfrm>
            <a:custGeom>
              <a:avLst/>
              <a:gdLst/>
              <a:ahLst/>
              <a:cxnLst/>
              <a:rect l="l" t="t" r="r" b="b"/>
              <a:pathLst>
                <a:path w="636904" h="1269">
                  <a:moveTo>
                    <a:pt x="636524" y="0"/>
                  </a:moveTo>
                  <a:lnTo>
                    <a:pt x="0" y="1269"/>
                  </a:lnTo>
                </a:path>
              </a:pathLst>
            </a:custGeom>
            <a:ln w="320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0" y="2947416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361" y="0"/>
                  </a:moveTo>
                  <a:lnTo>
                    <a:pt x="0" y="47117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Class</a:t>
            </a:r>
            <a:r>
              <a:rPr lang="en-US" spc="-180" dirty="0"/>
              <a:t> </a:t>
            </a:r>
            <a:r>
              <a:rPr spc="-670" dirty="0"/>
              <a:t> </a:t>
            </a:r>
            <a:r>
              <a:rPr spc="-114" dirty="0"/>
              <a:t>C</a:t>
            </a:r>
            <a:r>
              <a:rPr lang="en-US" spc="-114" dirty="0"/>
              <a:t> </a:t>
            </a:r>
            <a:r>
              <a:rPr spc="-114" dirty="0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5882" y="3544570"/>
            <a:ext cx="6552565" cy="251904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31140" marR="172720" indent="-193675">
              <a:lnSpc>
                <a:spcPts val="2000"/>
              </a:lnSpc>
              <a:spcBef>
                <a:spcPts val="300"/>
              </a:spcBef>
              <a:buClr>
                <a:srgbClr val="E38311"/>
              </a:buClr>
              <a:buAutoNum type="arabicPeriod"/>
              <a:tabLst>
                <a:tab pos="23114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When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written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binary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format,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first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(leftmost)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bit</a:t>
            </a:r>
            <a:r>
              <a:rPr sz="180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C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is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30" dirty="0">
                <a:solidFill>
                  <a:srgbClr val="3C3C3C"/>
                </a:solidFill>
                <a:latin typeface="Carlito"/>
                <a:cs typeface="Carlito"/>
              </a:rPr>
              <a:t>always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110</a:t>
            </a:r>
            <a:r>
              <a:rPr sz="1800" b="1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(one,</a:t>
            </a:r>
            <a:r>
              <a:rPr sz="1800" b="1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one</a:t>
            </a:r>
            <a:r>
              <a:rPr sz="1800" b="1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and</a:t>
            </a:r>
            <a:r>
              <a:rPr sz="1800" b="1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arlito"/>
                <a:cs typeface="Carlito"/>
              </a:rPr>
              <a:t>zero)</a:t>
            </a:r>
            <a:endParaRPr sz="1800">
              <a:latin typeface="Carlito"/>
              <a:cs typeface="Carlito"/>
            </a:endParaRPr>
          </a:p>
          <a:p>
            <a:pPr marL="231775" indent="-193675">
              <a:lnSpc>
                <a:spcPct val="100000"/>
              </a:lnSpc>
              <a:spcBef>
                <a:spcPts val="860"/>
              </a:spcBef>
              <a:buClr>
                <a:srgbClr val="E38311"/>
              </a:buClr>
              <a:buAutoNum type="arabicPeriod"/>
              <a:tabLst>
                <a:tab pos="231775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</a:t>
            </a:r>
            <a:r>
              <a:rPr sz="18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address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example: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201.110.213.28</a:t>
            </a:r>
            <a:endParaRPr sz="1800">
              <a:latin typeface="Carlito"/>
              <a:cs typeface="Carlito"/>
            </a:endParaRPr>
          </a:p>
          <a:p>
            <a:pPr marL="231140" indent="-193040">
              <a:lnSpc>
                <a:spcPct val="100000"/>
              </a:lnSpc>
              <a:spcBef>
                <a:spcPts val="905"/>
              </a:spcBef>
              <a:buClr>
                <a:srgbClr val="E38311"/>
              </a:buClr>
              <a:buAutoNum type="arabicPeriod"/>
              <a:tabLst>
                <a:tab pos="231140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three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octets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identify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number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800" spc="2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ARIN</a:t>
            </a:r>
            <a:endParaRPr sz="1800">
              <a:latin typeface="Carlito"/>
              <a:cs typeface="Carlito"/>
            </a:endParaRPr>
          </a:p>
          <a:p>
            <a:pPr marL="231140" indent="-193040">
              <a:lnSpc>
                <a:spcPct val="100000"/>
              </a:lnSpc>
              <a:spcBef>
                <a:spcPts val="900"/>
              </a:spcBef>
              <a:buClr>
                <a:srgbClr val="E38311"/>
              </a:buClr>
              <a:buAutoNum type="arabicPeriod"/>
              <a:tabLst>
                <a:tab pos="231140" algn="l"/>
              </a:tabLst>
            </a:pP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Range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from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192</a:t>
            </a:r>
            <a:r>
              <a:rPr sz="1800" b="1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800" b="1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223</a:t>
            </a:r>
            <a:r>
              <a:rPr sz="1800" b="1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their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octet</a:t>
            </a:r>
            <a:endParaRPr sz="1800">
              <a:latin typeface="Carlito"/>
              <a:cs typeface="Carlito"/>
            </a:endParaRPr>
          </a:p>
          <a:p>
            <a:pPr marL="231140" indent="-193040">
              <a:lnSpc>
                <a:spcPct val="100000"/>
              </a:lnSpc>
              <a:spcBef>
                <a:spcPts val="900"/>
              </a:spcBef>
              <a:buClr>
                <a:srgbClr val="E38311"/>
              </a:buClr>
              <a:buAutoNum type="arabicPeriod"/>
              <a:tabLst>
                <a:tab pos="231140" algn="l"/>
              </a:tabLst>
            </a:pP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Last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octet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can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be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portion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800">
              <a:latin typeface="Carlito"/>
              <a:cs typeface="Carlito"/>
            </a:endParaRPr>
          </a:p>
          <a:p>
            <a:pPr marL="220979" indent="-185420">
              <a:lnSpc>
                <a:spcPct val="100000"/>
              </a:lnSpc>
              <a:spcBef>
                <a:spcPts val="880"/>
              </a:spcBef>
              <a:buClr>
                <a:srgbClr val="E38311"/>
              </a:buClr>
              <a:buAutoNum type="arabicPeriod"/>
              <a:tabLst>
                <a:tab pos="220979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2</a:t>
            </a:r>
            <a:r>
              <a:rPr sz="1800" baseline="16203" dirty="0">
                <a:solidFill>
                  <a:srgbClr val="3C3C3C"/>
                </a:solidFill>
                <a:latin typeface="Carlito"/>
                <a:cs typeface="Carlito"/>
              </a:rPr>
              <a:t>8</a:t>
            </a:r>
            <a:r>
              <a:rPr sz="1800" spc="52" baseline="16203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or</a:t>
            </a:r>
            <a:r>
              <a:rPr sz="180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256,</a:t>
            </a:r>
            <a:r>
              <a:rPr sz="1800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3C3C3C"/>
                </a:solidFill>
                <a:latin typeface="Carlito"/>
                <a:cs typeface="Carlito"/>
              </a:rPr>
              <a:t>possible</a:t>
            </a:r>
            <a:r>
              <a:rPr sz="195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addresses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per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class C</a:t>
            </a:r>
            <a:r>
              <a:rPr sz="1800" spc="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180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24835" y="2487676"/>
          <a:ext cx="4526279" cy="916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070">
                <a:tc gridSpan="4"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Class</a:t>
                      </a:r>
                      <a:r>
                        <a:rPr sz="1450" b="1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45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dirty="0">
                          <a:latin typeface="Carlito"/>
                          <a:cs typeface="Carlito"/>
                        </a:rPr>
                        <a:t>24</a:t>
                      </a:r>
                      <a:r>
                        <a:rPr sz="1450" spc="-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spc="-20" dirty="0"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dirty="0">
                          <a:latin typeface="Carlito"/>
                          <a:cs typeface="Carlito"/>
                        </a:rPr>
                        <a:t>8</a:t>
                      </a:r>
                      <a:r>
                        <a:rPr sz="145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50" spc="-20" dirty="0">
                          <a:latin typeface="Carlito"/>
                          <a:cs typeface="Carlito"/>
                        </a:rPr>
                        <a:t>Bits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10" dirty="0">
                          <a:latin typeface="Carlito"/>
                          <a:cs typeface="Carlito"/>
                        </a:rPr>
                        <a:t>Network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10" dirty="0">
                          <a:latin typeface="Carlito"/>
                          <a:cs typeface="Carlito"/>
                        </a:rPr>
                        <a:t>Network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10" dirty="0">
                          <a:latin typeface="Carlito"/>
                          <a:cs typeface="Carlito"/>
                        </a:rPr>
                        <a:t>Network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50" spc="-20" dirty="0">
                          <a:latin typeface="Carlito"/>
                          <a:cs typeface="Carlito"/>
                        </a:rPr>
                        <a:t>Host</a:t>
                      </a:r>
                      <a:endParaRPr sz="1450">
                        <a:latin typeface="Carlito"/>
                        <a:cs typeface="Carlito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693158" y="2907792"/>
            <a:ext cx="1194435" cy="94615"/>
            <a:chOff x="4693158" y="2907792"/>
            <a:chExt cx="1194435" cy="94615"/>
          </a:xfrm>
        </p:grpSpPr>
        <p:sp>
          <p:nvSpPr>
            <p:cNvPr id="6" name="object 6"/>
            <p:cNvSpPr/>
            <p:nvPr/>
          </p:nvSpPr>
          <p:spPr>
            <a:xfrm>
              <a:off x="4693158" y="2955798"/>
              <a:ext cx="1115695" cy="0"/>
            </a:xfrm>
            <a:custGeom>
              <a:avLst/>
              <a:gdLst/>
              <a:ahLst/>
              <a:cxnLst/>
              <a:rect l="l" t="t" r="r" b="b"/>
              <a:pathLst>
                <a:path w="1115695">
                  <a:moveTo>
                    <a:pt x="0" y="0"/>
                  </a:moveTo>
                  <a:lnTo>
                    <a:pt x="111544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92724" y="290779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0" y="94361"/>
                  </a:lnTo>
                  <a:lnTo>
                    <a:pt x="94361" y="47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767583" y="2918460"/>
            <a:ext cx="1195070" cy="94615"/>
            <a:chOff x="2767583" y="2918460"/>
            <a:chExt cx="1195070" cy="94615"/>
          </a:xfrm>
        </p:grpSpPr>
        <p:sp>
          <p:nvSpPr>
            <p:cNvPr id="9" name="object 9"/>
            <p:cNvSpPr/>
            <p:nvPr/>
          </p:nvSpPr>
          <p:spPr>
            <a:xfrm>
              <a:off x="2846069" y="2966466"/>
              <a:ext cx="1116965" cy="0"/>
            </a:xfrm>
            <a:custGeom>
              <a:avLst/>
              <a:gdLst/>
              <a:ahLst/>
              <a:cxnLst/>
              <a:rect l="l" t="t" r="r" b="b"/>
              <a:pathLst>
                <a:path w="1116964">
                  <a:moveTo>
                    <a:pt x="1116583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67583" y="2918460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361" y="0"/>
                  </a:moveTo>
                  <a:lnTo>
                    <a:pt x="0" y="47243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854190" y="2907792"/>
            <a:ext cx="188595" cy="94615"/>
            <a:chOff x="6854190" y="2907792"/>
            <a:chExt cx="188595" cy="94615"/>
          </a:xfrm>
        </p:grpSpPr>
        <p:sp>
          <p:nvSpPr>
            <p:cNvPr id="12" name="object 12"/>
            <p:cNvSpPr/>
            <p:nvPr/>
          </p:nvSpPr>
          <p:spPr>
            <a:xfrm>
              <a:off x="6854190" y="295579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7916" y="290779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>
                  <a:moveTo>
                    <a:pt x="0" y="0"/>
                  </a:moveTo>
                  <a:lnTo>
                    <a:pt x="0" y="94361"/>
                  </a:lnTo>
                  <a:lnTo>
                    <a:pt x="94360" y="47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135623" y="2907792"/>
            <a:ext cx="189865" cy="94615"/>
            <a:chOff x="6135623" y="2907792"/>
            <a:chExt cx="189865" cy="94615"/>
          </a:xfrm>
        </p:grpSpPr>
        <p:sp>
          <p:nvSpPr>
            <p:cNvPr id="15" name="object 15"/>
            <p:cNvSpPr/>
            <p:nvPr/>
          </p:nvSpPr>
          <p:spPr>
            <a:xfrm>
              <a:off x="6215633" y="295579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5623" y="290779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361" y="0"/>
                  </a:moveTo>
                  <a:lnTo>
                    <a:pt x="0" y="47244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9285" y="2556129"/>
            <a:ext cx="262128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950" b="1" spc="25" dirty="0">
                <a:latin typeface="Times New Roman"/>
                <a:cs typeface="Times New Roman"/>
              </a:rPr>
              <a:t>I</a:t>
            </a:r>
            <a:r>
              <a:rPr sz="2950" b="1" dirty="0">
                <a:latin typeface="Times New Roman"/>
                <a:cs typeface="Times New Roman"/>
              </a:rPr>
              <a:t>M</a:t>
            </a:r>
            <a:r>
              <a:rPr sz="2950" b="1" spc="15" dirty="0">
                <a:latin typeface="Times New Roman"/>
                <a:cs typeface="Times New Roman"/>
              </a:rPr>
              <a:t>P</a:t>
            </a:r>
            <a:r>
              <a:rPr sz="2950" b="1" spc="25" dirty="0">
                <a:latin typeface="Times New Roman"/>
                <a:cs typeface="Times New Roman"/>
              </a:rPr>
              <a:t>O</a:t>
            </a:r>
            <a:r>
              <a:rPr sz="2950" b="1" spc="-300" dirty="0">
                <a:latin typeface="Times New Roman"/>
                <a:cs typeface="Times New Roman"/>
              </a:rPr>
              <a:t>R</a:t>
            </a:r>
            <a:r>
              <a:rPr sz="2950" b="1" spc="-630" dirty="0">
                <a:latin typeface="Times New Roman"/>
                <a:cs typeface="Times New Roman"/>
              </a:rPr>
              <a:t>T</a:t>
            </a:r>
            <a:r>
              <a:rPr sz="2950" b="1" spc="15" dirty="0">
                <a:latin typeface="Times New Roman"/>
                <a:cs typeface="Times New Roman"/>
              </a:rPr>
              <a:t>A</a:t>
            </a:r>
            <a:r>
              <a:rPr sz="2950" b="1" spc="10" dirty="0">
                <a:latin typeface="Times New Roman"/>
                <a:cs typeface="Times New Roman"/>
              </a:rPr>
              <a:t>N</a:t>
            </a:r>
            <a:r>
              <a:rPr sz="2950" b="1" spc="-5" dirty="0">
                <a:latin typeface="Times New Roman"/>
                <a:cs typeface="Times New Roman"/>
              </a:rPr>
              <a:t>T</a:t>
            </a:r>
            <a:r>
              <a:rPr sz="2950" b="1" spc="35" dirty="0">
                <a:latin typeface="Times New Roman"/>
                <a:cs typeface="Times New Roman"/>
              </a:rPr>
              <a:t>!</a:t>
            </a:r>
            <a:r>
              <a:rPr sz="2950" b="1" spc="10" dirty="0">
                <a:latin typeface="Times New Roman"/>
                <a:cs typeface="Times New Roman"/>
              </a:rPr>
              <a:t>!!</a:t>
            </a:r>
            <a:endParaRPr sz="2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950" b="1" spc="-10" dirty="0">
                <a:latin typeface="Times New Roman"/>
                <a:cs typeface="Times New Roman"/>
              </a:rPr>
              <a:t>MEMORIZE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4182" y="3905834"/>
            <a:ext cx="17005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8E4220"/>
                </a:solidFill>
                <a:latin typeface="Times New Roman"/>
                <a:cs typeface="Times New Roman"/>
              </a:rPr>
              <a:t>N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00AE50"/>
                </a:solidFill>
                <a:latin typeface="Times New Roman"/>
                <a:cs typeface="Times New Roman"/>
              </a:rPr>
              <a:t>H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00AE50"/>
                </a:solidFill>
                <a:latin typeface="Times New Roman"/>
                <a:cs typeface="Times New Roman"/>
              </a:rPr>
              <a:t>H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00AE50"/>
                </a:solidFill>
                <a:latin typeface="Times New Roman"/>
                <a:cs typeface="Times New Roman"/>
              </a:rPr>
              <a:t>H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600" spc="-10" dirty="0">
                <a:solidFill>
                  <a:srgbClr val="8E4220"/>
                </a:solidFill>
                <a:latin typeface="Times New Roman"/>
                <a:cs typeface="Times New Roman"/>
              </a:rPr>
              <a:t>N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8E4220"/>
                </a:solidFill>
                <a:latin typeface="Times New Roman"/>
                <a:cs typeface="Times New Roman"/>
              </a:rPr>
              <a:t>N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00AE50"/>
                </a:solidFill>
                <a:latin typeface="Times New Roman"/>
                <a:cs typeface="Times New Roman"/>
              </a:rPr>
              <a:t>H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00AE50"/>
                </a:solidFill>
                <a:latin typeface="Times New Roman"/>
                <a:cs typeface="Times New Roman"/>
              </a:rPr>
              <a:t>H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spc="-10" dirty="0">
                <a:solidFill>
                  <a:srgbClr val="8E4220"/>
                </a:solidFill>
                <a:latin typeface="Times New Roman"/>
                <a:cs typeface="Times New Roman"/>
              </a:rPr>
              <a:t>N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8E4220"/>
                </a:solidFill>
                <a:latin typeface="Times New Roman"/>
                <a:cs typeface="Times New Roman"/>
              </a:rPr>
              <a:t>N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8E4220"/>
                </a:solidFill>
                <a:latin typeface="Times New Roman"/>
                <a:cs typeface="Times New Roman"/>
              </a:rPr>
              <a:t>N</a:t>
            </a:r>
            <a:r>
              <a:rPr sz="3600" spc="-10" dirty="0">
                <a:solidFill>
                  <a:srgbClr val="413ECC"/>
                </a:solidFill>
                <a:latin typeface="Times New Roman"/>
                <a:cs typeface="Times New Roman"/>
              </a:rPr>
              <a:t>.</a:t>
            </a:r>
            <a:r>
              <a:rPr sz="3600" spc="-10" dirty="0">
                <a:solidFill>
                  <a:srgbClr val="00AE50"/>
                </a:solidFill>
                <a:latin typeface="Times New Roman"/>
                <a:cs typeface="Times New Roman"/>
              </a:rPr>
              <a:t>H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0659" y="3905834"/>
            <a:ext cx="184848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1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126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latin typeface="Times New Roman"/>
                <a:cs typeface="Times New Roman"/>
              </a:rPr>
              <a:t>128</a:t>
            </a:r>
            <a:r>
              <a:rPr sz="3600" spc="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191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latin typeface="Times New Roman"/>
                <a:cs typeface="Times New Roman"/>
              </a:rPr>
              <a:t>192</a:t>
            </a:r>
            <a:r>
              <a:rPr sz="3600" spc="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223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0917" y="3875913"/>
            <a:ext cx="1474470" cy="16821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55"/>
              </a:spcBef>
            </a:pPr>
            <a:r>
              <a:rPr sz="3600" dirty="0">
                <a:latin typeface="Times New Roman"/>
                <a:cs typeface="Times New Roman"/>
              </a:rPr>
              <a:t>Class</a:t>
            </a:r>
            <a:r>
              <a:rPr sz="3600" spc="7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A </a:t>
            </a:r>
            <a:r>
              <a:rPr sz="3600" dirty="0">
                <a:latin typeface="Times New Roman"/>
                <a:cs typeface="Times New Roman"/>
              </a:rPr>
              <a:t>Class</a:t>
            </a:r>
            <a:r>
              <a:rPr sz="3600" spc="7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B </a:t>
            </a:r>
            <a:r>
              <a:rPr sz="3600" dirty="0">
                <a:latin typeface="Times New Roman"/>
                <a:cs typeface="Times New Roman"/>
              </a:rPr>
              <a:t>Class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C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Address</a:t>
            </a:r>
            <a:r>
              <a:rPr lang="en-US" spc="-145" dirty="0"/>
              <a:t> </a:t>
            </a:r>
            <a:r>
              <a:rPr spc="-145" dirty="0"/>
              <a:t>Ranges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Network</a:t>
            </a:r>
            <a:r>
              <a:rPr lang="en-US" spc="-155" dirty="0"/>
              <a:t> </a:t>
            </a:r>
            <a:r>
              <a:rPr spc="-155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2297" y="3359022"/>
            <a:ext cx="5183505" cy="25425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03835" indent="-191135">
              <a:lnSpc>
                <a:spcPct val="100000"/>
              </a:lnSpc>
              <a:spcBef>
                <a:spcPts val="605"/>
              </a:spcBef>
              <a:buClr>
                <a:srgbClr val="E38311"/>
              </a:buClr>
              <a:buAutoNum type="arabicPeriod"/>
              <a:tabLst>
                <a:tab pos="203835" algn="l"/>
              </a:tabLst>
            </a:pP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Ends</a:t>
            </a:r>
            <a:r>
              <a:rPr sz="1800" b="1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with</a:t>
            </a:r>
            <a:r>
              <a:rPr sz="1800" b="1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binary</a:t>
            </a:r>
            <a:r>
              <a:rPr sz="1800" b="1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0s</a:t>
            </a:r>
            <a:r>
              <a:rPr sz="1800" b="1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800" b="1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all</a:t>
            </a:r>
            <a:r>
              <a:rPr sz="1800" b="1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1800" b="1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spc="-20" dirty="0">
                <a:solidFill>
                  <a:srgbClr val="3C3C3C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203835" indent="-191135">
              <a:lnSpc>
                <a:spcPct val="100000"/>
              </a:lnSpc>
              <a:spcBef>
                <a:spcPts val="500"/>
              </a:spcBef>
              <a:buClr>
                <a:srgbClr val="E38311"/>
              </a:buClr>
              <a:buAutoNum type="arabicPeriod"/>
              <a:tabLst>
                <a:tab pos="203835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Also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know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as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arlito"/>
                <a:cs typeface="Carlito"/>
              </a:rPr>
              <a:t>wire</a:t>
            </a:r>
            <a:r>
              <a:rPr sz="1800" b="1" spc="-10" dirty="0">
                <a:solidFill>
                  <a:srgbClr val="3C3C3C"/>
                </a:solidFill>
                <a:latin typeface="Carlito"/>
                <a:cs typeface="Carlito"/>
              </a:rPr>
              <a:t> address</a:t>
            </a:r>
            <a:endParaRPr sz="1800">
              <a:latin typeface="Carlito"/>
              <a:cs typeface="Carlito"/>
            </a:endParaRPr>
          </a:p>
          <a:p>
            <a:pPr marL="204470" indent="-191770">
              <a:lnSpc>
                <a:spcPct val="100000"/>
              </a:lnSpc>
              <a:spcBef>
                <a:spcPts val="505"/>
              </a:spcBef>
              <a:buClr>
                <a:srgbClr val="E38311"/>
              </a:buClr>
              <a:buAutoNum type="arabicPeriod"/>
              <a:tabLst>
                <a:tab pos="204470" algn="l"/>
              </a:tabLst>
            </a:pP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Never</a:t>
            </a:r>
            <a:r>
              <a:rPr sz="18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as</a:t>
            </a:r>
            <a:r>
              <a:rPr sz="18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device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800">
              <a:latin typeface="Carlito"/>
              <a:cs typeface="Carlito"/>
            </a:endParaRPr>
          </a:p>
          <a:p>
            <a:pPr marL="203835" indent="-191135">
              <a:lnSpc>
                <a:spcPct val="100000"/>
              </a:lnSpc>
              <a:spcBef>
                <a:spcPts val="495"/>
              </a:spcBef>
              <a:buClr>
                <a:srgbClr val="E38311"/>
              </a:buClr>
              <a:buAutoNum type="arabicPeriod"/>
              <a:tabLst>
                <a:tab pos="203835" algn="l"/>
              </a:tabLst>
            </a:pP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by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routers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800" spc="-40" dirty="0">
                <a:solidFill>
                  <a:srgbClr val="3C3C3C"/>
                </a:solidFill>
                <a:latin typeface="Carlito"/>
                <a:cs typeface="Carlito"/>
              </a:rPr>
              <a:t> forward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data</a:t>
            </a:r>
            <a:endParaRPr sz="1800">
              <a:latin typeface="Carlito"/>
              <a:cs typeface="Carlito"/>
            </a:endParaRPr>
          </a:p>
          <a:p>
            <a:pPr marL="205104" indent="-192405">
              <a:lnSpc>
                <a:spcPts val="2135"/>
              </a:lnSpc>
              <a:spcBef>
                <a:spcPts val="345"/>
              </a:spcBef>
              <a:buClr>
                <a:srgbClr val="E38311"/>
              </a:buClr>
              <a:buAutoNum type="arabicPeriod"/>
              <a:tabLst>
                <a:tab pos="205104" algn="l"/>
              </a:tabLst>
            </a:pP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Example</a:t>
            </a:r>
            <a:r>
              <a:rPr sz="18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address:</a:t>
            </a:r>
            <a:r>
              <a:rPr sz="1800" spc="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152.21.2.3</a:t>
            </a:r>
            <a:endParaRPr sz="1800">
              <a:latin typeface="Carlito"/>
              <a:cs typeface="Carlito"/>
            </a:endParaRPr>
          </a:p>
          <a:p>
            <a:pPr marL="532130" lvl="1" indent="-212090">
              <a:lnSpc>
                <a:spcPts val="1635"/>
              </a:lnSpc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4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50" dirty="0">
                <a:solidFill>
                  <a:srgbClr val="3C3C3C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  <a:p>
            <a:pPr marL="532130" lvl="1" indent="-212090">
              <a:lnSpc>
                <a:spcPts val="1660"/>
              </a:lnSpc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400" spc="-25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14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dirty="0">
                <a:solidFill>
                  <a:srgbClr val="3C3C3C"/>
                </a:solidFill>
                <a:latin typeface="Carlito"/>
                <a:cs typeface="Carlito"/>
              </a:rPr>
              <a:t>two</a:t>
            </a:r>
            <a:r>
              <a:rPr sz="14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octets</a:t>
            </a:r>
            <a:r>
              <a:rPr sz="14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35" dirty="0">
                <a:solidFill>
                  <a:srgbClr val="3C3C3C"/>
                </a:solidFill>
                <a:latin typeface="Carlito"/>
                <a:cs typeface="Carlito"/>
              </a:rPr>
              <a:t>are</a:t>
            </a:r>
            <a:r>
              <a:rPr sz="14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endParaRPr sz="1400">
              <a:latin typeface="Carlito"/>
              <a:cs typeface="Carlito"/>
            </a:endParaRPr>
          </a:p>
          <a:p>
            <a:pPr marL="532130" lvl="1" indent="-212090">
              <a:lnSpc>
                <a:spcPct val="100000"/>
              </a:lnSpc>
              <a:spcBef>
                <a:spcPts val="25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Last</a:t>
            </a:r>
            <a:r>
              <a:rPr sz="14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dirty="0">
                <a:solidFill>
                  <a:srgbClr val="3C3C3C"/>
                </a:solidFill>
                <a:latin typeface="Carlito"/>
                <a:cs typeface="Carlito"/>
              </a:rPr>
              <a:t>two</a:t>
            </a:r>
            <a:r>
              <a:rPr sz="14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octets</a:t>
            </a:r>
            <a:r>
              <a:rPr sz="14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20" dirty="0">
                <a:solidFill>
                  <a:srgbClr val="3C3C3C"/>
                </a:solidFill>
                <a:latin typeface="Carlito"/>
                <a:cs typeface="Carlito"/>
              </a:rPr>
              <a:t>are</a:t>
            </a:r>
            <a:r>
              <a:rPr sz="14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14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20" dirty="0">
                <a:solidFill>
                  <a:srgbClr val="3C3C3C"/>
                </a:solidFill>
                <a:latin typeface="Carlito"/>
                <a:cs typeface="Carlito"/>
              </a:rPr>
              <a:t>numbers </a:t>
            </a:r>
            <a:r>
              <a:rPr sz="140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4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25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4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devices</a:t>
            </a:r>
            <a:r>
              <a:rPr sz="14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4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2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400" spc="-10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1400">
              <a:latin typeface="Carlito"/>
              <a:cs typeface="Carlito"/>
            </a:endParaRPr>
          </a:p>
          <a:p>
            <a:pPr marL="532130" lvl="1" indent="-212090">
              <a:lnSpc>
                <a:spcPct val="100000"/>
              </a:lnSpc>
              <a:spcBef>
                <a:spcPts val="1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14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20" dirty="0">
                <a:solidFill>
                  <a:srgbClr val="3C3C3C"/>
                </a:solidFill>
                <a:latin typeface="Carlito"/>
                <a:cs typeface="Carlito"/>
              </a:rPr>
              <a:t>address:</a:t>
            </a:r>
            <a:r>
              <a:rPr sz="1400" spc="-10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400" spc="-10" dirty="0">
                <a:solidFill>
                  <a:srgbClr val="3C3C3C"/>
                </a:solidFill>
                <a:latin typeface="Carlito"/>
                <a:cs typeface="Carlito"/>
              </a:rPr>
              <a:t>152.21.0.0</a:t>
            </a:r>
            <a:endParaRPr sz="140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38779" y="2361183"/>
          <a:ext cx="4084953" cy="98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7660">
                <a:tc gridSpan="4"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Network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Host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 gridSpan="8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32</a:t>
                      </a:r>
                      <a:r>
                        <a:rPr sz="16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spc="-20" dirty="0">
                          <a:latin typeface="Arial"/>
                          <a:cs typeface="Arial"/>
                        </a:rPr>
                        <a:t>Bits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152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.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21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.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0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.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0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449061" y="2819400"/>
            <a:ext cx="1466850" cy="94615"/>
            <a:chOff x="5449061" y="2819400"/>
            <a:chExt cx="1466850" cy="94615"/>
          </a:xfrm>
        </p:grpSpPr>
        <p:sp>
          <p:nvSpPr>
            <p:cNvPr id="6" name="object 6"/>
            <p:cNvSpPr/>
            <p:nvPr/>
          </p:nvSpPr>
          <p:spPr>
            <a:xfrm>
              <a:off x="5449061" y="2867405"/>
              <a:ext cx="1390015" cy="0"/>
            </a:xfrm>
            <a:custGeom>
              <a:avLst/>
              <a:gdLst/>
              <a:ahLst/>
              <a:cxnLst/>
              <a:rect l="l" t="t" r="r" b="b"/>
              <a:pathLst>
                <a:path w="1390015">
                  <a:moveTo>
                    <a:pt x="0" y="0"/>
                  </a:moveTo>
                  <a:lnTo>
                    <a:pt x="1389761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22947" y="2819400"/>
              <a:ext cx="92710" cy="94615"/>
            </a:xfrm>
            <a:custGeom>
              <a:avLst/>
              <a:gdLst/>
              <a:ahLst/>
              <a:cxnLst/>
              <a:rect l="l" t="t" r="r" b="b"/>
              <a:pathLst>
                <a:path w="92709" h="94614">
                  <a:moveTo>
                    <a:pt x="0" y="0"/>
                  </a:moveTo>
                  <a:lnTo>
                    <a:pt x="0" y="94361"/>
                  </a:lnTo>
                  <a:lnTo>
                    <a:pt x="92582" y="47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081527" y="2827020"/>
            <a:ext cx="1470025" cy="94615"/>
            <a:chOff x="3081527" y="2827020"/>
            <a:chExt cx="1470025" cy="94615"/>
          </a:xfrm>
        </p:grpSpPr>
        <p:sp>
          <p:nvSpPr>
            <p:cNvPr id="9" name="object 9"/>
            <p:cNvSpPr/>
            <p:nvPr/>
          </p:nvSpPr>
          <p:spPr>
            <a:xfrm>
              <a:off x="3161537" y="2875026"/>
              <a:ext cx="1390015" cy="0"/>
            </a:xfrm>
            <a:custGeom>
              <a:avLst/>
              <a:gdLst/>
              <a:ahLst/>
              <a:cxnLst/>
              <a:rect l="l" t="t" r="r" b="b"/>
              <a:pathLst>
                <a:path w="1390014">
                  <a:moveTo>
                    <a:pt x="1389761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81527" y="2827020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361" y="0"/>
                  </a:moveTo>
                  <a:lnTo>
                    <a:pt x="0" y="47116"/>
                  </a:lnTo>
                  <a:lnTo>
                    <a:pt x="94361" y="94360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83452"/>
            <a:ext cx="10058399" cy="4328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>
                <a:moveTo>
                  <a:pt x="0" y="0"/>
                </a:moveTo>
                <a:lnTo>
                  <a:pt x="8223123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Examples</a:t>
            </a:r>
            <a:r>
              <a:rPr spc="-425" dirty="0"/>
              <a:t> </a:t>
            </a:r>
            <a:r>
              <a:rPr spc="-80" dirty="0"/>
              <a:t>of</a:t>
            </a:r>
            <a:r>
              <a:rPr spc="-844" dirty="0"/>
              <a:t> </a:t>
            </a:r>
            <a:r>
              <a:rPr spc="-165" dirty="0"/>
              <a:t>NetworkNumbers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5407" y="3661664"/>
            <a:ext cx="133223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2.</a:t>
            </a:r>
            <a:r>
              <a:rPr sz="1950" spc="13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117.23.8.3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5407" y="4265167"/>
            <a:ext cx="1736089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3.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156.132.64.12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5407" y="4868926"/>
            <a:ext cx="1834514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4.</a:t>
            </a:r>
            <a:r>
              <a:rPr sz="1950" spc="1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208.150.112.16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5407" y="5472429"/>
            <a:ext cx="15849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5.</a:t>
            </a:r>
            <a:r>
              <a:rPr sz="1950" spc="17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91.118.125.2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63796" y="3176016"/>
            <a:ext cx="880744" cy="166370"/>
            <a:chOff x="4463796" y="3176016"/>
            <a:chExt cx="880744" cy="166370"/>
          </a:xfrm>
        </p:grpSpPr>
        <p:sp>
          <p:nvSpPr>
            <p:cNvPr id="10" name="object 10"/>
            <p:cNvSpPr/>
            <p:nvPr/>
          </p:nvSpPr>
          <p:spPr>
            <a:xfrm>
              <a:off x="4463796" y="3258312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78552" y="3176016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47266" y="2506217"/>
            <a:ext cx="4999355" cy="9029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What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is</a:t>
            </a:r>
            <a:r>
              <a:rPr sz="1950" spc="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the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network number</a:t>
            </a:r>
            <a:r>
              <a:rPr sz="1950" spc="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for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this</a:t>
            </a:r>
            <a:r>
              <a:rPr sz="1950" spc="3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IPaddress?</a:t>
            </a:r>
            <a:endParaRPr sz="1950">
              <a:latin typeface="Times New Roman"/>
              <a:cs typeface="Times New Roman"/>
            </a:endParaRPr>
          </a:p>
          <a:p>
            <a:pPr marL="640080">
              <a:lnSpc>
                <a:spcPct val="100000"/>
              </a:lnSpc>
              <a:spcBef>
                <a:spcPts val="2220"/>
              </a:spcBef>
              <a:tabLst>
                <a:tab pos="3708400" algn="l"/>
              </a:tabLst>
            </a:pPr>
            <a:r>
              <a:rPr sz="1950" dirty="0">
                <a:latin typeface="Times New Roman"/>
                <a:cs typeface="Times New Roman"/>
              </a:rPr>
              <a:t>1.</a:t>
            </a:r>
            <a:r>
              <a:rPr sz="1950" spc="28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194.78.112.6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b="1" spc="-20" dirty="0">
                <a:solidFill>
                  <a:srgbClr val="2896E1"/>
                </a:solidFill>
                <a:latin typeface="Times New Roman"/>
                <a:cs typeface="Times New Roman"/>
              </a:rPr>
              <a:t>194.78.112.0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63796" y="3741420"/>
            <a:ext cx="880744" cy="166370"/>
            <a:chOff x="4463796" y="3741420"/>
            <a:chExt cx="880744" cy="166370"/>
          </a:xfrm>
        </p:grpSpPr>
        <p:sp>
          <p:nvSpPr>
            <p:cNvPr id="14" name="object 14"/>
            <p:cNvSpPr/>
            <p:nvPr/>
          </p:nvSpPr>
          <p:spPr>
            <a:xfrm>
              <a:off x="4463796" y="3823716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78552" y="3741420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463796" y="4370832"/>
            <a:ext cx="880744" cy="164465"/>
            <a:chOff x="4463796" y="4370832"/>
            <a:chExt cx="880744" cy="164465"/>
          </a:xfrm>
        </p:grpSpPr>
        <p:sp>
          <p:nvSpPr>
            <p:cNvPr id="17" name="object 17"/>
            <p:cNvSpPr/>
            <p:nvPr/>
          </p:nvSpPr>
          <p:spPr>
            <a:xfrm>
              <a:off x="4463796" y="4453128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78552" y="4370832"/>
              <a:ext cx="166370" cy="164465"/>
            </a:xfrm>
            <a:custGeom>
              <a:avLst/>
              <a:gdLst/>
              <a:ahLst/>
              <a:cxnLst/>
              <a:rect l="l" t="t" r="r" b="b"/>
              <a:pathLst>
                <a:path w="166370" h="164464">
                  <a:moveTo>
                    <a:pt x="0" y="0"/>
                  </a:moveTo>
                  <a:lnTo>
                    <a:pt x="0" y="164083"/>
                  </a:lnTo>
                  <a:lnTo>
                    <a:pt x="165862" y="8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463796" y="4936235"/>
            <a:ext cx="880744" cy="166370"/>
            <a:chOff x="4463796" y="4936235"/>
            <a:chExt cx="880744" cy="166370"/>
          </a:xfrm>
        </p:grpSpPr>
        <p:sp>
          <p:nvSpPr>
            <p:cNvPr id="20" name="object 20"/>
            <p:cNvSpPr/>
            <p:nvPr/>
          </p:nvSpPr>
          <p:spPr>
            <a:xfrm>
              <a:off x="4463796" y="5018531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78552" y="4936235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463796" y="5564123"/>
            <a:ext cx="880744" cy="166370"/>
            <a:chOff x="4463796" y="5564123"/>
            <a:chExt cx="880744" cy="166370"/>
          </a:xfrm>
        </p:grpSpPr>
        <p:sp>
          <p:nvSpPr>
            <p:cNvPr id="23" name="object 23"/>
            <p:cNvSpPr/>
            <p:nvPr/>
          </p:nvSpPr>
          <p:spPr>
            <a:xfrm>
              <a:off x="4463796" y="5647943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78552" y="556412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443473" y="3622040"/>
            <a:ext cx="93027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25" dirty="0">
                <a:solidFill>
                  <a:srgbClr val="2896E1"/>
                </a:solidFill>
                <a:latin typeface="Times New Roman"/>
                <a:cs typeface="Times New Roman"/>
              </a:rPr>
              <a:t>117.0.0.0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57190" y="4249928"/>
            <a:ext cx="122555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156.132.0.0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57190" y="4817109"/>
            <a:ext cx="14312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208.150.112.0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05958" y="5444997"/>
            <a:ext cx="84328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91.0.0.0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Broadcast</a:t>
            </a:r>
            <a:r>
              <a:rPr lang="en-US" spc="-175" dirty="0"/>
              <a:t> </a:t>
            </a:r>
            <a:r>
              <a:rPr spc="-175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2297" y="3389198"/>
            <a:ext cx="6014085" cy="2458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305"/>
              </a:spcBef>
              <a:buClr>
                <a:srgbClr val="E38311"/>
              </a:buClr>
              <a:buSzPct val="90697"/>
              <a:buAutoNum type="arabicPeriod"/>
              <a:tabLst>
                <a:tab pos="223520" algn="l"/>
              </a:tabLst>
            </a:pPr>
            <a:r>
              <a:rPr sz="2150" b="1" dirty="0">
                <a:solidFill>
                  <a:srgbClr val="3C3C3C"/>
                </a:solidFill>
                <a:latin typeface="Carlito"/>
                <a:cs typeface="Carlito"/>
              </a:rPr>
              <a:t>End</a:t>
            </a:r>
            <a:r>
              <a:rPr sz="2150" b="1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b="1" dirty="0">
                <a:solidFill>
                  <a:srgbClr val="3C3C3C"/>
                </a:solidFill>
                <a:latin typeface="Carlito"/>
                <a:cs typeface="Carlito"/>
              </a:rPr>
              <a:t>with</a:t>
            </a:r>
            <a:r>
              <a:rPr sz="2150" b="1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b="1" dirty="0">
                <a:solidFill>
                  <a:srgbClr val="3C3C3C"/>
                </a:solidFill>
                <a:latin typeface="Carlito"/>
                <a:cs typeface="Carlito"/>
              </a:rPr>
              <a:t>binary</a:t>
            </a:r>
            <a:r>
              <a:rPr sz="2150" b="1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b="1" dirty="0">
                <a:solidFill>
                  <a:srgbClr val="3C3C3C"/>
                </a:solidFill>
                <a:latin typeface="Carlito"/>
                <a:cs typeface="Carlito"/>
              </a:rPr>
              <a:t>1s</a:t>
            </a:r>
            <a:r>
              <a:rPr sz="2150" b="1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b="1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2150" b="1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b="1" spc="-2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2150" b="1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b="1" spc="-20" dirty="0">
                <a:solidFill>
                  <a:srgbClr val="3C3C3C"/>
                </a:solidFill>
                <a:latin typeface="Carlito"/>
                <a:cs typeface="Carlito"/>
              </a:rPr>
              <a:t>bits</a:t>
            </a:r>
            <a:endParaRPr sz="2150">
              <a:latin typeface="Carlito"/>
              <a:cs typeface="Carlito"/>
            </a:endParaRPr>
          </a:p>
          <a:p>
            <a:pPr marL="198120" indent="-195580">
              <a:lnSpc>
                <a:spcPct val="100000"/>
              </a:lnSpc>
              <a:spcBef>
                <a:spcPts val="200"/>
              </a:spcBef>
              <a:buClr>
                <a:srgbClr val="E38311"/>
              </a:buClr>
              <a:buSzPct val="83720"/>
              <a:buAutoNum type="arabicPeriod"/>
              <a:tabLst>
                <a:tab pos="198120" algn="l"/>
              </a:tabLst>
            </a:pP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21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21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send</a:t>
            </a:r>
            <a:r>
              <a:rPr sz="21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35" dirty="0">
                <a:solidFill>
                  <a:srgbClr val="3C3C3C"/>
                </a:solidFill>
                <a:latin typeface="Carlito"/>
                <a:cs typeface="Carlito"/>
              </a:rPr>
              <a:t>data</a:t>
            </a:r>
            <a:r>
              <a:rPr sz="2150" spc="-8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215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all</a:t>
            </a:r>
            <a:r>
              <a:rPr sz="215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devices</a:t>
            </a:r>
            <a:r>
              <a:rPr sz="21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on</a:t>
            </a:r>
            <a:r>
              <a:rPr sz="21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21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2150">
              <a:latin typeface="Carlito"/>
              <a:cs typeface="Carlito"/>
            </a:endParaRPr>
          </a:p>
          <a:p>
            <a:pPr marL="216535" indent="-214629">
              <a:lnSpc>
                <a:spcPct val="100000"/>
              </a:lnSpc>
              <a:spcBef>
                <a:spcPts val="400"/>
              </a:spcBef>
              <a:buClr>
                <a:srgbClr val="E38311"/>
              </a:buClr>
              <a:buSzPct val="93023"/>
              <a:buAutoNum type="arabicPeriod"/>
              <a:tabLst>
                <a:tab pos="216535" algn="l"/>
              </a:tabLst>
            </a:pPr>
            <a:r>
              <a:rPr sz="2150" spc="-20" dirty="0">
                <a:solidFill>
                  <a:srgbClr val="3C3C3C"/>
                </a:solidFill>
                <a:latin typeface="Carlito"/>
                <a:cs typeface="Carlito"/>
              </a:rPr>
              <a:t>Never</a:t>
            </a:r>
            <a:r>
              <a:rPr sz="2150" spc="-9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21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as</a:t>
            </a:r>
            <a:r>
              <a:rPr sz="21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21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device</a:t>
            </a:r>
            <a:r>
              <a:rPr sz="21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2150" spc="-1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2150">
              <a:latin typeface="Carlito"/>
              <a:cs typeface="Carlito"/>
            </a:endParaRPr>
          </a:p>
          <a:p>
            <a:pPr marL="218440" indent="-205740">
              <a:lnSpc>
                <a:spcPts val="2555"/>
              </a:lnSpc>
              <a:spcBef>
                <a:spcPts val="395"/>
              </a:spcBef>
              <a:buClr>
                <a:srgbClr val="E38311"/>
              </a:buClr>
              <a:buSzPct val="90697"/>
              <a:buAutoNum type="arabicPeriod"/>
              <a:tabLst>
                <a:tab pos="218440" algn="l"/>
              </a:tabLst>
            </a:pPr>
            <a:r>
              <a:rPr sz="2150" spc="-25" dirty="0">
                <a:solidFill>
                  <a:srgbClr val="3C3C3C"/>
                </a:solidFill>
                <a:latin typeface="Carlito"/>
                <a:cs typeface="Carlito"/>
              </a:rPr>
              <a:t>Example</a:t>
            </a:r>
            <a:r>
              <a:rPr sz="21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21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solidFill>
                  <a:srgbClr val="3C3C3C"/>
                </a:solidFill>
                <a:latin typeface="Carlito"/>
                <a:cs typeface="Carlito"/>
              </a:rPr>
              <a:t>address:</a:t>
            </a:r>
            <a:r>
              <a:rPr sz="215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150" spc="-10" dirty="0">
                <a:solidFill>
                  <a:srgbClr val="3C3C3C"/>
                </a:solidFill>
                <a:latin typeface="Carlito"/>
                <a:cs typeface="Carlito"/>
              </a:rPr>
              <a:t>152.21.2.3</a:t>
            </a:r>
            <a:endParaRPr sz="2150">
              <a:latin typeface="Carlito"/>
              <a:cs typeface="Carlito"/>
            </a:endParaRPr>
          </a:p>
          <a:p>
            <a:pPr marL="532130" lvl="1" indent="-212090">
              <a:lnSpc>
                <a:spcPts val="1914"/>
              </a:lnSpc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Class</a:t>
            </a:r>
            <a:r>
              <a:rPr sz="16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B</a:t>
            </a:r>
            <a:r>
              <a:rPr sz="165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1650">
              <a:latin typeface="Carlito"/>
              <a:cs typeface="Carlito"/>
            </a:endParaRPr>
          </a:p>
          <a:p>
            <a:pPr marL="532130" lvl="1" indent="-212090">
              <a:lnSpc>
                <a:spcPts val="1900"/>
              </a:lnSpc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650" spc="-30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165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two</a:t>
            </a:r>
            <a:r>
              <a:rPr sz="165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20" dirty="0">
                <a:solidFill>
                  <a:srgbClr val="3C3C3C"/>
                </a:solidFill>
                <a:latin typeface="Carlito"/>
                <a:cs typeface="Carlito"/>
              </a:rPr>
              <a:t>octets</a:t>
            </a:r>
            <a:r>
              <a:rPr sz="165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are</a:t>
            </a:r>
            <a:r>
              <a:rPr sz="16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assigned</a:t>
            </a:r>
            <a:endParaRPr sz="1650">
              <a:latin typeface="Carlito"/>
              <a:cs typeface="Carlito"/>
            </a:endParaRPr>
          </a:p>
          <a:p>
            <a:pPr marL="532130" lvl="1" indent="-212090">
              <a:lnSpc>
                <a:spcPts val="1900"/>
              </a:lnSpc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650" spc="-20" dirty="0">
                <a:solidFill>
                  <a:srgbClr val="3C3C3C"/>
                </a:solidFill>
                <a:latin typeface="Carlito"/>
                <a:cs typeface="Carlito"/>
              </a:rPr>
              <a:t>Last</a:t>
            </a:r>
            <a:r>
              <a:rPr sz="165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two</a:t>
            </a:r>
            <a:r>
              <a:rPr sz="165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20" dirty="0">
                <a:solidFill>
                  <a:srgbClr val="3C3C3C"/>
                </a:solidFill>
                <a:latin typeface="Carlito"/>
                <a:cs typeface="Carlito"/>
              </a:rPr>
              <a:t>octets</a:t>
            </a:r>
            <a:r>
              <a:rPr sz="165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are</a:t>
            </a:r>
            <a:r>
              <a:rPr sz="16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165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25" dirty="0">
                <a:solidFill>
                  <a:srgbClr val="3C3C3C"/>
                </a:solidFill>
                <a:latin typeface="Carlito"/>
                <a:cs typeface="Carlito"/>
              </a:rPr>
              <a:t>numbers</a:t>
            </a:r>
            <a:r>
              <a:rPr sz="165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16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20" dirty="0">
                <a:solidFill>
                  <a:srgbClr val="3C3C3C"/>
                </a:solidFill>
                <a:latin typeface="Carlito"/>
                <a:cs typeface="Carlito"/>
              </a:rPr>
              <a:t>for</a:t>
            </a:r>
            <a:r>
              <a:rPr sz="165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devices</a:t>
            </a:r>
            <a:r>
              <a:rPr sz="16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6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65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1650">
              <a:latin typeface="Carlito"/>
              <a:cs typeface="Carlito"/>
            </a:endParaRPr>
          </a:p>
          <a:p>
            <a:pPr marL="532130" lvl="1" indent="-212090">
              <a:lnSpc>
                <a:spcPts val="1939"/>
              </a:lnSpc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650" spc="-30" dirty="0">
                <a:solidFill>
                  <a:srgbClr val="3C3C3C"/>
                </a:solidFill>
                <a:latin typeface="Carlito"/>
                <a:cs typeface="Carlito"/>
              </a:rPr>
              <a:t>Broadcast</a:t>
            </a:r>
            <a:r>
              <a:rPr sz="165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address:</a:t>
            </a:r>
            <a:r>
              <a:rPr sz="165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3C3C3C"/>
                </a:solidFill>
                <a:latin typeface="Carlito"/>
                <a:cs typeface="Carlito"/>
              </a:rPr>
              <a:t>152.21.255.255</a:t>
            </a:r>
            <a:endParaRPr sz="165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38779" y="2361183"/>
          <a:ext cx="4084953" cy="98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7660">
                <a:tc gridSpan="4"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Network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Host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 gridSpan="8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32</a:t>
                      </a:r>
                      <a:r>
                        <a:rPr sz="16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spc="-20" dirty="0">
                          <a:latin typeface="Arial"/>
                          <a:cs typeface="Arial"/>
                        </a:rPr>
                        <a:t>Bits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152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.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21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.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255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.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255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081527" y="2827020"/>
            <a:ext cx="1470025" cy="94615"/>
            <a:chOff x="3081527" y="2827020"/>
            <a:chExt cx="1470025" cy="94615"/>
          </a:xfrm>
        </p:grpSpPr>
        <p:sp>
          <p:nvSpPr>
            <p:cNvPr id="6" name="object 6"/>
            <p:cNvSpPr/>
            <p:nvPr/>
          </p:nvSpPr>
          <p:spPr>
            <a:xfrm>
              <a:off x="3161537" y="2875026"/>
              <a:ext cx="1390015" cy="0"/>
            </a:xfrm>
            <a:custGeom>
              <a:avLst/>
              <a:gdLst/>
              <a:ahLst/>
              <a:cxnLst/>
              <a:rect l="l" t="t" r="r" b="b"/>
              <a:pathLst>
                <a:path w="1390014">
                  <a:moveTo>
                    <a:pt x="1389761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81527" y="2827020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361" y="0"/>
                  </a:moveTo>
                  <a:lnTo>
                    <a:pt x="0" y="47116"/>
                  </a:lnTo>
                  <a:lnTo>
                    <a:pt x="94361" y="94360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449061" y="2819400"/>
            <a:ext cx="1466850" cy="94615"/>
            <a:chOff x="5449061" y="2819400"/>
            <a:chExt cx="1466850" cy="94615"/>
          </a:xfrm>
        </p:grpSpPr>
        <p:sp>
          <p:nvSpPr>
            <p:cNvPr id="9" name="object 9"/>
            <p:cNvSpPr/>
            <p:nvPr/>
          </p:nvSpPr>
          <p:spPr>
            <a:xfrm>
              <a:off x="5449061" y="2867405"/>
              <a:ext cx="1390015" cy="0"/>
            </a:xfrm>
            <a:custGeom>
              <a:avLst/>
              <a:gdLst/>
              <a:ahLst/>
              <a:cxnLst/>
              <a:rect l="l" t="t" r="r" b="b"/>
              <a:pathLst>
                <a:path w="1390015">
                  <a:moveTo>
                    <a:pt x="0" y="0"/>
                  </a:moveTo>
                  <a:lnTo>
                    <a:pt x="1389761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22947" y="2819400"/>
              <a:ext cx="92710" cy="94615"/>
            </a:xfrm>
            <a:custGeom>
              <a:avLst/>
              <a:gdLst/>
              <a:ahLst/>
              <a:cxnLst/>
              <a:rect l="l" t="t" r="r" b="b"/>
              <a:pathLst>
                <a:path w="92709" h="94614">
                  <a:moveTo>
                    <a:pt x="0" y="0"/>
                  </a:moveTo>
                  <a:lnTo>
                    <a:pt x="0" y="94361"/>
                  </a:lnTo>
                  <a:lnTo>
                    <a:pt x="92582" y="47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7266" y="2506217"/>
            <a:ext cx="4977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What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is</a:t>
            </a:r>
            <a:r>
              <a:rPr sz="1950" spc="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the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Broadcast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address</a:t>
            </a:r>
            <a:r>
              <a:rPr sz="1950" spc="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for</a:t>
            </a:r>
            <a:r>
              <a:rPr sz="1950" spc="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this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IPaddress?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75407" y="3058159"/>
            <a:ext cx="158432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1.</a:t>
            </a:r>
            <a:r>
              <a:rPr sz="1950" spc="17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194.78.112.6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5407" y="3661664"/>
            <a:ext cx="133223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2.</a:t>
            </a:r>
            <a:r>
              <a:rPr sz="1950" spc="13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117.23.8.3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5407" y="4265167"/>
            <a:ext cx="1736089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3.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156.132.64.12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5407" y="4868926"/>
            <a:ext cx="1834514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4.</a:t>
            </a:r>
            <a:r>
              <a:rPr sz="1950" spc="1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208.150.112.16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5407" y="5472429"/>
            <a:ext cx="15849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5.</a:t>
            </a:r>
            <a:r>
              <a:rPr sz="1950" spc="17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91.118.125.2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63796" y="3176016"/>
            <a:ext cx="880744" cy="166370"/>
            <a:chOff x="4463796" y="3176016"/>
            <a:chExt cx="880744" cy="166370"/>
          </a:xfrm>
        </p:grpSpPr>
        <p:sp>
          <p:nvSpPr>
            <p:cNvPr id="9" name="object 9"/>
            <p:cNvSpPr/>
            <p:nvPr/>
          </p:nvSpPr>
          <p:spPr>
            <a:xfrm>
              <a:off x="4463796" y="3258312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78552" y="3176016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463796" y="3741420"/>
            <a:ext cx="880744" cy="166370"/>
            <a:chOff x="4463796" y="3741420"/>
            <a:chExt cx="880744" cy="166370"/>
          </a:xfrm>
        </p:grpSpPr>
        <p:sp>
          <p:nvSpPr>
            <p:cNvPr id="12" name="object 12"/>
            <p:cNvSpPr/>
            <p:nvPr/>
          </p:nvSpPr>
          <p:spPr>
            <a:xfrm>
              <a:off x="4463796" y="3823716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78552" y="3741420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463796" y="4370832"/>
            <a:ext cx="880744" cy="164465"/>
            <a:chOff x="4463796" y="4370832"/>
            <a:chExt cx="880744" cy="164465"/>
          </a:xfrm>
        </p:grpSpPr>
        <p:sp>
          <p:nvSpPr>
            <p:cNvPr id="15" name="object 15"/>
            <p:cNvSpPr/>
            <p:nvPr/>
          </p:nvSpPr>
          <p:spPr>
            <a:xfrm>
              <a:off x="4463796" y="4453128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78552" y="4370832"/>
              <a:ext cx="166370" cy="164465"/>
            </a:xfrm>
            <a:custGeom>
              <a:avLst/>
              <a:gdLst/>
              <a:ahLst/>
              <a:cxnLst/>
              <a:rect l="l" t="t" r="r" b="b"/>
              <a:pathLst>
                <a:path w="166370" h="164464">
                  <a:moveTo>
                    <a:pt x="0" y="0"/>
                  </a:moveTo>
                  <a:lnTo>
                    <a:pt x="0" y="164083"/>
                  </a:lnTo>
                  <a:lnTo>
                    <a:pt x="165862" y="8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463796" y="4936235"/>
            <a:ext cx="880744" cy="166370"/>
            <a:chOff x="4463796" y="4936235"/>
            <a:chExt cx="880744" cy="166370"/>
          </a:xfrm>
        </p:grpSpPr>
        <p:sp>
          <p:nvSpPr>
            <p:cNvPr id="18" name="object 18"/>
            <p:cNvSpPr/>
            <p:nvPr/>
          </p:nvSpPr>
          <p:spPr>
            <a:xfrm>
              <a:off x="4463796" y="5018531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78552" y="4936235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463796" y="5564123"/>
            <a:ext cx="880744" cy="166370"/>
            <a:chOff x="4463796" y="5564123"/>
            <a:chExt cx="880744" cy="166370"/>
          </a:xfrm>
        </p:grpSpPr>
        <p:sp>
          <p:nvSpPr>
            <p:cNvPr id="21" name="object 21"/>
            <p:cNvSpPr/>
            <p:nvPr/>
          </p:nvSpPr>
          <p:spPr>
            <a:xfrm>
              <a:off x="4463796" y="5647943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8552" y="556412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443473" y="3071317"/>
            <a:ext cx="155575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194.78.112.255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43473" y="3625088"/>
            <a:ext cx="16846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117.255.255.255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57190" y="4252976"/>
            <a:ext cx="17246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156.132.255.255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57190" y="4818633"/>
            <a:ext cx="16846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208.150.112.255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05958" y="5448045"/>
            <a:ext cx="15995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91.255.255.255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Examples</a:t>
            </a:r>
            <a:r>
              <a:rPr spc="-415" dirty="0"/>
              <a:t> </a:t>
            </a:r>
            <a:r>
              <a:rPr spc="-105" dirty="0"/>
              <a:t>o</a:t>
            </a:r>
            <a:r>
              <a:rPr spc="295" dirty="0"/>
              <a:t>f</a:t>
            </a:r>
            <a:r>
              <a:rPr lang="en-US" spc="295" dirty="0"/>
              <a:t> </a:t>
            </a:r>
            <a:r>
              <a:rPr spc="-204" dirty="0"/>
              <a:t>Br</a:t>
            </a:r>
            <a:r>
              <a:rPr spc="-200" dirty="0"/>
              <a:t>o</a:t>
            </a:r>
            <a:r>
              <a:rPr spc="-204" dirty="0"/>
              <a:t>a</a:t>
            </a:r>
            <a:r>
              <a:rPr spc="-210" dirty="0"/>
              <a:t>d</a:t>
            </a:r>
            <a:r>
              <a:rPr spc="-200" dirty="0"/>
              <a:t>c</a:t>
            </a:r>
            <a:r>
              <a:rPr spc="-204" dirty="0"/>
              <a:t>as</a:t>
            </a:r>
            <a:r>
              <a:rPr spc="-210" dirty="0"/>
              <a:t>t</a:t>
            </a:r>
            <a:r>
              <a:rPr lang="en-US" spc="-210" dirty="0"/>
              <a:t> </a:t>
            </a:r>
            <a:r>
              <a:rPr spc="-200" dirty="0"/>
              <a:t>A</a:t>
            </a:r>
            <a:r>
              <a:rPr spc="-210" dirty="0"/>
              <a:t>d</a:t>
            </a:r>
            <a:r>
              <a:rPr spc="-195" dirty="0"/>
              <a:t>d</a:t>
            </a:r>
            <a:r>
              <a:rPr spc="-204" dirty="0"/>
              <a:t>r</a:t>
            </a:r>
            <a:r>
              <a:rPr spc="-195" dirty="0"/>
              <a:t>e</a:t>
            </a:r>
            <a:r>
              <a:rPr spc="-204" dirty="0"/>
              <a:t>s</a:t>
            </a:r>
            <a:r>
              <a:rPr spc="5" dirty="0"/>
              <a:t>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00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N</a:t>
            </a:r>
            <a:r>
              <a:rPr spc="-235" dirty="0"/>
              <a:t>et</a:t>
            </a:r>
            <a:r>
              <a:rPr spc="-225" dirty="0"/>
              <a:t>wo</a:t>
            </a:r>
            <a:r>
              <a:rPr spc="-229" dirty="0"/>
              <a:t>r</a:t>
            </a:r>
            <a:r>
              <a:rPr spc="295" dirty="0"/>
              <a:t>k</a:t>
            </a:r>
            <a:r>
              <a:rPr spc="-195" dirty="0"/>
              <a:t>N</a:t>
            </a:r>
            <a:r>
              <a:rPr spc="-190" dirty="0"/>
              <a:t>u</a:t>
            </a:r>
            <a:r>
              <a:rPr spc="-195" dirty="0"/>
              <a:t>m</a:t>
            </a:r>
            <a:r>
              <a:rPr spc="-200" dirty="0"/>
              <a:t>b</a:t>
            </a:r>
            <a:r>
              <a:rPr spc="-195" dirty="0"/>
              <a:t>e</a:t>
            </a:r>
            <a:r>
              <a:rPr spc="325" dirty="0"/>
              <a:t>r</a:t>
            </a:r>
            <a:r>
              <a:rPr spc="-160" dirty="0"/>
              <a:t>a</a:t>
            </a:r>
            <a:r>
              <a:rPr spc="-155" dirty="0"/>
              <a:t>n</a:t>
            </a:r>
            <a:r>
              <a:rPr spc="-20" dirty="0"/>
              <a:t>d</a:t>
            </a:r>
            <a:r>
              <a:rPr spc="-660" dirty="0"/>
              <a:t> </a:t>
            </a:r>
            <a:r>
              <a:rPr spc="-235" dirty="0" err="1"/>
              <a:t>B</a:t>
            </a:r>
            <a:r>
              <a:rPr spc="-229" dirty="0" err="1"/>
              <a:t>roa</a:t>
            </a:r>
            <a:r>
              <a:rPr spc="-240" dirty="0" err="1"/>
              <a:t>d</a:t>
            </a:r>
            <a:r>
              <a:rPr spc="-225" dirty="0" err="1"/>
              <a:t>c</a:t>
            </a:r>
            <a:r>
              <a:rPr spc="-229" dirty="0" err="1"/>
              <a:t>a</a:t>
            </a:r>
            <a:r>
              <a:rPr spc="-235" dirty="0" err="1"/>
              <a:t>s</a:t>
            </a:r>
            <a:r>
              <a:rPr spc="315" dirty="0" err="1"/>
              <a:t>t</a:t>
            </a:r>
            <a:r>
              <a:rPr spc="-155" dirty="0" err="1"/>
              <a:t>A</a:t>
            </a:r>
            <a:r>
              <a:rPr spc="-165" dirty="0" err="1"/>
              <a:t>dd</a:t>
            </a:r>
            <a:r>
              <a:rPr spc="-155" dirty="0" err="1"/>
              <a:t>r</a:t>
            </a:r>
            <a:r>
              <a:rPr spc="-160" dirty="0" err="1"/>
              <a:t>es</a:t>
            </a:r>
            <a:r>
              <a:rPr spc="15" dirty="0" err="1"/>
              <a:t>s</a:t>
            </a:r>
            <a:endParaRPr spc="15" dirty="0"/>
          </a:p>
        </p:txBody>
      </p:sp>
      <p:sp>
        <p:nvSpPr>
          <p:cNvPr id="3" name="object 3"/>
          <p:cNvSpPr txBox="1"/>
          <p:nvPr/>
        </p:nvSpPr>
        <p:spPr>
          <a:xfrm>
            <a:off x="892251" y="2209266"/>
            <a:ext cx="7433309" cy="226758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33679" indent="-223520">
              <a:lnSpc>
                <a:spcPct val="100000"/>
              </a:lnSpc>
              <a:spcBef>
                <a:spcPts val="1010"/>
              </a:spcBef>
              <a:buClr>
                <a:srgbClr val="E38311"/>
              </a:buClr>
              <a:buSzPct val="86956"/>
              <a:buAutoNum type="arabicPeriod"/>
              <a:tabLst>
                <a:tab pos="233679" algn="l"/>
              </a:tabLst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All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14" dirty="0">
                <a:solidFill>
                  <a:srgbClr val="3C3C3C"/>
                </a:solidFill>
                <a:latin typeface="Carlito"/>
                <a:cs typeface="Carlito"/>
              </a:rPr>
              <a:t>0’s</a:t>
            </a:r>
            <a:r>
              <a:rPr sz="2300" spc="-1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23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2300" spc="-10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is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23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Number</a:t>
            </a:r>
            <a:endParaRPr sz="2300">
              <a:latin typeface="Carlito"/>
              <a:cs typeface="Carlito"/>
            </a:endParaRPr>
          </a:p>
          <a:p>
            <a:pPr marL="233679" indent="-223520">
              <a:lnSpc>
                <a:spcPct val="100000"/>
              </a:lnSpc>
              <a:spcBef>
                <a:spcPts val="910"/>
              </a:spcBef>
              <a:buClr>
                <a:srgbClr val="E38311"/>
              </a:buClr>
              <a:buSzPct val="86956"/>
              <a:buAutoNum type="arabicPeriod"/>
              <a:tabLst>
                <a:tab pos="233679" algn="l"/>
              </a:tabLst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All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14" dirty="0">
                <a:solidFill>
                  <a:srgbClr val="3C3C3C"/>
                </a:solidFill>
                <a:latin typeface="Carlito"/>
                <a:cs typeface="Carlito"/>
              </a:rPr>
              <a:t>1’s</a:t>
            </a:r>
            <a:r>
              <a:rPr sz="2300" spc="-1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23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2300" spc="-1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23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Broadcast</a:t>
            </a:r>
            <a:r>
              <a:rPr sz="2300" spc="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2300">
              <a:latin typeface="Carlito"/>
              <a:cs typeface="Carlito"/>
            </a:endParaRPr>
          </a:p>
          <a:p>
            <a:pPr marL="205104" indent="-205104">
              <a:lnSpc>
                <a:spcPct val="100000"/>
              </a:lnSpc>
              <a:spcBef>
                <a:spcPts val="880"/>
              </a:spcBef>
              <a:buClr>
                <a:srgbClr val="E38311"/>
              </a:buClr>
              <a:buSzPct val="86956"/>
              <a:buAutoNum type="arabicPeriod"/>
              <a:tabLst>
                <a:tab pos="205104" algn="l"/>
              </a:tabLst>
            </a:pP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These</a:t>
            </a:r>
            <a:r>
              <a:rPr sz="2300" spc="-8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two</a:t>
            </a:r>
            <a:r>
              <a:rPr sz="23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addresses</a:t>
            </a:r>
            <a:r>
              <a:rPr sz="2300" spc="-1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can</a:t>
            </a:r>
            <a:r>
              <a:rPr sz="2300" spc="-9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never</a:t>
            </a:r>
            <a:r>
              <a:rPr sz="2300" spc="-10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be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used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when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assigning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IP’s</a:t>
            </a:r>
            <a:endParaRPr sz="2300">
              <a:latin typeface="Carlito"/>
              <a:cs typeface="Carlito"/>
            </a:endParaRPr>
          </a:p>
          <a:p>
            <a:pPr marL="204470" marR="5080" indent="-202565">
              <a:lnSpc>
                <a:spcPct val="110900"/>
              </a:lnSpc>
              <a:spcBef>
                <a:spcPts val="550"/>
              </a:spcBef>
              <a:buSzPct val="86956"/>
              <a:buAutoNum type="arabicPeriod"/>
              <a:tabLst>
                <a:tab pos="204470" algn="l"/>
                <a:tab pos="206375" algn="l"/>
              </a:tabLst>
            </a:pPr>
            <a:r>
              <a:rPr sz="2300" dirty="0">
                <a:solidFill>
                  <a:srgbClr val="E38311"/>
                </a:solidFill>
                <a:latin typeface="Carlito"/>
                <a:cs typeface="Carlito"/>
              </a:rPr>
              <a:t>	</a:t>
            </a:r>
            <a:r>
              <a:rPr sz="2300" spc="-25" dirty="0">
                <a:solidFill>
                  <a:srgbClr val="3C3C3C"/>
                </a:solidFill>
                <a:latin typeface="Carlito"/>
                <a:cs typeface="Carlito"/>
              </a:rPr>
              <a:t>When</a:t>
            </a:r>
            <a:r>
              <a:rPr sz="2300" spc="-114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finding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number</a:t>
            </a:r>
            <a:r>
              <a:rPr sz="23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useable</a:t>
            </a:r>
            <a:r>
              <a:rPr sz="23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23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addresses,</a:t>
            </a:r>
            <a:r>
              <a:rPr sz="2300" spc="-10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you</a:t>
            </a:r>
            <a:r>
              <a:rPr sz="2300" spc="2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will 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always</a:t>
            </a:r>
            <a:r>
              <a:rPr sz="2300" spc="-10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subtract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2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(network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&amp;</a:t>
            </a:r>
            <a:r>
              <a:rPr sz="2300" spc="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Broadcast)</a:t>
            </a:r>
            <a:endParaRPr sz="23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45" dirty="0"/>
              <a:t>D</a:t>
            </a:r>
            <a:r>
              <a:rPr spc="-250" dirty="0"/>
              <a:t>e</a:t>
            </a:r>
            <a:r>
              <a:rPr spc="-245" dirty="0"/>
              <a:t>faul</a:t>
            </a:r>
            <a:r>
              <a:rPr spc="335" dirty="0"/>
              <a:t>t</a:t>
            </a:r>
            <a:r>
              <a:rPr lang="en-US" spc="335" dirty="0"/>
              <a:t> </a:t>
            </a:r>
            <a:r>
              <a:rPr spc="-120" dirty="0"/>
              <a:t>S</a:t>
            </a:r>
            <a:r>
              <a:rPr spc="-110" dirty="0"/>
              <a:t>u</a:t>
            </a:r>
            <a:r>
              <a:rPr spc="-120" dirty="0"/>
              <a:t>b</a:t>
            </a:r>
            <a:r>
              <a:rPr spc="-110" dirty="0"/>
              <a:t>n</a:t>
            </a:r>
            <a:r>
              <a:rPr spc="-114" dirty="0"/>
              <a:t>et</a:t>
            </a:r>
            <a:r>
              <a:rPr lang="en-US" spc="-114" dirty="0"/>
              <a:t> </a:t>
            </a:r>
            <a:r>
              <a:rPr spc="-114" dirty="0"/>
              <a:t>Mas</a:t>
            </a:r>
            <a:r>
              <a:rPr dirty="0"/>
              <a:t>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2251" y="2279370"/>
            <a:ext cx="7891145" cy="343344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46379" indent="-233679">
              <a:lnSpc>
                <a:spcPct val="100000"/>
              </a:lnSpc>
              <a:spcBef>
                <a:spcPts val="1045"/>
              </a:spcBef>
              <a:buClr>
                <a:srgbClr val="E38311"/>
              </a:buClr>
              <a:buAutoNum type="arabicPeriod"/>
              <a:tabLst>
                <a:tab pos="246379" algn="l"/>
              </a:tabLst>
            </a:pP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Formal</a:t>
            </a:r>
            <a:r>
              <a:rPr sz="2300" spc="-9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name:</a:t>
            </a:r>
            <a:r>
              <a:rPr sz="23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20" dirty="0">
                <a:solidFill>
                  <a:srgbClr val="3C3C3C"/>
                </a:solidFill>
                <a:latin typeface="Carlito"/>
                <a:cs typeface="Carlito"/>
              </a:rPr>
              <a:t>Extended</a:t>
            </a:r>
            <a:r>
              <a:rPr sz="2300" b="1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2300" b="1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b="1" spc="-10" dirty="0">
                <a:solidFill>
                  <a:srgbClr val="3C3C3C"/>
                </a:solidFill>
                <a:latin typeface="Carlito"/>
                <a:cs typeface="Carlito"/>
              </a:rPr>
              <a:t>Prefix</a:t>
            </a:r>
            <a:endParaRPr sz="2300">
              <a:latin typeface="Carlito"/>
              <a:cs typeface="Carlito"/>
            </a:endParaRPr>
          </a:p>
          <a:p>
            <a:pPr marL="247015" marR="5080" indent="-234950">
              <a:lnSpc>
                <a:spcPts val="2500"/>
              </a:lnSpc>
              <a:spcBef>
                <a:spcPts val="1250"/>
              </a:spcBef>
              <a:buClr>
                <a:srgbClr val="E38311"/>
              </a:buClr>
              <a:buAutoNum type="arabicPeriod"/>
              <a:tabLst>
                <a:tab pos="247015" algn="l"/>
              </a:tabLst>
            </a:pPr>
            <a:r>
              <a:rPr sz="2300" spc="-120" dirty="0">
                <a:solidFill>
                  <a:srgbClr val="3C3C3C"/>
                </a:solidFill>
                <a:latin typeface="Carlito"/>
                <a:cs typeface="Carlito"/>
              </a:rPr>
              <a:t>Tells</a:t>
            </a:r>
            <a:r>
              <a:rPr sz="2300" spc="-1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23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devices</a:t>
            </a:r>
            <a:r>
              <a:rPr sz="2300" spc="-9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which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part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23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an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23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is</a:t>
            </a:r>
            <a:r>
              <a:rPr sz="23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network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field</a:t>
            </a:r>
            <a:r>
              <a:rPr sz="23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and</a:t>
            </a:r>
            <a:r>
              <a:rPr sz="23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which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part</a:t>
            </a:r>
            <a:r>
              <a:rPr sz="23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is</a:t>
            </a:r>
            <a:r>
              <a:rPr sz="23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23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field</a:t>
            </a:r>
            <a:endParaRPr sz="2300">
              <a:latin typeface="Carlito"/>
              <a:cs typeface="Carlito"/>
            </a:endParaRPr>
          </a:p>
          <a:p>
            <a:pPr marL="238125" indent="-233045">
              <a:lnSpc>
                <a:spcPct val="100000"/>
              </a:lnSpc>
              <a:spcBef>
                <a:spcPts val="700"/>
              </a:spcBef>
              <a:buClr>
                <a:srgbClr val="E38311"/>
              </a:buClr>
              <a:buAutoNum type="arabicPeriod"/>
              <a:tabLst>
                <a:tab pos="238125" algn="l"/>
              </a:tabLst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32</a:t>
            </a:r>
            <a:r>
              <a:rPr sz="230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bits</a:t>
            </a:r>
            <a:r>
              <a:rPr sz="23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long</a:t>
            </a:r>
            <a:r>
              <a:rPr sz="23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and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4</a:t>
            </a:r>
            <a:r>
              <a:rPr sz="23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octets,</a:t>
            </a:r>
            <a:r>
              <a:rPr sz="23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just</a:t>
            </a:r>
            <a:r>
              <a:rPr sz="23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like</a:t>
            </a:r>
            <a:r>
              <a:rPr sz="2300" spc="-7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an IP</a:t>
            </a:r>
            <a:r>
              <a:rPr sz="2300" spc="-1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endParaRPr sz="2300">
              <a:latin typeface="Carlito"/>
              <a:cs typeface="Carlito"/>
            </a:endParaRPr>
          </a:p>
          <a:p>
            <a:pPr marL="235585" indent="-233045">
              <a:lnSpc>
                <a:spcPct val="100000"/>
              </a:lnSpc>
              <a:spcBef>
                <a:spcPts val="840"/>
              </a:spcBef>
              <a:buClr>
                <a:srgbClr val="E38311"/>
              </a:buClr>
              <a:buAutoNum type="arabicPeriod"/>
              <a:tabLst>
                <a:tab pos="235585" algn="l"/>
              </a:tabLst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Step</a:t>
            </a:r>
            <a:r>
              <a:rPr sz="23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23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determine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subnet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mask:</a:t>
            </a:r>
            <a:endParaRPr sz="2300">
              <a:latin typeface="Carlito"/>
              <a:cs typeface="Carlito"/>
            </a:endParaRPr>
          </a:p>
          <a:p>
            <a:pPr marL="532130" lvl="1" indent="-212090">
              <a:lnSpc>
                <a:spcPct val="100000"/>
              </a:lnSpc>
              <a:spcBef>
                <a:spcPts val="275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Express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subnetwork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800" spc="-6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binary</a:t>
            </a:r>
            <a:r>
              <a:rPr sz="1800" spc="9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form</a:t>
            </a:r>
            <a:endParaRPr sz="1800">
              <a:latin typeface="Carlito"/>
              <a:cs typeface="Carlito"/>
            </a:endParaRPr>
          </a:p>
          <a:p>
            <a:pPr marL="532130" lvl="1" indent="-212090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Replace</a:t>
            </a:r>
            <a:r>
              <a:rPr sz="1800" spc="-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portion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80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8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with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all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1s</a:t>
            </a:r>
            <a:endParaRPr sz="1800">
              <a:latin typeface="Carlito"/>
              <a:cs typeface="Carlito"/>
            </a:endParaRPr>
          </a:p>
          <a:p>
            <a:pPr marL="532130" lvl="1" indent="-212090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Replace</a:t>
            </a:r>
            <a:r>
              <a:rPr sz="1800" spc="-4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host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portion</a:t>
            </a:r>
            <a:r>
              <a:rPr sz="18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18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with</a:t>
            </a:r>
            <a:r>
              <a:rPr sz="1800" spc="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all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 0s</a:t>
            </a:r>
            <a:endParaRPr sz="1800">
              <a:latin typeface="Carlito"/>
              <a:cs typeface="Carlito"/>
            </a:endParaRPr>
          </a:p>
          <a:p>
            <a:pPr marL="532130" lvl="1" indent="-212090">
              <a:lnSpc>
                <a:spcPct val="100000"/>
              </a:lnSpc>
              <a:spcBef>
                <a:spcPts val="300"/>
              </a:spcBef>
              <a:buClr>
                <a:srgbClr val="E38311"/>
              </a:buClr>
              <a:buFont typeface="Arial"/>
              <a:buChar char="◦"/>
              <a:tabLst>
                <a:tab pos="532130" algn="l"/>
              </a:tabLst>
            </a:pP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Convert</a:t>
            </a:r>
            <a:r>
              <a:rPr sz="18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binary</a:t>
            </a:r>
            <a:r>
              <a:rPr sz="180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rlito"/>
                <a:cs typeface="Carlito"/>
              </a:rPr>
              <a:t>expression</a:t>
            </a:r>
            <a:r>
              <a:rPr sz="1800" spc="-7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back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18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Carlito"/>
                <a:cs typeface="Carlito"/>
              </a:rPr>
              <a:t>dotted-</a:t>
            </a:r>
            <a:r>
              <a:rPr sz="1800" dirty="0">
                <a:solidFill>
                  <a:srgbClr val="3C3C3C"/>
                </a:solidFill>
                <a:latin typeface="Carlito"/>
                <a:cs typeface="Carlito"/>
              </a:rPr>
              <a:t>decimal</a:t>
            </a:r>
            <a:r>
              <a:rPr sz="1800" spc="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rlito"/>
                <a:cs typeface="Carlito"/>
              </a:rPr>
              <a:t>notation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7266" y="2506217"/>
            <a:ext cx="52920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What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is</a:t>
            </a:r>
            <a:r>
              <a:rPr sz="1950" spc="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the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Default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Subnet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Mask</a:t>
            </a:r>
            <a:r>
              <a:rPr sz="1950" spc="9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for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this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IPaddress?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75407" y="3058159"/>
            <a:ext cx="158432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1.</a:t>
            </a:r>
            <a:r>
              <a:rPr sz="1950" spc="17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194.78.112.6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5407" y="3661664"/>
            <a:ext cx="133223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2.</a:t>
            </a:r>
            <a:r>
              <a:rPr sz="1950" spc="13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117.23.8.3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5407" y="4265167"/>
            <a:ext cx="1736089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3.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156.132.64.12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5407" y="4868926"/>
            <a:ext cx="1834514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4.</a:t>
            </a:r>
            <a:r>
              <a:rPr sz="1950" spc="1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208.150.112.16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5407" y="5472429"/>
            <a:ext cx="15849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5.</a:t>
            </a:r>
            <a:r>
              <a:rPr sz="1950" spc="17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91.118.125.2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63796" y="3176016"/>
            <a:ext cx="880744" cy="166370"/>
            <a:chOff x="4463796" y="3176016"/>
            <a:chExt cx="880744" cy="166370"/>
          </a:xfrm>
        </p:grpSpPr>
        <p:sp>
          <p:nvSpPr>
            <p:cNvPr id="9" name="object 9"/>
            <p:cNvSpPr/>
            <p:nvPr/>
          </p:nvSpPr>
          <p:spPr>
            <a:xfrm>
              <a:off x="4463796" y="3258312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78552" y="3176016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463796" y="3741420"/>
            <a:ext cx="880744" cy="166370"/>
            <a:chOff x="4463796" y="3741420"/>
            <a:chExt cx="880744" cy="166370"/>
          </a:xfrm>
        </p:grpSpPr>
        <p:sp>
          <p:nvSpPr>
            <p:cNvPr id="12" name="object 12"/>
            <p:cNvSpPr/>
            <p:nvPr/>
          </p:nvSpPr>
          <p:spPr>
            <a:xfrm>
              <a:off x="4463796" y="3823716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78552" y="3741420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463796" y="4370832"/>
            <a:ext cx="880744" cy="164465"/>
            <a:chOff x="4463796" y="4370832"/>
            <a:chExt cx="880744" cy="164465"/>
          </a:xfrm>
        </p:grpSpPr>
        <p:sp>
          <p:nvSpPr>
            <p:cNvPr id="15" name="object 15"/>
            <p:cNvSpPr/>
            <p:nvPr/>
          </p:nvSpPr>
          <p:spPr>
            <a:xfrm>
              <a:off x="4463796" y="4453128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78552" y="4370832"/>
              <a:ext cx="166370" cy="164465"/>
            </a:xfrm>
            <a:custGeom>
              <a:avLst/>
              <a:gdLst/>
              <a:ahLst/>
              <a:cxnLst/>
              <a:rect l="l" t="t" r="r" b="b"/>
              <a:pathLst>
                <a:path w="166370" h="164464">
                  <a:moveTo>
                    <a:pt x="0" y="0"/>
                  </a:moveTo>
                  <a:lnTo>
                    <a:pt x="0" y="164083"/>
                  </a:lnTo>
                  <a:lnTo>
                    <a:pt x="165862" y="8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463796" y="4936235"/>
            <a:ext cx="880744" cy="166370"/>
            <a:chOff x="4463796" y="4936235"/>
            <a:chExt cx="880744" cy="166370"/>
          </a:xfrm>
        </p:grpSpPr>
        <p:sp>
          <p:nvSpPr>
            <p:cNvPr id="18" name="object 18"/>
            <p:cNvSpPr/>
            <p:nvPr/>
          </p:nvSpPr>
          <p:spPr>
            <a:xfrm>
              <a:off x="4463796" y="5018531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78552" y="4936235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463796" y="5564123"/>
            <a:ext cx="880744" cy="166370"/>
            <a:chOff x="4463796" y="5564123"/>
            <a:chExt cx="880744" cy="166370"/>
          </a:xfrm>
        </p:grpSpPr>
        <p:sp>
          <p:nvSpPr>
            <p:cNvPr id="21" name="object 21"/>
            <p:cNvSpPr/>
            <p:nvPr/>
          </p:nvSpPr>
          <p:spPr>
            <a:xfrm>
              <a:off x="4463796" y="5647943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8552" y="556412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0" y="0"/>
                  </a:moveTo>
                  <a:lnTo>
                    <a:pt x="0" y="165862"/>
                  </a:lnTo>
                  <a:lnTo>
                    <a:pt x="165862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443473" y="3071317"/>
            <a:ext cx="147510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255.255.255.0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43473" y="3625088"/>
            <a:ext cx="96837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255.0.0.0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57190" y="4252976"/>
            <a:ext cx="122555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255.255.0.0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57190" y="4818633"/>
            <a:ext cx="14751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255.255.255.0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05958" y="5448045"/>
            <a:ext cx="96837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2896E1"/>
                </a:solidFill>
                <a:latin typeface="Times New Roman"/>
                <a:cs typeface="Times New Roman"/>
              </a:rPr>
              <a:t>255.0.0.0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Examples</a:t>
            </a:r>
            <a:r>
              <a:rPr lang="en-US" spc="-180" dirty="0"/>
              <a:t> </a:t>
            </a:r>
            <a:r>
              <a:rPr spc="-180" dirty="0"/>
              <a:t>of</a:t>
            </a:r>
            <a:r>
              <a:rPr spc="-665" dirty="0"/>
              <a:t> </a:t>
            </a:r>
            <a:r>
              <a:rPr spc="-190" dirty="0"/>
              <a:t>Default</a:t>
            </a:r>
            <a:r>
              <a:rPr lang="en-US" spc="-190" dirty="0"/>
              <a:t> </a:t>
            </a:r>
            <a:r>
              <a:rPr spc="-190" dirty="0"/>
              <a:t>Subnet</a:t>
            </a:r>
            <a:r>
              <a:rPr lang="en-US" spc="-190" dirty="0"/>
              <a:t> </a:t>
            </a:r>
            <a:r>
              <a:rPr spc="-780" dirty="0"/>
              <a:t> </a:t>
            </a:r>
            <a:r>
              <a:rPr spc="-20" dirty="0"/>
              <a:t>Mask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83452"/>
            <a:ext cx="10058399" cy="4328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>
                <a:moveTo>
                  <a:pt x="0" y="0"/>
                </a:moveTo>
                <a:lnTo>
                  <a:pt x="8223123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45" dirty="0"/>
              <a:t>D</a:t>
            </a:r>
            <a:r>
              <a:rPr spc="-250" dirty="0"/>
              <a:t>e</a:t>
            </a:r>
            <a:r>
              <a:rPr spc="-245" dirty="0"/>
              <a:t>faul</a:t>
            </a:r>
            <a:r>
              <a:rPr spc="335" dirty="0"/>
              <a:t>t</a:t>
            </a:r>
            <a:r>
              <a:rPr lang="en-US" spc="335" dirty="0"/>
              <a:t> </a:t>
            </a:r>
            <a:r>
              <a:rPr spc="-120" dirty="0"/>
              <a:t>S</a:t>
            </a:r>
            <a:r>
              <a:rPr spc="-110" dirty="0"/>
              <a:t>u</a:t>
            </a:r>
            <a:r>
              <a:rPr spc="-120" dirty="0"/>
              <a:t>b</a:t>
            </a:r>
            <a:r>
              <a:rPr spc="-110" dirty="0"/>
              <a:t>n</a:t>
            </a:r>
            <a:r>
              <a:rPr spc="-114" dirty="0"/>
              <a:t>et</a:t>
            </a:r>
            <a:r>
              <a:rPr lang="en-US" spc="-114" dirty="0"/>
              <a:t> </a:t>
            </a:r>
            <a:r>
              <a:rPr spc="-114" dirty="0"/>
              <a:t>Mas</a:t>
            </a:r>
            <a:r>
              <a:rPr dirty="0"/>
              <a:t>k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683" y="2461260"/>
            <a:ext cx="8298180" cy="3302508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96111" y="2456688"/>
          <a:ext cx="8297544" cy="3300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Class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Formula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3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Slash</a:t>
                      </a:r>
                      <a:r>
                        <a:rPr sz="2300" b="1" spc="-6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Notation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Default</a:t>
                      </a:r>
                      <a:r>
                        <a:rPr sz="2300" b="1" spc="-1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230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Mask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2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300" dirty="0">
                          <a:latin typeface="Carlito"/>
                          <a:cs typeface="Carlito"/>
                        </a:rPr>
                        <a:t>Class</a:t>
                      </a:r>
                      <a:r>
                        <a:rPr sz="2300" spc="-1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300" spc="-50" dirty="0">
                          <a:latin typeface="Carlito"/>
                          <a:cs typeface="Carlito"/>
                        </a:rPr>
                        <a:t>A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N.H.H.H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/8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255.0.0.0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300" dirty="0">
                          <a:latin typeface="Carlito"/>
                          <a:cs typeface="Carlito"/>
                        </a:rPr>
                        <a:t>Class</a:t>
                      </a:r>
                      <a:r>
                        <a:rPr sz="2300" spc="-1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300" spc="-60" dirty="0">
                          <a:latin typeface="Carlito"/>
                          <a:cs typeface="Carlito"/>
                        </a:rPr>
                        <a:t>B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N.N.H.H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/16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255.255.0.0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300" dirty="0">
                          <a:latin typeface="Carlito"/>
                          <a:cs typeface="Carlito"/>
                        </a:rPr>
                        <a:t>Class</a:t>
                      </a:r>
                      <a:r>
                        <a:rPr sz="2300" spc="-1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300" spc="-60" dirty="0">
                          <a:latin typeface="Carlito"/>
                          <a:cs typeface="Carlito"/>
                        </a:rPr>
                        <a:t>C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N.N.N.H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/24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255.255.255.0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Default</a:t>
            </a:r>
            <a:r>
              <a:rPr lang="en-US" spc="-215" dirty="0"/>
              <a:t> </a:t>
            </a:r>
            <a:r>
              <a:rPr spc="-215" dirty="0"/>
              <a:t>Gateway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775" y="2286990"/>
            <a:ext cx="5942965" cy="1847214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35585" indent="-222885">
              <a:lnSpc>
                <a:spcPct val="100000"/>
              </a:lnSpc>
              <a:spcBef>
                <a:spcPts val="1000"/>
              </a:spcBef>
              <a:buClr>
                <a:srgbClr val="E38311"/>
              </a:buClr>
              <a:buSzPct val="91304"/>
              <a:buAutoNum type="arabicPeriod"/>
              <a:tabLst>
                <a:tab pos="235585" algn="l"/>
              </a:tabLst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 port on</a:t>
            </a:r>
            <a:r>
              <a:rPr sz="2300" spc="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a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router</a:t>
            </a:r>
            <a:endParaRPr sz="2300">
              <a:latin typeface="Carlito"/>
              <a:cs typeface="Carlito"/>
            </a:endParaRPr>
          </a:p>
          <a:p>
            <a:pPr marL="235585" indent="-222885">
              <a:lnSpc>
                <a:spcPct val="100000"/>
              </a:lnSpc>
              <a:spcBef>
                <a:spcPts val="900"/>
              </a:spcBef>
              <a:buClr>
                <a:srgbClr val="E38311"/>
              </a:buClr>
              <a:buSzPct val="91304"/>
              <a:buAutoNum type="arabicPeriod"/>
              <a:tabLst>
                <a:tab pos="235585" algn="l"/>
              </a:tabLst>
            </a:pPr>
            <a:r>
              <a:rPr sz="2300" spc="-120" dirty="0">
                <a:solidFill>
                  <a:srgbClr val="3C3C3C"/>
                </a:solidFill>
                <a:latin typeface="Carlito"/>
                <a:cs typeface="Carlito"/>
              </a:rPr>
              <a:t>Your</a:t>
            </a:r>
            <a:r>
              <a:rPr sz="2300" spc="-15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connection</a:t>
            </a:r>
            <a:r>
              <a:rPr sz="2300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to</a:t>
            </a:r>
            <a:r>
              <a:rPr sz="2300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Internet</a:t>
            </a:r>
            <a:endParaRPr sz="2300">
              <a:latin typeface="Carlito"/>
              <a:cs typeface="Carlito"/>
            </a:endParaRPr>
          </a:p>
          <a:p>
            <a:pPr marL="227965" indent="-215265">
              <a:lnSpc>
                <a:spcPct val="100000"/>
              </a:lnSpc>
              <a:spcBef>
                <a:spcPts val="600"/>
              </a:spcBef>
              <a:buClr>
                <a:srgbClr val="E38311"/>
              </a:buClr>
              <a:buSzPct val="91304"/>
              <a:buAutoNum type="arabicPeriod"/>
              <a:tabLst>
                <a:tab pos="227965" algn="l"/>
              </a:tabLst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2300" spc="-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2300" b="1" u="heavy" spc="-7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Carlito"/>
                <a:cs typeface="Carlito"/>
              </a:rPr>
              <a:t> </a:t>
            </a:r>
            <a:r>
              <a:rPr sz="2300" b="1" u="heavy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Carlito"/>
                <a:cs typeface="Carlito"/>
              </a:rPr>
              <a:t>MUST</a:t>
            </a:r>
            <a:r>
              <a:rPr sz="2300" b="1" u="none" spc="-4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u="none" dirty="0">
                <a:solidFill>
                  <a:srgbClr val="3C3C3C"/>
                </a:solidFill>
                <a:latin typeface="Carlito"/>
                <a:cs typeface="Carlito"/>
              </a:rPr>
              <a:t>be</a:t>
            </a:r>
            <a:r>
              <a:rPr sz="2300" u="none" spc="-1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u="none" dirty="0">
                <a:solidFill>
                  <a:srgbClr val="3C3C3C"/>
                </a:solidFill>
                <a:latin typeface="Carlito"/>
                <a:cs typeface="Carlito"/>
              </a:rPr>
              <a:t>part</a:t>
            </a:r>
            <a:r>
              <a:rPr sz="2300" u="none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u="none" dirty="0">
                <a:solidFill>
                  <a:srgbClr val="3C3C3C"/>
                </a:solidFill>
                <a:latin typeface="Carlito"/>
                <a:cs typeface="Carlito"/>
              </a:rPr>
              <a:t>of</a:t>
            </a:r>
            <a:r>
              <a:rPr sz="2300" u="none" spc="-3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u="none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u="none" spc="-2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u="none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2300">
              <a:latin typeface="Carlito"/>
              <a:cs typeface="Carlito"/>
            </a:endParaRPr>
          </a:p>
          <a:p>
            <a:pPr marL="237490" indent="-224790">
              <a:lnSpc>
                <a:spcPct val="100000"/>
              </a:lnSpc>
              <a:spcBef>
                <a:spcPts val="900"/>
              </a:spcBef>
              <a:buClr>
                <a:srgbClr val="E38311"/>
              </a:buClr>
              <a:buSzPct val="95652"/>
              <a:buAutoNum type="arabicPeriod"/>
              <a:tabLst>
                <a:tab pos="237490" algn="l"/>
              </a:tabLst>
            </a:pP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Usually</a:t>
            </a:r>
            <a:r>
              <a:rPr sz="2300" spc="-5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-3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50" dirty="0">
                <a:solidFill>
                  <a:srgbClr val="3C3C3C"/>
                </a:solidFill>
                <a:latin typeface="Carlito"/>
                <a:cs typeface="Carlito"/>
              </a:rPr>
              <a:t>first</a:t>
            </a:r>
            <a:r>
              <a:rPr sz="2300" spc="-80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or</a:t>
            </a:r>
            <a:r>
              <a:rPr sz="23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last</a:t>
            </a:r>
            <a:r>
              <a:rPr sz="23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IP</a:t>
            </a:r>
            <a:r>
              <a:rPr sz="2300" spc="-1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20" dirty="0">
                <a:solidFill>
                  <a:srgbClr val="3C3C3C"/>
                </a:solidFill>
                <a:latin typeface="Carlito"/>
                <a:cs typeface="Carlito"/>
              </a:rPr>
              <a:t>address</a:t>
            </a:r>
            <a:r>
              <a:rPr sz="2300" spc="-6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in</a:t>
            </a:r>
            <a:r>
              <a:rPr sz="2300" spc="-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dirty="0">
                <a:solidFill>
                  <a:srgbClr val="3C3C3C"/>
                </a:solidFill>
                <a:latin typeface="Carlito"/>
                <a:cs typeface="Carlito"/>
              </a:rPr>
              <a:t>the</a:t>
            </a:r>
            <a:r>
              <a:rPr sz="2300" spc="25" dirty="0">
                <a:solidFill>
                  <a:srgbClr val="3C3C3C"/>
                </a:solidFill>
                <a:latin typeface="Carlito"/>
                <a:cs typeface="Carlito"/>
              </a:rPr>
              <a:t> </a:t>
            </a:r>
            <a:r>
              <a:rPr sz="2300" spc="-10" dirty="0">
                <a:solidFill>
                  <a:srgbClr val="3C3C3C"/>
                </a:solidFill>
                <a:latin typeface="Carlito"/>
                <a:cs typeface="Carlito"/>
              </a:rPr>
              <a:t>network</a:t>
            </a:r>
            <a:endParaRPr sz="23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6939" y="4486655"/>
            <a:ext cx="5519927" cy="1563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1042</TotalTime>
  <Words>1177</Words>
  <Application>Microsoft Office PowerPoint</Application>
  <PresentationFormat>Custom</PresentationFormat>
  <Paragraphs>257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Carlito</vt:lpstr>
      <vt:lpstr>Arial</vt:lpstr>
      <vt:lpstr>Calibri</vt:lpstr>
      <vt:lpstr>Times New Roman</vt:lpstr>
      <vt:lpstr>Trebuchet MS</vt:lpstr>
      <vt:lpstr>Office Theme</vt:lpstr>
      <vt:lpstr>INT303 Networking Fundamentals</vt:lpstr>
      <vt:lpstr>Addressing Schemes</vt:lpstr>
      <vt:lpstr>Internet Protocol  Address (IPAddress)</vt:lpstr>
      <vt:lpstr>TypesofAddressing</vt:lpstr>
      <vt:lpstr>Classful  vs Classless</vt:lpstr>
      <vt:lpstr>Network &amp; Host  Number Formulas</vt:lpstr>
      <vt:lpstr>Class  A  Addresses</vt:lpstr>
      <vt:lpstr>Class  B  Addresses</vt:lpstr>
      <vt:lpstr>Class  C Addresses</vt:lpstr>
      <vt:lpstr>Address Ranges</vt:lpstr>
      <vt:lpstr>Network Address</vt:lpstr>
      <vt:lpstr>Examples of NetworkNumbers</vt:lpstr>
      <vt:lpstr>Broadcast Address</vt:lpstr>
      <vt:lpstr>Examples of Broadcast Address</vt:lpstr>
      <vt:lpstr>NetworkNumberand BroadcastAddress</vt:lpstr>
      <vt:lpstr>Default Subnet Mask</vt:lpstr>
      <vt:lpstr>Examples of Default Subnet  Mask</vt:lpstr>
      <vt:lpstr>Default Subnet Mask</vt:lpstr>
      <vt:lpstr>Default Gateway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CONCEPT OF IP ADDRESS</dc:title>
  <dc:creator>AMINU IDRIS</dc:creator>
  <cp:lastModifiedBy>Aminu Idris</cp:lastModifiedBy>
  <cp:revision>3</cp:revision>
  <dcterms:created xsi:type="dcterms:W3CDTF">2024-07-02T16:37:15Z</dcterms:created>
  <dcterms:modified xsi:type="dcterms:W3CDTF">2026-01-19T05:16:00Z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2024-07-02T00:00:00Z</vt:filetime>
  </property>
  <property fmtid="{D5CDD505-2E9C-101B-9397-08002B2CF9AE}" pid="5" name="Producer">
    <vt:lpwstr>3-Heights(TM) PDF Security Shell 4.8.25.2 (http://www.pdf-tools.com)</vt:lpwstr>
  </property>
</Properties>
</file>