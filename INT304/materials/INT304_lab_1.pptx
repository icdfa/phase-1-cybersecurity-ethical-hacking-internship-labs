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14" descr=""/>
          <p:cNvPicPr/>
          <p:nvPr/>
        </p:nvPicPr>
        <p:blipFill>
          <a:blip r:embed="rId3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7"/>
          <p:cNvSpPr/>
          <p:nvPr/>
        </p:nvSpPr>
        <p:spPr>
          <a:xfrm>
            <a:off x="673920" y="1212840"/>
            <a:ext cx="10101960" cy="48603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poppins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January 6,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CE1DDB-5770-4980-8C7E-682AF125066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Picture 14" descr=""/>
          <p:cNvPicPr/>
          <p:nvPr/>
        </p:nvPicPr>
        <p:blipFill>
          <a:blip r:embed="rId3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7"/>
          <p:cNvSpPr/>
          <p:nvPr/>
        </p:nvSpPr>
        <p:spPr>
          <a:xfrm>
            <a:off x="673920" y="1212840"/>
            <a:ext cx="10101960" cy="48603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poppins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dt" idx="4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January 6, 2026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5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6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14F063-F5E4-4B30-B7C8-5F8249765CC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" name="Picture 14" descr=""/>
          <p:cNvPicPr/>
          <p:nvPr/>
        </p:nvPicPr>
        <p:blipFill>
          <a:blip r:embed="rId3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71520" y="800280"/>
            <a:ext cx="644112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667760" y="1882800"/>
            <a:ext cx="5577480" cy="380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icon to add picture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371520" y="188136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7"/>
          </p:nvPr>
        </p:nvSpPr>
        <p:spPr>
          <a:xfrm>
            <a:off x="745668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8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9"/>
          </p:nvPr>
        </p:nvSpPr>
        <p:spPr>
          <a:xfrm>
            <a:off x="96343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713B62-B85E-4907-867C-6CF794D6A26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Picture 14" descr=""/>
          <p:cNvPicPr/>
          <p:nvPr/>
        </p:nvPicPr>
        <p:blipFill>
          <a:blip r:embed="rId3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80880" y="817920"/>
            <a:ext cx="809100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80880" y="1889280"/>
            <a:ext cx="8091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0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1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2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046A7A-2CDF-462A-8EDD-443DA4427AE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Picture 14" descr=""/>
          <p:cNvPicPr/>
          <p:nvPr/>
        </p:nvPicPr>
        <p:blipFill>
          <a:blip r:embed="rId3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728560" y="800280"/>
            <a:ext cx="2344320" cy="544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145520" y="800280"/>
            <a:ext cx="7356240" cy="542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3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4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5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EFCF2E-F503-42CF-9F64-939468DDEE9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Picture 14" descr=""/>
          <p:cNvPicPr/>
          <p:nvPr/>
        </p:nvPicPr>
        <p:blipFill>
          <a:blip r:embed="rId3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148760" y="170028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16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17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18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4BB275-0C7B-4EF6-83B4-D8AEF342406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Picture 14" descr=""/>
          <p:cNvPicPr/>
          <p:nvPr/>
        </p:nvPicPr>
        <p:blipFill>
          <a:blip r:embed="rId3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80880" y="817920"/>
            <a:ext cx="809100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80880" y="1889280"/>
            <a:ext cx="8091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9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0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1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E3B0D6-06FE-405D-91B6-D8A9208F54A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Picture 14" descr=""/>
          <p:cNvPicPr/>
          <p:nvPr/>
        </p:nvPicPr>
        <p:blipFill>
          <a:blip r:embed="rId2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71520" y="80028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71520" y="38480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22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23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24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718734-C461-4659-8D1C-09BB5E592AE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14" descr=""/>
          <p:cNvPicPr/>
          <p:nvPr/>
        </p:nvPicPr>
        <p:blipFill>
          <a:blip r:embed="rId3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80880" y="800280"/>
            <a:ext cx="809100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80880" y="190728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702400" y="190728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25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26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27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7C95E9-A210-41BC-AFE1-246CD6C60A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14" descr=""/>
          <p:cNvPicPr/>
          <p:nvPr/>
        </p:nvPicPr>
        <p:blipFill>
          <a:blip r:embed="rId3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71520" y="824040"/>
            <a:ext cx="810072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371520" y="189576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371520" y="2877480"/>
            <a:ext cx="5157360" cy="304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5689440" y="189324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5689440" y="2833920"/>
            <a:ext cx="5182920" cy="308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dt" idx="28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7"/>
          <p:cNvSpPr>
            <a:spLocks noGrp="1"/>
          </p:cNvSpPr>
          <p:nvPr>
            <p:ph type="ftr" idx="29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8"/>
          <p:cNvSpPr>
            <a:spLocks noGrp="1"/>
          </p:cNvSpPr>
          <p:nvPr>
            <p:ph type="sldNum" idx="30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41FFB6-8EF1-4867-97E9-8025C4AD4F8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14" descr=""/>
          <p:cNvPicPr/>
          <p:nvPr/>
        </p:nvPicPr>
        <p:blipFill>
          <a:blip r:embed="rId3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80880" y="817920"/>
            <a:ext cx="7678800" cy="88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31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32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33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72BA91-8F58-412D-B6F3-EEE4C1BE5EB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14" descr=""/>
          <p:cNvPicPr/>
          <p:nvPr/>
        </p:nvPicPr>
        <p:blipFill>
          <a:blip r:embed="rId2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dt" idx="34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35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36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851B61-D865-451D-BB73-660840C9725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30"/>
          <p:cNvSpPr/>
          <p:nvPr/>
        </p:nvSpPr>
        <p:spPr>
          <a:xfrm>
            <a:off x="371520" y="6284880"/>
            <a:ext cx="16844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14" descr=""/>
          <p:cNvPicPr/>
          <p:nvPr/>
        </p:nvPicPr>
        <p:blipFill>
          <a:blip r:embed="rId3"/>
          <a:stretch/>
        </p:blipFill>
        <p:spPr>
          <a:xfrm>
            <a:off x="11241000" y="70920"/>
            <a:ext cx="791640" cy="79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71520" y="800280"/>
            <a:ext cx="393192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68760" y="81900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206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371520" y="188136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37"/>
          </p:nvPr>
        </p:nvSpPr>
        <p:spPr>
          <a:xfrm>
            <a:off x="7431120" y="6240600"/>
            <a:ext cx="192204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ftr" idx="38"/>
          </p:nvPr>
        </p:nvSpPr>
        <p:spPr>
          <a:xfrm>
            <a:off x="3891240" y="6237360"/>
            <a:ext cx="3234960" cy="35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sldNum" idx="39"/>
          </p:nvPr>
        </p:nvSpPr>
        <p:spPr>
          <a:xfrm>
            <a:off x="9659520" y="6249240"/>
            <a:ext cx="1413000" cy="34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D507E5-94ED-4491-A6AE-1017CEDE245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www.example.com/" TargetMode="External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INT304: Network Security and Protocols </a:t>
            </a:r>
            <a:br>
              <a:rPr sz="2800"/>
            </a:br>
            <a:br>
              <a:rPr sz="2800"/>
            </a:br>
            <a:endParaRPr b="1" lang="en-US" sz="2800" strike="noStrike" u="non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1153080" y="4295880"/>
            <a:ext cx="9143640" cy="130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6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Lab 1: Introduction to Network Security Concepts</a:t>
            </a:r>
            <a:endParaRPr b="0" lang="en-US" sz="2600" strike="noStrike" u="non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CDE08A1-BF7E-494D-88BD-321D385AA249}" type="datetime3">
              <a:rPr lang="en-US"/>
              <a:t>January 6,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143000" y="54036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914400" y="1509120"/>
            <a:ext cx="9829800" cy="4663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Objectives</a:t>
            </a:r>
            <a:endParaRPr b="1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Understand fundamental concepts of network security.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Identify different types of threats and vulnerabilities in network environments.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Learn about security protocols and their roles in safeguarding network communications.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1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Lab Activities</a:t>
            </a:r>
            <a:endParaRPr b="1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1. Overview of Network Security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Begin by reading the provided materials on the importance of network security. Focus on why organizations must prioritize securing their networks.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Discuss various types of network attacks, including: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▪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Denial of Service (DoS) and Distributed Denial of Service (DDoS): Flooding a network to make it unavailable.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▪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Man-in-the-Middle (MitM): Intercepting communication between two parties.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▪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Phishing: Deceiving individuals into providing sensitive information.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B992AAD2-0E17-4D72-ADE0-CEDE4A23FFC5}" type="datetime3">
              <a:rPr lang="en-US"/>
              <a:t>January 6,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914400" y="1600200"/>
            <a:ext cx="9829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2. Identifying Threats and Vulnerabilities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Conduct a group exercise where each group is given a hypothetical network scenario (e.g., a small business, a university campus).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Identify potential threats in the given scenarios, discussing what types of attacks could be launched and the vulnerabilities present in the network architecture.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3. Understanding Security Protocols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Review key security protocols and their functions: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SSL/TLS (Secure Sockets Layer/Transport Layer Security): Protects data transmitted over the internet, ensuring that communication remains private and secure.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IPSec (Internet Protocol Security): A suite of protocols designed to secure Internet Protocol (IP) communications through encryption and authentication.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SSH (Secure Shell): A protocol for secure remote login and other secure network services.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HTTPS (Hypertext Transfer Protocol Secure): An extension of HTTP, using SSL/TLS to secure communications over a computer network.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Discuss how each protocol operates and in what situations they are typically used.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8CAB6B80-EEE6-4A23-801D-530EE8828A16}" type="datetime3">
              <a:rPr lang="en-US"/>
              <a:t>January 6,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914760" y="1737720"/>
            <a:ext cx="100580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4. Hands-On Activity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Open a web browser and navigate to a secure website (e.g., 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  <a:hlinkClick r:id="rId1"/>
              </a:rPr>
              <a:t>https://www.example.com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).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on the padlock icon in the address bar to view the SSL/TLS certificate details.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OpenSymbol"/>
              <a:buChar char="▪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Record the certificate issuer, validity period, and encryption strength used for the connection.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Discuss findings with your peers about the significance of having secure connections in everyday internet use.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5. Group Discussion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Facilitate a discussion on the importance of network security in modern businesses.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Encourage participants to share insights from the hands-on activity and how analyzing SSL/TLS certificates can impact security practices.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E3998F93-2E0C-4FA9-86C8-D47E809A7973}" type="datetime3">
              <a:rPr lang="en-US"/>
              <a:t>January 6,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53080" y="1700280"/>
            <a:ext cx="9143640" cy="243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143000" y="1966320"/>
            <a:ext cx="102866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Deliverables</a:t>
            </a:r>
            <a:endParaRPr b="1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Compile a brief report (1-2 pages) summarizing your findings from the lab activities. Include: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Key threats and vulnerabilities identified during the group exercise.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summary of each discussed security protocol.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Insights gained from analyzing the SSL/TLS certificate.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poppins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1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Deadline</a:t>
            </a:r>
            <a:endParaRPr b="1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The report should be submitted by the specified due date, which will be communicated in class.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endParaRPr b="0" lang="en-US" sz="16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907AF512-7B2A-427F-B759-F1E3903B9D02}" type="datetime3">
              <a:rPr lang="en-US"/>
              <a:t>January 6, 2026</a:t>
            </a:fld>
          </a:p>
        </p:txBody>
      </p:sp>
    </p:spTree>
  </p:cSld>
  <mc:AlternateContent>
    <mc:Choice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ICDFA Color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002060"/>
      </a:accent1>
      <a:accent2>
        <a:srgbClr val="00b0f0"/>
      </a:accent2>
      <a:accent3>
        <a:srgbClr val="ffffff"/>
      </a:accent3>
      <a:accent4>
        <a:srgbClr val="ffffff"/>
      </a:accent4>
      <a:accent5>
        <a:srgbClr val="002060"/>
      </a:accent5>
      <a:accent6>
        <a:srgbClr val="00b0f0"/>
      </a:accent6>
      <a:hlink>
        <a:srgbClr val="00b0f0"/>
      </a:hlink>
      <a:folHlink>
        <a:srgbClr val="002060"/>
      </a:folHlink>
    </a:clrScheme>
    <a:fontScheme name="ICDFA Font">
      <a:majorFont>
        <a:latin typeface="poppins" pitchFamily="0" charset="1"/>
        <a:ea typeface=""/>
        <a:cs typeface=""/>
      </a:majorFont>
      <a:minorFont>
        <a:latin typeface="poppi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LibreOffice/25.8.3.2$Windows_X86_64 LibreOffice_project/8ca8d55c161d602844f5428fa4b58097424e324e</Application>
  <AppVersion>15.0000</AppVersion>
  <Words>1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2026-01-06T16:51:48Z</dcterms:created>
  <dc:creator/>
  <dc:description/>
  <dc:language>en-US</dc:language>
  <cp:lastModifiedBy/>
  <dcterms:modified xsi:type="dcterms:W3CDTF">2026-01-06T17:09:40Z</dcterms:modified>
  <cp:revision>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