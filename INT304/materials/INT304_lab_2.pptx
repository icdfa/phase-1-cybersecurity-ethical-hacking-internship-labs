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3.xml" ContentType="application/vnd.openxmlformats-officedocument.them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dt" idx="4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ftr" idx="4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 type="sldNum" idx="4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5755E7A-73A3-445F-8FC9-5A3445862FD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Objectives</a:t>
            </a:r>
            <a:endParaRPr b="1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▪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Understand the importance of network security policies.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▪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Learn how to conduct a risk assessment.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▪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Develop skills to create effective security policies for an organization.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0" hidden="1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13" descr=""/>
          <p:cNvPicPr/>
          <p:nvPr/>
        </p:nvPicPr>
        <p:blipFill>
          <a:blip r:embed="rId3"/>
          <a:stretch/>
        </p:blipFill>
        <p:spPr>
          <a:xfrm>
            <a:off x="371520" y="374760"/>
            <a:ext cx="1129680" cy="11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318400" y="1251360"/>
            <a:ext cx="8520120" cy="25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5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6594120" y="62802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2"/>
          </p:nvPr>
        </p:nvSpPr>
        <p:spPr>
          <a:xfrm>
            <a:off x="2056320" y="628020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sldNum" idx="3"/>
          </p:nvPr>
        </p:nvSpPr>
        <p:spPr>
          <a:xfrm>
            <a:off x="9819360" y="62888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B17720-5E0A-4F7D-B49C-C62ED82CEC4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Picture 6" descr=""/>
          <p:cNvPicPr/>
          <p:nvPr/>
        </p:nvPicPr>
        <p:blipFill>
          <a:blip r:embed="rId4"/>
          <a:stretch/>
        </p:blipFill>
        <p:spPr>
          <a:xfrm>
            <a:off x="371520" y="336960"/>
            <a:ext cx="1169280" cy="11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0" hidden="1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Picture 13" descr=""/>
          <p:cNvPicPr/>
          <p:nvPr/>
        </p:nvPicPr>
        <p:blipFill>
          <a:blip r:embed="rId3"/>
          <a:stretch/>
        </p:blipFill>
        <p:spPr>
          <a:xfrm>
            <a:off x="371520" y="374760"/>
            <a:ext cx="1129680" cy="11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318400" y="1251360"/>
            <a:ext cx="8520120" cy="25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5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dt" idx="4"/>
          </p:nvPr>
        </p:nvSpPr>
        <p:spPr>
          <a:xfrm>
            <a:off x="6594120" y="62802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5"/>
          </p:nvPr>
        </p:nvSpPr>
        <p:spPr>
          <a:xfrm>
            <a:off x="2056320" y="628020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6"/>
          </p:nvPr>
        </p:nvSpPr>
        <p:spPr>
          <a:xfrm>
            <a:off x="9819360" y="62888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3277DB-DFB4-4164-BE57-0E1C8B1B0D3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Picture 6" descr=""/>
          <p:cNvPicPr/>
          <p:nvPr/>
        </p:nvPicPr>
        <p:blipFill>
          <a:blip r:embed="rId4"/>
          <a:stretch/>
        </p:blipFill>
        <p:spPr>
          <a:xfrm>
            <a:off x="371520" y="336960"/>
            <a:ext cx="1169280" cy="11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0" hidden="1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Picture 13" descr=""/>
          <p:cNvPicPr/>
          <p:nvPr/>
        </p:nvPicPr>
        <p:blipFill>
          <a:blip r:embed="rId3"/>
          <a:stretch/>
        </p:blipFill>
        <p:spPr>
          <a:xfrm>
            <a:off x="371520" y="374760"/>
            <a:ext cx="1129680" cy="11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433320" y="1020600"/>
            <a:ext cx="6441120" cy="8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805720" y="2035800"/>
            <a:ext cx="5223600" cy="380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icon to add picture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2422080" y="2035800"/>
            <a:ext cx="320724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7"/>
          </p:nvPr>
        </p:nvSpPr>
        <p:spPr>
          <a:xfrm>
            <a:off x="745668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ftr" idx="8"/>
          </p:nvPr>
        </p:nvSpPr>
        <p:spPr>
          <a:xfrm>
            <a:off x="2394720" y="624924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sldNum" idx="9"/>
          </p:nvPr>
        </p:nvSpPr>
        <p:spPr>
          <a:xfrm>
            <a:off x="96343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FFDD31-CD7A-4A0C-9A0A-08264D15C7A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TextBox 7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Picture 8" descr=""/>
          <p:cNvPicPr/>
          <p:nvPr/>
        </p:nvPicPr>
        <p:blipFill>
          <a:blip r:embed="rId4"/>
          <a:stretch/>
        </p:blipFill>
        <p:spPr>
          <a:xfrm>
            <a:off x="371520" y="374760"/>
            <a:ext cx="1129680" cy="11296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30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Picture 13" descr=""/>
          <p:cNvPicPr/>
          <p:nvPr/>
        </p:nvPicPr>
        <p:blipFill>
          <a:blip r:embed="rId3"/>
          <a:stretch/>
        </p:blipFill>
        <p:spPr>
          <a:xfrm>
            <a:off x="371520" y="374760"/>
            <a:ext cx="1129680" cy="11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722320" y="609840"/>
            <a:ext cx="8091000" cy="8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2725200" y="1621800"/>
            <a:ext cx="80910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0"/>
          </p:nvPr>
        </p:nvSpPr>
        <p:spPr>
          <a:xfrm>
            <a:off x="6594120" y="62802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1"/>
          </p:nvPr>
        </p:nvSpPr>
        <p:spPr>
          <a:xfrm>
            <a:off x="2056320" y="628020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2"/>
          </p:nvPr>
        </p:nvSpPr>
        <p:spPr>
          <a:xfrm>
            <a:off x="9819360" y="62888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76C4A7-54B1-4073-B88E-D877E484212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0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Picture 13" descr=""/>
          <p:cNvPicPr/>
          <p:nvPr/>
        </p:nvPicPr>
        <p:blipFill>
          <a:blip r:embed="rId3"/>
          <a:stretch/>
        </p:blipFill>
        <p:spPr>
          <a:xfrm>
            <a:off x="371520" y="374760"/>
            <a:ext cx="1129680" cy="11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728560" y="800280"/>
            <a:ext cx="2344320" cy="544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1145520" y="800280"/>
            <a:ext cx="7356240" cy="542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3"/>
          </p:nvPr>
        </p:nvSpPr>
        <p:spPr>
          <a:xfrm>
            <a:off x="6594120" y="62802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14"/>
          </p:nvPr>
        </p:nvSpPr>
        <p:spPr>
          <a:xfrm>
            <a:off x="2056320" y="628020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15"/>
          </p:nvPr>
        </p:nvSpPr>
        <p:spPr>
          <a:xfrm>
            <a:off x="9819360" y="62888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B9DB51-A3BB-4A7A-BDC4-B2D39CC9385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30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Picture 13" descr=""/>
          <p:cNvPicPr/>
          <p:nvPr/>
        </p:nvPicPr>
        <p:blipFill>
          <a:blip r:embed="rId3"/>
          <a:stretch/>
        </p:blipFill>
        <p:spPr>
          <a:xfrm>
            <a:off x="371520" y="374760"/>
            <a:ext cx="1129680" cy="11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2573280" y="1685880"/>
            <a:ext cx="8007480" cy="208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5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16"/>
          </p:nvPr>
        </p:nvSpPr>
        <p:spPr>
          <a:xfrm>
            <a:off x="6594120" y="62802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17"/>
          </p:nvPr>
        </p:nvSpPr>
        <p:spPr>
          <a:xfrm>
            <a:off x="2056320" y="628020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8"/>
          </p:nvPr>
        </p:nvSpPr>
        <p:spPr>
          <a:xfrm>
            <a:off x="9819360" y="62888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753E2D-1697-40C4-8078-B22CA4C2854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30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Picture 13" descr=""/>
          <p:cNvPicPr/>
          <p:nvPr/>
        </p:nvPicPr>
        <p:blipFill>
          <a:blip r:embed="rId3"/>
          <a:stretch/>
        </p:blipFill>
        <p:spPr>
          <a:xfrm>
            <a:off x="371520" y="374760"/>
            <a:ext cx="1129680" cy="11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722320" y="609840"/>
            <a:ext cx="8091000" cy="8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2725200" y="1621800"/>
            <a:ext cx="80910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19"/>
          </p:nvPr>
        </p:nvSpPr>
        <p:spPr>
          <a:xfrm>
            <a:off x="6594120" y="62802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ftr" idx="20"/>
          </p:nvPr>
        </p:nvSpPr>
        <p:spPr>
          <a:xfrm>
            <a:off x="2056320" y="628020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sldNum" idx="21"/>
          </p:nvPr>
        </p:nvSpPr>
        <p:spPr>
          <a:xfrm>
            <a:off x="9819360" y="62888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31DC16-3737-438E-8A29-5621C5B2233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30" hidden="1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Picture 13" descr=""/>
          <p:cNvPicPr/>
          <p:nvPr/>
        </p:nvPicPr>
        <p:blipFill>
          <a:blip r:embed="rId3"/>
          <a:stretch/>
        </p:blipFill>
        <p:spPr>
          <a:xfrm>
            <a:off x="371520" y="374760"/>
            <a:ext cx="1129680" cy="11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229480" y="1155960"/>
            <a:ext cx="8762040" cy="203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50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Click to edit Master</a:t>
            </a:r>
            <a:br>
              <a:rPr sz="5000"/>
            </a:br>
            <a:r>
              <a:rPr b="0" lang="en-US" sz="50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title style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2229480" y="3347640"/>
            <a:ext cx="8762040" cy="219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2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22"/>
          </p:nvPr>
        </p:nvSpPr>
        <p:spPr>
          <a:xfrm>
            <a:off x="6594120" y="62802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ftr" idx="23"/>
          </p:nvPr>
        </p:nvSpPr>
        <p:spPr>
          <a:xfrm>
            <a:off x="2056320" y="628020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sldNum" idx="24"/>
          </p:nvPr>
        </p:nvSpPr>
        <p:spPr>
          <a:xfrm>
            <a:off x="9819360" y="62888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14290A-37E6-43C6-920A-F623E54D8DD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TextBox 14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" name="Picture 15" descr=""/>
          <p:cNvPicPr/>
          <p:nvPr/>
        </p:nvPicPr>
        <p:blipFill>
          <a:blip r:embed="rId4"/>
          <a:stretch/>
        </p:blipFill>
        <p:spPr>
          <a:xfrm>
            <a:off x="371520" y="374760"/>
            <a:ext cx="1129680" cy="11296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30" hidden="1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Picture 13" descr=""/>
          <p:cNvPicPr/>
          <p:nvPr/>
        </p:nvPicPr>
        <p:blipFill>
          <a:blip r:embed="rId3"/>
          <a:stretch/>
        </p:blipFill>
        <p:spPr>
          <a:xfrm>
            <a:off x="371520" y="374760"/>
            <a:ext cx="1129680" cy="11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998360" y="668520"/>
            <a:ext cx="8091000" cy="8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22880" y="166644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044400" y="166644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25"/>
          </p:nvPr>
        </p:nvSpPr>
        <p:spPr>
          <a:xfrm>
            <a:off x="7568640" y="628452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26"/>
          </p:nvPr>
        </p:nvSpPr>
        <p:spPr>
          <a:xfrm>
            <a:off x="4012200" y="628452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27"/>
          </p:nvPr>
        </p:nvSpPr>
        <p:spPr>
          <a:xfrm>
            <a:off x="9812520" y="629316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lt2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FC9A02-5AE2-4E7D-A6CC-591DD03E1F97}" type="slidenum">
              <a:rPr b="0" lang="en-US" sz="1200" strike="noStrike" u="none">
                <a:solidFill>
                  <a:schemeClr val="lt2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TextBox 11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Picture 12" descr=""/>
          <p:cNvPicPr/>
          <p:nvPr/>
        </p:nvPicPr>
        <p:blipFill>
          <a:blip r:embed="rId4"/>
          <a:stretch/>
        </p:blipFill>
        <p:spPr>
          <a:xfrm>
            <a:off x="371520" y="374760"/>
            <a:ext cx="1129680" cy="11296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30" hidden="1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Picture 13" descr=""/>
          <p:cNvPicPr/>
          <p:nvPr/>
        </p:nvPicPr>
        <p:blipFill>
          <a:blip r:embed="rId3"/>
          <a:stretch/>
        </p:blipFill>
        <p:spPr>
          <a:xfrm>
            <a:off x="371520" y="374760"/>
            <a:ext cx="1129680" cy="11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045520" y="582840"/>
            <a:ext cx="8100720" cy="8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777960" y="1564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777960" y="2545920"/>
            <a:ext cx="5157360" cy="304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95880" y="156204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095880" y="2502720"/>
            <a:ext cx="5182920" cy="30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dt" idx="28"/>
          </p:nvPr>
        </p:nvSpPr>
        <p:spPr>
          <a:xfrm>
            <a:off x="7726320" y="630612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lt2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lt2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ftr" idx="29"/>
          </p:nvPr>
        </p:nvSpPr>
        <p:spPr>
          <a:xfrm>
            <a:off x="4274280" y="628488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30"/>
          </p:nvPr>
        </p:nvSpPr>
        <p:spPr>
          <a:xfrm>
            <a:off x="9865800" y="631476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lt2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34E708-8AF7-47B9-9871-F9D3FE8B95F6}" type="slidenum">
              <a:rPr b="0" lang="en-US" sz="1200" strike="noStrike" u="none">
                <a:solidFill>
                  <a:schemeClr val="lt2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TextBox 15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Picture 16" descr=""/>
          <p:cNvPicPr/>
          <p:nvPr/>
        </p:nvPicPr>
        <p:blipFill>
          <a:blip r:embed="rId4"/>
          <a:stretch/>
        </p:blipFill>
        <p:spPr>
          <a:xfrm>
            <a:off x="371520" y="374760"/>
            <a:ext cx="1129680" cy="11296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stretch>
            <a:fillRect l="-25998" r="-25998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30" hidden="1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" name="Picture 13" descr=""/>
          <p:cNvPicPr/>
          <p:nvPr/>
        </p:nvPicPr>
        <p:blipFill>
          <a:blip r:embed="rId3"/>
          <a:stretch/>
        </p:blipFill>
        <p:spPr>
          <a:xfrm>
            <a:off x="371520" y="374760"/>
            <a:ext cx="1129680" cy="11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2209680" y="1010520"/>
            <a:ext cx="7678800" cy="8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>
                <a:solidFill>
                  <a:schemeClr val="accent3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dt" idx="31"/>
          </p:nvPr>
        </p:nvSpPr>
        <p:spPr>
          <a:xfrm>
            <a:off x="7383600" y="628884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accent4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accent4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ftr" idx="32"/>
          </p:nvPr>
        </p:nvSpPr>
        <p:spPr>
          <a:xfrm>
            <a:off x="3634920" y="628020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sldNum" idx="33"/>
          </p:nvPr>
        </p:nvSpPr>
        <p:spPr>
          <a:xfrm>
            <a:off x="9819360" y="62888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lt2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3CF25A-7EA3-4660-B085-ECA6BFE3EBC6}" type="slidenum">
              <a:rPr b="0" lang="en-US" sz="1200" strike="noStrike" u="none">
                <a:solidFill>
                  <a:schemeClr val="lt2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92" name="Picture 7" descr=""/>
          <p:cNvPicPr/>
          <p:nvPr/>
        </p:nvPicPr>
        <p:blipFill>
          <a:blip r:embed="rId4"/>
          <a:stretch/>
        </p:blipFill>
        <p:spPr>
          <a:xfrm>
            <a:off x="371520" y="374760"/>
            <a:ext cx="1129680" cy="11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Box 8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30" hidden="1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Picture 13" descr=""/>
          <p:cNvPicPr/>
          <p:nvPr/>
        </p:nvPicPr>
        <p:blipFill>
          <a:blip r:embed="rId3"/>
          <a:stretch/>
        </p:blipFill>
        <p:spPr>
          <a:xfrm>
            <a:off x="371520" y="374760"/>
            <a:ext cx="1129680" cy="11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PlaceHolder 1"/>
          <p:cNvSpPr>
            <a:spLocks noGrp="1"/>
          </p:cNvSpPr>
          <p:nvPr>
            <p:ph type="dt" idx="34"/>
          </p:nvPr>
        </p:nvSpPr>
        <p:spPr>
          <a:xfrm>
            <a:off x="7479720" y="624492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ftr" idx="35"/>
          </p:nvPr>
        </p:nvSpPr>
        <p:spPr>
          <a:xfrm>
            <a:off x="2056320" y="624492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36"/>
          </p:nvPr>
        </p:nvSpPr>
        <p:spPr>
          <a:xfrm>
            <a:off x="9780840" y="624492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DB3D40-3B52-41C5-81B5-B63F92E3421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TextBox 8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Picture 9" descr=""/>
          <p:cNvPicPr/>
          <p:nvPr/>
        </p:nvPicPr>
        <p:blipFill>
          <a:blip r:embed="rId4"/>
          <a:stretch/>
        </p:blipFill>
        <p:spPr>
          <a:xfrm>
            <a:off x="371520" y="374760"/>
            <a:ext cx="1129680" cy="11296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30" hidden="1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Picture 13" descr=""/>
          <p:cNvPicPr/>
          <p:nvPr/>
        </p:nvPicPr>
        <p:blipFill>
          <a:blip r:embed="rId3"/>
          <a:stretch/>
        </p:blipFill>
        <p:spPr>
          <a:xfrm>
            <a:off x="371520" y="374760"/>
            <a:ext cx="1129680" cy="11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373040" y="964080"/>
            <a:ext cx="3931920" cy="8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5422320" y="9640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1373040" y="201744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dt" idx="37"/>
          </p:nvPr>
        </p:nvSpPr>
        <p:spPr>
          <a:xfrm>
            <a:off x="7547040" y="628884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ftr" idx="38"/>
          </p:nvPr>
        </p:nvSpPr>
        <p:spPr>
          <a:xfrm>
            <a:off x="3930840" y="628884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6"/>
          <p:cNvSpPr>
            <a:spLocks noGrp="1"/>
          </p:cNvSpPr>
          <p:nvPr>
            <p:ph type="sldNum" idx="39"/>
          </p:nvPr>
        </p:nvSpPr>
        <p:spPr>
          <a:xfrm>
            <a:off x="9819360" y="62888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FBEF06-C451-484D-BB86-49F204E4B4D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9" name="Picture 11" descr=""/>
          <p:cNvPicPr/>
          <p:nvPr/>
        </p:nvPicPr>
        <p:blipFill>
          <a:blip r:embed="rId4"/>
          <a:stretch/>
        </p:blipFill>
        <p:spPr>
          <a:xfrm>
            <a:off x="243000" y="278280"/>
            <a:ext cx="1129680" cy="11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Box 12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318400" y="1251360"/>
            <a:ext cx="8520120" cy="250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INT304: Network Security and Protocols </a:t>
            </a:r>
            <a:br>
              <a:rPr sz="2800"/>
            </a:br>
            <a:br>
              <a:rPr sz="2800"/>
            </a:br>
            <a:endParaRPr b="1" lang="en-US" sz="2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ubTitle"/>
          </p:nvPr>
        </p:nvSpPr>
        <p:spPr>
          <a:xfrm>
            <a:off x="2516760" y="3980880"/>
            <a:ext cx="8123400" cy="130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Lab 2: Network Security Policies and Risk Management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7A80C447-D068-4D42-B38C-D5588343497C}" type="datetime3">
              <a:rPr lang="en-US"/>
              <a:t>January 6, 2026</a:t>
            </a:fld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828800" y="-218880"/>
            <a:ext cx="8520120" cy="250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2057400" y="457200"/>
            <a:ext cx="9372600" cy="571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Lab Activities</a:t>
            </a:r>
            <a:endParaRPr b="1" lang="en-US" sz="1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1. Introduction to Network Security Policies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Start with a reading assignment on network security policies and their significance in safeguarding organizational assets.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Discuss the key components of an effective security policy, including: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▪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Purpose and Scope: What the policy aims to protect.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▪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User Responsibilities: Expectations and acceptable use of network resources.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▪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Incident Response Plan: Steps to take when a security breach occurs.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▪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Compliance: Adherence to relevant laws and regulations.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2. Conducting a Risk Assessment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Break into small groups and select a hypothetical organization (e.g., a healthcare provider, a financial institution).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Each group should identify potential threats and vulnerabilities specific to their chosen organization.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Conduct a risk assessment using the following steps: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Asset Identification: List key assets that require protection (e.g., customer data, intellectual property).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Threat Identification: Identify potential threats to each asset (e.g., cyberattacks, natural disasters).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Vulnerability Assessment: Analyze weaknesses that could be exploited by threats.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Impact Analysis: Evaluate the potential impact of each threat on the organization.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Risk Rating: Assign a risk rating (high, medium, low) based on likelihood and impact.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CCE187BD-A35E-448E-AF2B-B82472A0E6A5}" type="datetime3">
              <a:rPr lang="en-US"/>
              <a:t>January 6, 2026</a:t>
            </a:fld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2452680" y="-228600"/>
            <a:ext cx="8520120" cy="250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2057400" y="68580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3. Developing Security Policies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Using the findings from the risk assessment, each group will draft a preliminary security policy tailored to their organization. Key elements to include: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Access Control Policies: Guidelines for user access and authentication.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Data Protection Policies: Measures to safeguard sensitive information.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Incident Response Procedures: Steps to be taken in the event of a security incident.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Training and Awareness Programs: Plans for educating employees about security best practices.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4. Presentation of Policies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Each group will present their risk assessment and proposed security policy to the class.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Encourage peer feedback and discussion on the strengths and weaknesses of each policy.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5. Reflection and Discussion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Hold a class discussion on the importance of adapting security policies to changing threats and organizational needs.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Discuss how organizations can regularly review and update their security policies to remain effective.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6C0E3F06-5ED6-40D6-95FF-60F87A50073C}" type="datetime3">
              <a:rPr lang="en-US"/>
              <a:t>January 6, 2026</a:t>
            </a:fld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2743200" y="238320"/>
            <a:ext cx="8520120" cy="250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2057760" y="137160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Deliverables</a:t>
            </a:r>
            <a:endParaRPr b="1" lang="en-US" sz="1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Each group will submit a comprehensive report (3-5 pages) that includes: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completed risk assessment for the chosen organization.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drafted security policy with all key components.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 summary of feedback received during the presentation.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Deadline</a:t>
            </a:r>
            <a:endParaRPr b="1" lang="en-US" sz="1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report should be submitted by the specified due date, which will be communicated in class.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396EE826-458A-4DF7-8612-681F60A241B9}" type="datetime3">
              <a:rPr lang="en-US"/>
              <a:t>January 6, 2026</a:t>
            </a:fld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ICDFA Color">
      <a:dk1>
        <a:srgbClr val="002060"/>
      </a:dk1>
      <a:lt1>
        <a:srgbClr val="ffffff"/>
      </a:lt1>
      <a:dk2>
        <a:srgbClr val="002060"/>
      </a:dk2>
      <a:lt2>
        <a:srgbClr val="ffffff"/>
      </a:lt2>
      <a:accent1>
        <a:srgbClr val="002060"/>
      </a:accent1>
      <a:accent2>
        <a:srgbClr val="00b0f0"/>
      </a:accent2>
      <a:accent3>
        <a:srgbClr val="ffffff"/>
      </a:accent3>
      <a:accent4>
        <a:srgbClr val="ffffff"/>
      </a:accent4>
      <a:accent5>
        <a:srgbClr val="002060"/>
      </a:accent5>
      <a:accent6>
        <a:srgbClr val="00b0f0"/>
      </a:accent6>
      <a:hlink>
        <a:srgbClr val="00b0f0"/>
      </a:hlink>
      <a:folHlink>
        <a:srgbClr val="002060"/>
      </a:folHlink>
    </a:clrScheme>
    <a:fontScheme name="ICDFA Font">
      <a:majorFont>
        <a:latin typeface="poppins" pitchFamily="0" charset="1"/>
        <a:ea typeface=""/>
        <a:cs typeface=""/>
      </a:majorFont>
      <a:minorFont>
        <a:latin typeface="poppi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LibreOffice/25.8.3.2$Windows_X86_64 LibreOffice_project/8ca8d55c161d602844f5428fa4b58097424e324e</Application>
  <AppVersion>15.0000</AppVersion>
  <Words>1</Words>
  <Paragraphs>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2026-01-06T17:10:10Z</dcterms:created>
  <dc:creator/>
  <dc:description/>
  <dc:language>en-US</dc:language>
  <cp:lastModifiedBy/>
  <dcterms:modified xsi:type="dcterms:W3CDTF">2026-01-06T17:24:59Z</dcterms:modified>
  <cp:revision>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